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831" r:id="rId2"/>
    <p:sldId id="832" r:id="rId3"/>
    <p:sldId id="833" r:id="rId4"/>
    <p:sldId id="834" r:id="rId5"/>
    <p:sldId id="835" r:id="rId6"/>
    <p:sldId id="836" r:id="rId7"/>
    <p:sldId id="837" r:id="rId8"/>
    <p:sldId id="838" r:id="rId9"/>
    <p:sldId id="839" r:id="rId10"/>
    <p:sldId id="840" r:id="rId11"/>
    <p:sldId id="841" r:id="rId12"/>
    <p:sldId id="842" r:id="rId13"/>
    <p:sldId id="802" r:id="rId14"/>
    <p:sldId id="864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6484"/>
  </p:normalViewPr>
  <p:slideViewPr>
    <p:cSldViewPr snapToGrid="0" snapToObjects="1">
      <p:cViewPr varScale="1">
        <p:scale>
          <a:sx n="128" d="100"/>
          <a:sy n="128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172FF-BA45-6E46-96BC-32CA37968AB1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19B50-BB05-4D4B-90E3-7CA41E2767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242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373BAA-ACF7-0947-BF76-1C7F722A3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6F1EE4-EAD2-5243-88D9-FADE7C503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C624A4-3F7D-AC41-A5F8-7E4D695C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6AEA0F-F5AF-3C48-8957-A47AF09B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6C0EB6-7E22-7A42-ADD3-45BE371B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97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0911CF-39B2-0B48-A3E5-D5093DB9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E14DD6-134B-C04D-A9F8-09D7AAE83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E5881-A220-D046-BC08-BF46AE70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E77C3D-C377-E845-A8F4-98DBAD96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DBC7448-3958-2D4C-8090-D346DEF7D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393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8A1059-0F99-2C41-9C43-56538CF7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54A3D7F-8FE1-9344-863A-B542BDA0E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DA9105-58D8-814A-AEA1-D3DC0188A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7F04AC-EB85-A64C-9054-906A732E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D27AAA-9C87-034B-A1FA-DD7E4F9E8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58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7B8035-3201-844C-8654-B574462B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86DEC2-223F-2247-87E3-8D2D6EC02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34F64FB-71CE-DE48-9AF4-D7162AE29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5170478-1972-6C43-8EE6-E7588133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4638F3B-DF09-994B-9E0E-6D5CD2A5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30613EE-FC8D-B342-8C1B-EC9E9B29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2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E30080-250B-F747-A3E5-C153C5D0B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F24F795-E040-FD48-BD73-D9153759A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F1FBAA0-CE93-9C44-8994-5FDD8B181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02B0DF1-A09A-0C46-BEC3-94C006368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0974CBB-C24C-1A4B-8A86-DFEFF636F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E1F7A43-31F0-9546-9B3F-FC781C3A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031EDF0-B6E0-C043-95AE-719429FD4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A86EE97-E3B6-3848-A4BB-E81F0A97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35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84D431-C420-CE49-BAB5-93FD5F57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78EF6B8-EC4F-074E-A936-7B8A50C6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F2917C3-0EE0-4F43-8295-1A65DD20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67B6396-627D-5443-9630-C54E930D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49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534BF90-17AD-A04F-B0D3-CDB534D1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8E72292-136E-7F4E-8620-01289984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FCA64B-6EDF-9D45-8180-BAD563050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97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6D04B0-37B7-AB47-A321-7C2B1392F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4594B6-9A91-5048-8400-34D3CA087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308177B-F637-354C-8F41-EF09792BE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0CF12CD-FBB4-E34D-AA2D-FCDA9331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521F13D-9BC0-9C46-8D54-774CC288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B49F10F-B9C3-DA47-9AF4-307B0B7CF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72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EE3517-B340-604D-8AB3-985E31DEA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DF0FD2E-15F0-3444-946B-52AE89DBE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DA4A3EB-C9E4-B44A-99EB-AD0EF34EA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2D64B0D-FF94-0A47-B93D-D4430486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42BCB3-20CA-7E41-A630-323C8B68F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6E1C649-B319-1C47-8540-2DF76ACA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320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6FEEF9-913C-B04F-AD95-6B575C67F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00BF468-C555-D344-BA58-DBE78053C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2945C2-C2FB-5A47-9DC0-2FCDB2C79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07615F-3928-B44F-AE27-F553AF08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AED905-CF8E-FA44-827E-A6CB5BFC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01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00ABF1A-215D-0346-9521-4A40EBF59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4C0718E-67E7-2E49-BD3A-62D7B8123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C4B1CE-AE16-0F44-A793-BADA83EE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FF66DA-1508-9C4E-8577-193EC1D6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CF8A991-7C5E-C74A-B368-44E400DC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78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E00122-C33E-E347-B509-734CC70B5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4FF7C44-2838-EF45-A2FA-F1BAC3256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F9931E-9410-CE42-B55F-E56B544D7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81027-5C0E-5A46-A04B-D600FB0E933F}" type="datetimeFigureOut">
              <a:rPr lang="en-GB" smtClean="0"/>
              <a:t>08/04/2024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2554AC-0E34-614D-92F5-D95F0700B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6DC864-F816-0C43-99F9-DBF8BD91B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6A9ED-3AAF-8440-B495-0AE37FF0DDEF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235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A26D73-B0F2-CB43-98B3-2DF2863A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Stellar Mass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E735C0-2B7C-9443-BD21-9AF6D9315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794" y="1359809"/>
            <a:ext cx="9144000" cy="475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2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8F66E-3F4D-834E-B3A3-29060058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Visual </a:t>
            </a:r>
            <a:r>
              <a:rPr lang="it-IT" dirty="0" err="1"/>
              <a:t>Binaries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45B3515-0BB8-5545-BCCE-358A4CFC2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14126"/>
            <a:ext cx="8250195" cy="496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4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8F66E-3F4D-834E-B3A3-29060058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Visual </a:t>
            </a:r>
            <a:r>
              <a:rPr lang="it-IT" dirty="0" err="1"/>
              <a:t>Binaries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1757497-8DE5-A043-9B07-F2C385AA1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116" y="1412777"/>
            <a:ext cx="9144000" cy="396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8F66E-3F4D-834E-B3A3-29060058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Visual </a:t>
            </a:r>
            <a:r>
              <a:rPr lang="it-IT" dirty="0" err="1"/>
              <a:t>Binaries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4D454A4-8BE6-D049-861F-D7395CF01C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61"/>
          <a:stretch/>
        </p:blipFill>
        <p:spPr>
          <a:xfrm>
            <a:off x="2080221" y="1240774"/>
            <a:ext cx="7100849" cy="419586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C553B68-8BB2-2945-A863-640C22A4D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13" y="5554182"/>
            <a:ext cx="7900392" cy="133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8F66E-3F4D-834E-B3A3-29060058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Visual </a:t>
            </a:r>
            <a:r>
              <a:rPr lang="it-IT" dirty="0" err="1"/>
              <a:t>Binaries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574DCA3-ABEB-9A4F-A058-FE898F58F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84516"/>
            <a:ext cx="8299622" cy="49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77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E89CCB-000A-7B4B-8424-0F2725FA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Spectroscopic</a:t>
            </a:r>
            <a:r>
              <a:rPr lang="it-IT" dirty="0"/>
              <a:t> </a:t>
            </a:r>
            <a:r>
              <a:rPr lang="it-IT" dirty="0" err="1"/>
              <a:t>Binaries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170CE04-193F-3645-BABF-6D99DB3AA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13" y="1602306"/>
            <a:ext cx="7757511" cy="468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25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E89CCB-000A-7B4B-8424-0F2725FA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Spectroscopic</a:t>
            </a:r>
            <a:r>
              <a:rPr lang="it-IT" dirty="0"/>
              <a:t> </a:t>
            </a:r>
            <a:r>
              <a:rPr lang="it-IT" dirty="0" err="1"/>
              <a:t>Binaries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9EDF100-A83D-4048-B74C-0AB39EDE1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31946"/>
            <a:ext cx="7953632" cy="493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8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E89CCB-000A-7B4B-8424-0F2725FA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Spectroscopic</a:t>
            </a:r>
            <a:r>
              <a:rPr lang="it-IT" dirty="0"/>
              <a:t> </a:t>
            </a:r>
            <a:r>
              <a:rPr lang="it-IT" dirty="0" err="1"/>
              <a:t>Binaries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9EDF100-A83D-4048-B74C-0AB39EDE1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70556"/>
            <a:ext cx="8052486" cy="500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38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8A725B-6C05-0043-B20D-178CD466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Spectroscopic</a:t>
            </a:r>
            <a:r>
              <a:rPr lang="it-IT" dirty="0"/>
              <a:t> </a:t>
            </a:r>
            <a:r>
              <a:rPr lang="it-IT" dirty="0" err="1"/>
              <a:t>Binaries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BB57360-4A13-BA44-877F-6DAE0237B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13" y="1196752"/>
            <a:ext cx="9144000" cy="493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79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8A725B-6C05-0043-B20D-178CD466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Spectroscopic</a:t>
            </a:r>
            <a:r>
              <a:rPr lang="it-IT" dirty="0"/>
              <a:t> </a:t>
            </a:r>
            <a:r>
              <a:rPr lang="it-IT" dirty="0" err="1"/>
              <a:t>Binaries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BB8B0F7-284D-3A4E-AC92-F21ED6C62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45206"/>
            <a:ext cx="7842422" cy="451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0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8A725B-6C05-0043-B20D-178CD466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Eclipsing</a:t>
            </a:r>
            <a:r>
              <a:rPr lang="it-IT" dirty="0"/>
              <a:t> </a:t>
            </a:r>
            <a:r>
              <a:rPr lang="it-IT" dirty="0" err="1"/>
              <a:t>Binaries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1193283-40F1-CF48-A293-46AB5FB9C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38883"/>
            <a:ext cx="8027773" cy="485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12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DE18C9-7B58-5044-989D-CF340AE0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Mass-</a:t>
            </a:r>
            <a:r>
              <a:rPr lang="it-IT" dirty="0" err="1"/>
              <a:t>Luminosity</a:t>
            </a:r>
            <a:r>
              <a:rPr lang="it-IT" dirty="0"/>
              <a:t> </a:t>
            </a:r>
            <a:r>
              <a:rPr lang="it-IT" dirty="0" err="1"/>
              <a:t>Diagram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EFD13A8D-393D-D441-9CAC-BEB2D6740FFD}"/>
                  </a:ext>
                </a:extLst>
              </p:cNvPr>
              <p:cNvSpPr txBox="1"/>
              <p:nvPr/>
            </p:nvSpPr>
            <p:spPr>
              <a:xfrm>
                <a:off x="309486" y="2099514"/>
                <a:ext cx="1318694" cy="3724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3.5−4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EFD13A8D-393D-D441-9CAC-BEB2D6740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86" y="2099514"/>
                <a:ext cx="1318694" cy="3724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2B41E907-2320-664D-A722-879C9A8E6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180" y="1628800"/>
            <a:ext cx="3175000" cy="4343400"/>
          </a:xfrm>
          <a:prstGeom prst="rect">
            <a:avLst/>
          </a:prstGeom>
        </p:spPr>
      </p:pic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483E71E3-7643-ED4E-B204-A984496825D2}"/>
              </a:ext>
            </a:extLst>
          </p:cNvPr>
          <p:cNvCxnSpPr/>
          <p:nvPr/>
        </p:nvCxnSpPr>
        <p:spPr>
          <a:xfrm>
            <a:off x="1924102" y="4077072"/>
            <a:ext cx="792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15">
            <a:extLst>
              <a:ext uri="{FF2B5EF4-FFF2-40B4-BE49-F238E27FC236}">
                <a16:creationId xmlns:a16="http://schemas.microsoft.com/office/drawing/2014/main" id="{7062E1FE-3557-BD48-A407-339F24006773}"/>
              </a:ext>
            </a:extLst>
          </p:cNvPr>
          <p:cNvCxnSpPr>
            <a:cxnSpLocks/>
          </p:cNvCxnSpPr>
          <p:nvPr/>
        </p:nvCxnSpPr>
        <p:spPr>
          <a:xfrm flipV="1">
            <a:off x="2716190" y="4077072"/>
            <a:ext cx="0" cy="1584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D775262-F1BA-0F4D-A685-CE6D6692CC0F}"/>
              </a:ext>
            </a:extLst>
          </p:cNvPr>
          <p:cNvSpPr txBox="1"/>
          <p:nvPr/>
        </p:nvSpPr>
        <p:spPr>
          <a:xfrm>
            <a:off x="2749059" y="4082999"/>
            <a:ext cx="4940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err="1"/>
              <a:t>Sun</a:t>
            </a:r>
            <a:endParaRPr lang="it-IT" sz="160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BEA1EA4-3277-9D40-BB75-656E1BF8C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974" y="1659700"/>
            <a:ext cx="5078508" cy="400154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976369B-2CCA-8341-AC62-FAF37D7C17DD}"/>
              </a:ext>
            </a:extLst>
          </p:cNvPr>
          <p:cNvSpPr txBox="1"/>
          <p:nvPr/>
        </p:nvSpPr>
        <p:spPr>
          <a:xfrm>
            <a:off x="6748276" y="5634024"/>
            <a:ext cx="2084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(from </a:t>
            </a:r>
            <a:r>
              <a:rPr lang="en-GB" sz="1400" dirty="0" err="1"/>
              <a:t>Wang&amp;Zhong</a:t>
            </a:r>
            <a:r>
              <a:rPr lang="en-GB" sz="1400" dirty="0"/>
              <a:t> 2018)</a:t>
            </a:r>
          </a:p>
        </p:txBody>
      </p:sp>
    </p:spTree>
    <p:extLst>
      <p:ext uri="{BB962C8B-B14F-4D97-AF65-F5344CB8AC3E}">
        <p14:creationId xmlns:p14="http://schemas.microsoft.com/office/powerpoint/2010/main" val="1051394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15C8829F-518A-F448-B95B-F7D73DE23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88913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+mj-lt"/>
                <a:ea typeface="ＭＳ Ｐゴシック" pitchFamily="1" charset="-128"/>
                <a:cs typeface="ＭＳ Ｐゴシック" pitchFamily="1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itchFamily="1" charset="0"/>
                <a:ea typeface="ＭＳ Ｐゴシック" pitchFamily="1" charset="-128"/>
                <a:cs typeface="ＭＳ Ｐゴシック" pitchFamily="1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itchFamily="1" charset="0"/>
                <a:ea typeface="ＭＳ Ｐゴシック" pitchFamily="1" charset="-128"/>
                <a:cs typeface="ＭＳ Ｐゴシック" pitchFamily="1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itchFamily="1" charset="0"/>
                <a:ea typeface="ＭＳ Ｐゴシック" pitchFamily="1" charset="-128"/>
                <a:cs typeface="ＭＳ Ｐゴシック" pitchFamily="1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itchFamily="1" charset="0"/>
                <a:ea typeface="ＭＳ Ｐゴシック" pitchFamily="1" charset="-128"/>
                <a:cs typeface="ＭＳ Ｐゴシック" pitchFamily="1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itchFamily="1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itchFamily="1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itchFamily="1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itchFamily="1" charset="0"/>
              </a:defRPr>
            </a:lvl9pPr>
          </a:lstStyle>
          <a:p>
            <a:pPr eaLnBrk="1" hangingPunct="1">
              <a:defRPr/>
            </a:pPr>
            <a:r>
              <a:rPr lang="it-IT" altLang="it-IT" kern="0" dirty="0" err="1">
                <a:ea typeface="ＭＳ Ｐゴシック" panose="020B0600070205080204" pitchFamily="34" charset="-128"/>
              </a:rPr>
              <a:t>Fundamental</a:t>
            </a:r>
            <a:r>
              <a:rPr lang="it-IT" altLang="it-IT" kern="0" dirty="0">
                <a:ea typeface="ＭＳ Ｐゴシック" panose="020B0600070205080204" pitchFamily="34" charset="-128"/>
              </a:rPr>
              <a:t> </a:t>
            </a:r>
            <a:r>
              <a:rPr lang="it-IT" altLang="it-IT" kern="0" dirty="0" err="1">
                <a:ea typeface="ＭＳ Ｐゴシック" panose="020B0600070205080204" pitchFamily="34" charset="-128"/>
              </a:rPr>
              <a:t>Diagrams</a:t>
            </a:r>
            <a:endParaRPr lang="it-IT" altLang="it-IT" kern="0" dirty="0">
              <a:ea typeface="ＭＳ Ｐゴシック" panose="020B0600070205080204" pitchFamily="34" charset="-128"/>
            </a:endParaRPr>
          </a:p>
        </p:txBody>
      </p:sp>
      <p:pic>
        <p:nvPicPr>
          <p:cNvPr id="4099" name="Immagine 5">
            <a:extLst>
              <a:ext uri="{FF2B5EF4-FFF2-40B4-BE49-F238E27FC236}">
                <a16:creationId xmlns:a16="http://schemas.microsoft.com/office/drawing/2014/main" id="{21F0EDB4-1E8E-6C41-BCCE-F1985BF3D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998538"/>
            <a:ext cx="3581400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Immagine 3">
            <a:extLst>
              <a:ext uri="{FF2B5EF4-FFF2-40B4-BE49-F238E27FC236}">
                <a16:creationId xmlns:a16="http://schemas.microsoft.com/office/drawing/2014/main" id="{2F6A8F01-ED05-2546-8F0C-D117F3F9C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5788026"/>
            <a:ext cx="1524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Rettangolo 7">
            <a:extLst>
              <a:ext uri="{FF2B5EF4-FFF2-40B4-BE49-F238E27FC236}">
                <a16:creationId xmlns:a16="http://schemas.microsoft.com/office/drawing/2014/main" id="{2F36AEF8-007A-9843-8CE5-3C933980F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4322763"/>
            <a:ext cx="3168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</a:rPr>
              <a:t>B-V = -0.60 + 7300/T</a:t>
            </a:r>
          </a:p>
        </p:txBody>
      </p:sp>
      <p:graphicFrame>
        <p:nvGraphicFramePr>
          <p:cNvPr id="4102" name="Object 3">
            <a:extLst>
              <a:ext uri="{FF2B5EF4-FFF2-40B4-BE49-F238E27FC236}">
                <a16:creationId xmlns:a16="http://schemas.microsoft.com/office/drawing/2014/main" id="{134027BD-CAA1-1A40-9262-00C71A0FE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0676" y="3652838"/>
          <a:ext cx="225266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500" imgH="368300" progId="Equation.3">
                  <p:embed/>
                </p:oleObj>
              </mc:Choice>
              <mc:Fallback>
                <p:oleObj name="Equation" r:id="rId4" imgW="1333500" imgH="368300" progId="Equation.3">
                  <p:embed/>
                  <p:pic>
                    <p:nvPicPr>
                      <p:cNvPr id="4102" name="Object 3">
                        <a:extLst>
                          <a:ext uri="{FF2B5EF4-FFF2-40B4-BE49-F238E27FC236}">
                            <a16:creationId xmlns:a16="http://schemas.microsoft.com/office/drawing/2014/main" id="{134027BD-CAA1-1A40-9262-00C71A0FE4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6" y="3652838"/>
                        <a:ext cx="225266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Rettangolo 9">
            <a:extLst>
              <a:ext uri="{FF2B5EF4-FFF2-40B4-BE49-F238E27FC236}">
                <a16:creationId xmlns:a16="http://schemas.microsoft.com/office/drawing/2014/main" id="{1CDD959F-AF0B-5546-A548-09EB7ED70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4738688"/>
            <a:ext cx="16878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</a:rPr>
              <a:t>M</a:t>
            </a:r>
            <a:r>
              <a:rPr lang="en-US" altLang="it-IT" baseline="-25000">
                <a:solidFill>
                  <a:schemeClr val="tx1"/>
                </a:solidFill>
              </a:rPr>
              <a:t>bol </a:t>
            </a:r>
            <a:r>
              <a:rPr lang="en-US" altLang="it-IT">
                <a:solidFill>
                  <a:schemeClr val="tx1"/>
                </a:solidFill>
              </a:rPr>
              <a:t>= M</a:t>
            </a:r>
            <a:r>
              <a:rPr lang="en-US" altLang="it-IT" baseline="-25000">
                <a:solidFill>
                  <a:schemeClr val="tx1"/>
                </a:solidFill>
              </a:rPr>
              <a:t>V </a:t>
            </a:r>
            <a:r>
              <a:rPr lang="en-US" altLang="it-IT">
                <a:solidFill>
                  <a:schemeClr val="tx1"/>
                </a:solidFill>
              </a:rPr>
              <a:t>+ BC</a:t>
            </a:r>
            <a:endParaRPr lang="en-US" altLang="it-IT" baseline="-25000">
              <a:solidFill>
                <a:schemeClr val="tx1"/>
              </a:solidFill>
            </a:endParaRPr>
          </a:p>
        </p:txBody>
      </p:sp>
      <p:graphicFrame>
        <p:nvGraphicFramePr>
          <p:cNvPr id="4104" name="Object 2">
            <a:extLst>
              <a:ext uri="{FF2B5EF4-FFF2-40B4-BE49-F238E27FC236}">
                <a16:creationId xmlns:a16="http://schemas.microsoft.com/office/drawing/2014/main" id="{A85D255F-E0E8-9D4C-AD94-2E01DDF635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8463" y="5318126"/>
          <a:ext cx="16827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900" imgH="203200" progId="Equation.3">
                  <p:embed/>
                </p:oleObj>
              </mc:Choice>
              <mc:Fallback>
                <p:oleObj name="Equation" r:id="rId6" imgW="977900" imgH="203200" progId="Equation.3">
                  <p:embed/>
                  <p:pic>
                    <p:nvPicPr>
                      <p:cNvPr id="4104" name="Object 2">
                        <a:extLst>
                          <a:ext uri="{FF2B5EF4-FFF2-40B4-BE49-F238E27FC236}">
                            <a16:creationId xmlns:a16="http://schemas.microsoft.com/office/drawing/2014/main" id="{A85D255F-E0E8-9D4C-AD94-2E01DDF635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5318126"/>
                        <a:ext cx="16827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Rettangolo 11">
            <a:extLst>
              <a:ext uri="{FF2B5EF4-FFF2-40B4-BE49-F238E27FC236}">
                <a16:creationId xmlns:a16="http://schemas.microsoft.com/office/drawing/2014/main" id="{F0E4CBB4-60E5-B642-BEAA-EC72B2E65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4137025"/>
            <a:ext cx="3168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L/</a:t>
            </a:r>
            <a:r>
              <a:rPr lang="en-US" altLang="it-IT" dirty="0" err="1">
                <a:solidFill>
                  <a:schemeClr val="tx1"/>
                </a:solidFill>
              </a:rPr>
              <a:t>L</a:t>
            </a:r>
            <a:r>
              <a:rPr lang="en-US" altLang="it-IT" baseline="-25000" dirty="0" err="1">
                <a:solidFill>
                  <a:schemeClr val="tx1"/>
                </a:solidFill>
              </a:rPr>
              <a:t>sun</a:t>
            </a:r>
            <a:r>
              <a:rPr lang="en-US" altLang="it-IT" dirty="0">
                <a:solidFill>
                  <a:schemeClr val="tx1"/>
                </a:solidFill>
              </a:rPr>
              <a:t>~ (M/</a:t>
            </a:r>
            <a:r>
              <a:rPr lang="en-US" altLang="it-IT" dirty="0" err="1">
                <a:solidFill>
                  <a:schemeClr val="tx1"/>
                </a:solidFill>
              </a:rPr>
              <a:t>M</a:t>
            </a:r>
            <a:r>
              <a:rPr lang="en-US" altLang="it-IT" baseline="-25000" dirty="0" err="1">
                <a:solidFill>
                  <a:schemeClr val="tx1"/>
                </a:solidFill>
              </a:rPr>
              <a:t>sun</a:t>
            </a:r>
            <a:r>
              <a:rPr lang="en-US" altLang="it-IT" dirty="0">
                <a:solidFill>
                  <a:schemeClr val="tx1"/>
                </a:solidFill>
              </a:rPr>
              <a:t>)</a:t>
            </a:r>
            <a:r>
              <a:rPr lang="en-US" altLang="it-IT" baseline="30000" dirty="0">
                <a:solidFill>
                  <a:schemeClr val="tx1"/>
                </a:solidFill>
              </a:rPr>
              <a:t>3.5-4</a:t>
            </a:r>
            <a:r>
              <a:rPr lang="en-US" altLang="it-IT" baseline="-25000" dirty="0">
                <a:solidFill>
                  <a:schemeClr val="tx1"/>
                </a:solidFill>
              </a:rPr>
              <a:t> </a:t>
            </a:r>
            <a:endParaRPr lang="en-US" altLang="it-IT" dirty="0">
              <a:solidFill>
                <a:schemeClr val="tx1"/>
              </a:solidFill>
            </a:endParaRPr>
          </a:p>
        </p:txBody>
      </p:sp>
      <p:sp>
        <p:nvSpPr>
          <p:cNvPr id="4106" name="CasellaDiTesto 12">
            <a:extLst>
              <a:ext uri="{FF2B5EF4-FFF2-40B4-BE49-F238E27FC236}">
                <a16:creationId xmlns:a16="http://schemas.microsoft.com/office/drawing/2014/main" id="{E523C707-C2CB-BE47-A1A9-3D5068535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6389689"/>
            <a:ext cx="4697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it-IT">
                <a:solidFill>
                  <a:schemeClr val="tx1"/>
                </a:solidFill>
              </a:rPr>
              <a:t>(Note: the distance of stars must be known)</a:t>
            </a:r>
          </a:p>
        </p:txBody>
      </p:sp>
      <p:sp>
        <p:nvSpPr>
          <p:cNvPr id="4107" name="CasellaDiTesto 13">
            <a:extLst>
              <a:ext uri="{FF2B5EF4-FFF2-40B4-BE49-F238E27FC236}">
                <a16:creationId xmlns:a16="http://schemas.microsoft.com/office/drawing/2014/main" id="{9C3686ED-F122-504A-B01A-AB6922478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964" y="4756151"/>
            <a:ext cx="18494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</a:rPr>
              <a:t>L</a:t>
            </a:r>
            <a:r>
              <a:rPr lang="en-US" altLang="it-IT" baseline="-25000">
                <a:solidFill>
                  <a:schemeClr val="tx1"/>
                </a:solidFill>
              </a:rPr>
              <a:t>sun</a:t>
            </a:r>
            <a:r>
              <a:rPr lang="en-US" altLang="it-IT">
                <a:solidFill>
                  <a:schemeClr val="tx1"/>
                </a:solidFill>
              </a:rPr>
              <a:t>~ 4 10</a:t>
            </a:r>
            <a:r>
              <a:rPr lang="en-US" altLang="it-IT" baseline="30000">
                <a:solidFill>
                  <a:schemeClr val="tx1"/>
                </a:solidFill>
              </a:rPr>
              <a:t>26</a:t>
            </a:r>
            <a:r>
              <a:rPr lang="en-US" altLang="it-IT">
                <a:solidFill>
                  <a:schemeClr val="tx1"/>
                </a:solidFill>
              </a:rPr>
              <a:t> W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</a:rPr>
              <a:t>M</a:t>
            </a:r>
            <a:r>
              <a:rPr lang="en-US" altLang="it-IT" baseline="-25000">
                <a:solidFill>
                  <a:schemeClr val="tx1"/>
                </a:solidFill>
              </a:rPr>
              <a:t>sun</a:t>
            </a:r>
            <a:r>
              <a:rPr lang="en-US" altLang="it-IT">
                <a:solidFill>
                  <a:schemeClr val="tx1"/>
                </a:solidFill>
              </a:rPr>
              <a:t> ~ 2 10</a:t>
            </a:r>
            <a:r>
              <a:rPr lang="en-US" altLang="it-IT" baseline="30000">
                <a:solidFill>
                  <a:schemeClr val="tx1"/>
                </a:solidFill>
              </a:rPr>
              <a:t>30 </a:t>
            </a:r>
            <a:r>
              <a:rPr lang="en-US" altLang="it-IT">
                <a:solidFill>
                  <a:schemeClr val="tx1"/>
                </a:solidFill>
              </a:rPr>
              <a:t>Kg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</a:rPr>
              <a:t>T</a:t>
            </a:r>
            <a:r>
              <a:rPr lang="en-US" altLang="it-IT" baseline="-25000">
                <a:solidFill>
                  <a:schemeClr val="tx1"/>
                </a:solidFill>
              </a:rPr>
              <a:t>sun</a:t>
            </a:r>
            <a:r>
              <a:rPr lang="en-US" altLang="it-IT">
                <a:solidFill>
                  <a:schemeClr val="tx1"/>
                </a:solidFill>
              </a:rPr>
              <a:t>~ 5800 K</a:t>
            </a:r>
            <a:endParaRPr lang="en-GB" altLang="it-IT" baseline="-25000">
              <a:solidFill>
                <a:schemeClr val="tx1"/>
              </a:solidFill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E566BBE6-C188-C14A-BEA0-7EB573139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0504" y="815212"/>
            <a:ext cx="2248914" cy="307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97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DE18C9-7B58-5044-989D-CF340AE0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Fundamental</a:t>
            </a:r>
            <a:r>
              <a:rPr lang="it-IT" dirty="0"/>
              <a:t> Relations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872893C-9439-B546-8652-701314D1E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37" y="1772816"/>
            <a:ext cx="4684195" cy="367240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0149008-272D-AC44-BF2D-3E0CF0BC5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1778743"/>
            <a:ext cx="3344888" cy="34563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5B755483-8655-804D-8BA1-CF62A6B8C388}"/>
                  </a:ext>
                </a:extLst>
              </p:cNvPr>
              <p:cNvSpPr txBox="1"/>
              <p:nvPr/>
            </p:nvSpPr>
            <p:spPr>
              <a:xfrm>
                <a:off x="7392144" y="5447703"/>
                <a:ext cx="1318694" cy="3724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3.5−4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5B755483-8655-804D-8BA1-CF62A6B8C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4" y="5447703"/>
                <a:ext cx="1318694" cy="3724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BF363E1-21AF-304B-84CF-8E86450B7C8E}"/>
                  </a:ext>
                </a:extLst>
              </p:cNvPr>
              <p:cNvSpPr txBox="1"/>
              <p:nvPr/>
            </p:nvSpPr>
            <p:spPr>
              <a:xfrm>
                <a:off x="2855641" y="5445224"/>
                <a:ext cx="117500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BF363E1-21AF-304B-84CF-8E86450B7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1" y="5445224"/>
                <a:ext cx="11750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CC36CB6B-1884-D04B-BC74-96A7F9D2841B}"/>
              </a:ext>
            </a:extLst>
          </p:cNvPr>
          <p:cNvSpPr txBox="1"/>
          <p:nvPr/>
        </p:nvSpPr>
        <p:spPr>
          <a:xfrm>
            <a:off x="3873691" y="1321356"/>
            <a:ext cx="3778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For Stars on the </a:t>
            </a: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Sequence</a:t>
            </a:r>
            <a:r>
              <a:rPr lang="it-IT" dirty="0"/>
              <a:t> (MS): </a:t>
            </a:r>
          </a:p>
        </p:txBody>
      </p:sp>
    </p:spTree>
    <p:extLst>
      <p:ext uri="{BB962C8B-B14F-4D97-AF65-F5344CB8AC3E}">
        <p14:creationId xmlns:p14="http://schemas.microsoft.com/office/powerpoint/2010/main" val="37156561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103</Words>
  <Application>Microsoft Macintosh PowerPoint</Application>
  <PresentationFormat>Widescreen</PresentationFormat>
  <Paragraphs>29</Paragraphs>
  <Slides>14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Tahoma</vt:lpstr>
      <vt:lpstr>Tema di Office</vt:lpstr>
      <vt:lpstr>Equation</vt:lpstr>
      <vt:lpstr>Stellar Mass</vt:lpstr>
      <vt:lpstr>Visual Binaries</vt:lpstr>
      <vt:lpstr>Visual Binaries</vt:lpstr>
      <vt:lpstr>Visual Binaries</vt:lpstr>
      <vt:lpstr>Visual Binaries</vt:lpstr>
      <vt:lpstr>Spectroscopic Binaries</vt:lpstr>
      <vt:lpstr>Spectroscopic Binaries</vt:lpstr>
      <vt:lpstr>Spectroscopic Binaries</vt:lpstr>
      <vt:lpstr>Spectroscopic Binaries</vt:lpstr>
      <vt:lpstr>Spectroscopic Binaries</vt:lpstr>
      <vt:lpstr>Eclipsing Binaries</vt:lpstr>
      <vt:lpstr>Mass-Luminosity Diagram</vt:lpstr>
      <vt:lpstr>Presentazione standard di PowerPoint</vt:lpstr>
      <vt:lpstr>Fundamental Relations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Stellar Mass</dc:title>
  <dc:creator>gino tosti</dc:creator>
  <cp:lastModifiedBy>gino tosti</cp:lastModifiedBy>
  <cp:revision>4</cp:revision>
  <dcterms:created xsi:type="dcterms:W3CDTF">2023-04-17T10:37:33Z</dcterms:created>
  <dcterms:modified xsi:type="dcterms:W3CDTF">2024-04-08T08:04:46Z</dcterms:modified>
</cp:coreProperties>
</file>