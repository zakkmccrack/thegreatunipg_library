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842" r:id="rId2"/>
    <p:sldId id="843" r:id="rId3"/>
    <p:sldId id="356" r:id="rId4"/>
    <p:sldId id="677" r:id="rId5"/>
    <p:sldId id="700" r:id="rId6"/>
    <p:sldId id="685" r:id="rId7"/>
    <p:sldId id="678" r:id="rId8"/>
    <p:sldId id="696" r:id="rId9"/>
    <p:sldId id="706" r:id="rId10"/>
    <p:sldId id="710" r:id="rId11"/>
    <p:sldId id="711" r:id="rId12"/>
    <p:sldId id="712" r:id="rId13"/>
    <p:sldId id="713" r:id="rId14"/>
    <p:sldId id="714" r:id="rId15"/>
    <p:sldId id="715" r:id="rId16"/>
    <p:sldId id="375" r:id="rId17"/>
    <p:sldId id="376" r:id="rId18"/>
    <p:sldId id="377" r:id="rId19"/>
    <p:sldId id="379" r:id="rId20"/>
    <p:sldId id="572" r:id="rId21"/>
    <p:sldId id="806" r:id="rId22"/>
    <p:sldId id="717" r:id="rId23"/>
    <p:sldId id="381" r:id="rId24"/>
    <p:sldId id="718" r:id="rId25"/>
    <p:sldId id="807" r:id="rId26"/>
    <p:sldId id="719" r:id="rId27"/>
    <p:sldId id="720" r:id="rId28"/>
    <p:sldId id="721" r:id="rId29"/>
    <p:sldId id="373" r:id="rId30"/>
    <p:sldId id="748" r:id="rId31"/>
    <p:sldId id="505" r:id="rId32"/>
    <p:sldId id="506" r:id="rId33"/>
    <p:sldId id="758" r:id="rId34"/>
    <p:sldId id="662" r:id="rId35"/>
    <p:sldId id="664" r:id="rId36"/>
    <p:sldId id="502" r:id="rId37"/>
    <p:sldId id="503" r:id="rId38"/>
    <p:sldId id="504" r:id="rId39"/>
    <p:sldId id="759" r:id="rId40"/>
    <p:sldId id="509" r:id="rId41"/>
    <p:sldId id="507" r:id="rId42"/>
    <p:sldId id="514" r:id="rId43"/>
    <p:sldId id="515" r:id="rId44"/>
    <p:sldId id="516" r:id="rId45"/>
    <p:sldId id="512" r:id="rId46"/>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0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0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0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0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C27E68-ADFA-49AE-A404-D7BB63CC52C8}" v="39" dt="2026-05-08T08:23:41.382"/>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36"/>
    <p:restoredTop sz="94694"/>
  </p:normalViewPr>
  <p:slideViewPr>
    <p:cSldViewPr snapToGrid="0">
      <p:cViewPr varScale="1">
        <p:scale>
          <a:sx n="105" d="100"/>
          <a:sy n="105" d="100"/>
        </p:scale>
        <p:origin x="214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7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no tosti" userId="f614b7af894988c3" providerId="LiveId" clId="{45D8D1B5-8849-4E88-A8AF-5557EBB7F985}"/>
    <pc:docChg chg="modSld sldOrd">
      <pc:chgData name="gino tosti" userId="f614b7af894988c3" providerId="LiveId" clId="{45D8D1B5-8849-4E88-A8AF-5557EBB7F985}" dt="2026-05-10T20:13:37.064" v="63" actId="20577"/>
      <pc:docMkLst>
        <pc:docMk/>
      </pc:docMkLst>
      <pc:sldChg chg="ord">
        <pc:chgData name="gino tosti" userId="f614b7af894988c3" providerId="LiveId" clId="{45D8D1B5-8849-4E88-A8AF-5557EBB7F985}" dt="2026-05-10T20:10:58.946" v="56"/>
        <pc:sldMkLst>
          <pc:docMk/>
          <pc:sldMk cId="4232696138" sldId="503"/>
        </pc:sldMkLst>
      </pc:sldChg>
      <pc:sldChg chg="modSp mod">
        <pc:chgData name="gino tosti" userId="f614b7af894988c3" providerId="LiveId" clId="{45D8D1B5-8849-4E88-A8AF-5557EBB7F985}" dt="2026-05-04T10:21:58.344" v="2" actId="20577"/>
        <pc:sldMkLst>
          <pc:docMk/>
          <pc:sldMk cId="1290895787" sldId="512"/>
        </pc:sldMkLst>
        <pc:spChg chg="mod">
          <ac:chgData name="gino tosti" userId="f614b7af894988c3" providerId="LiveId" clId="{45D8D1B5-8849-4E88-A8AF-5557EBB7F985}" dt="2026-05-04T10:21:58.344" v="2" actId="20577"/>
          <ac:spMkLst>
            <pc:docMk/>
            <pc:sldMk cId="1290895787" sldId="512"/>
            <ac:spMk id="94211" creationId="{00000000-0000-0000-0000-000000000000}"/>
          </ac:spMkLst>
        </pc:spChg>
      </pc:sldChg>
      <pc:sldChg chg="modSp mod">
        <pc:chgData name="gino tosti" userId="f614b7af894988c3" providerId="LiveId" clId="{45D8D1B5-8849-4E88-A8AF-5557EBB7F985}" dt="2026-05-10T20:12:35.176" v="60" actId="1076"/>
        <pc:sldMkLst>
          <pc:docMk/>
          <pc:sldMk cId="2144773893" sldId="514"/>
        </pc:sldMkLst>
        <pc:spChg chg="mod">
          <ac:chgData name="gino tosti" userId="f614b7af894988c3" providerId="LiveId" clId="{45D8D1B5-8849-4E88-A8AF-5557EBB7F985}" dt="2026-05-10T20:12:06.778" v="59" actId="14100"/>
          <ac:spMkLst>
            <pc:docMk/>
            <pc:sldMk cId="2144773893" sldId="514"/>
            <ac:spMk id="3" creationId="{00000000-0000-0000-0000-000000000000}"/>
          </ac:spMkLst>
        </pc:spChg>
        <pc:picChg chg="mod">
          <ac:chgData name="gino tosti" userId="f614b7af894988c3" providerId="LiveId" clId="{45D8D1B5-8849-4E88-A8AF-5557EBB7F985}" dt="2026-05-10T20:12:35.176" v="60" actId="1076"/>
          <ac:picMkLst>
            <pc:docMk/>
            <pc:sldMk cId="2144773893" sldId="514"/>
            <ac:picMk id="6" creationId="{00000000-0000-0000-0000-000000000000}"/>
          </ac:picMkLst>
        </pc:picChg>
      </pc:sldChg>
      <pc:sldChg chg="modSp mod">
        <pc:chgData name="gino tosti" userId="f614b7af894988c3" providerId="LiveId" clId="{45D8D1B5-8849-4E88-A8AF-5557EBB7F985}" dt="2026-05-10T20:12:45.132" v="61" actId="113"/>
        <pc:sldMkLst>
          <pc:docMk/>
          <pc:sldMk cId="451576872" sldId="515"/>
        </pc:sldMkLst>
        <pc:spChg chg="mod">
          <ac:chgData name="gino tosti" userId="f614b7af894988c3" providerId="LiveId" clId="{45D8D1B5-8849-4E88-A8AF-5557EBB7F985}" dt="2026-05-10T20:12:45.132" v="61" actId="113"/>
          <ac:spMkLst>
            <pc:docMk/>
            <pc:sldMk cId="451576872" sldId="515"/>
            <ac:spMk id="3" creationId="{00000000-0000-0000-0000-000000000000}"/>
          </ac:spMkLst>
        </pc:spChg>
      </pc:sldChg>
      <pc:sldChg chg="modSp mod">
        <pc:chgData name="gino tosti" userId="f614b7af894988c3" providerId="LiveId" clId="{45D8D1B5-8849-4E88-A8AF-5557EBB7F985}" dt="2026-05-10T20:13:37.064" v="63" actId="20577"/>
        <pc:sldMkLst>
          <pc:docMk/>
          <pc:sldMk cId="1987122307" sldId="516"/>
        </pc:sldMkLst>
        <pc:spChg chg="mod">
          <ac:chgData name="gino tosti" userId="f614b7af894988c3" providerId="LiveId" clId="{45D8D1B5-8849-4E88-A8AF-5557EBB7F985}" dt="2026-05-10T20:13:37.064" v="63" actId="20577"/>
          <ac:spMkLst>
            <pc:docMk/>
            <pc:sldMk cId="1987122307" sldId="516"/>
            <ac:spMk id="3" creationId="{00000000-0000-0000-0000-000000000000}"/>
          </ac:spMkLst>
        </pc:spChg>
      </pc:sldChg>
      <pc:sldChg chg="modSp">
        <pc:chgData name="gino tosti" userId="f614b7af894988c3" providerId="LiveId" clId="{45D8D1B5-8849-4E88-A8AF-5557EBB7F985}" dt="2026-05-08T08:17:29.041" v="28" actId="14100"/>
        <pc:sldMkLst>
          <pc:docMk/>
          <pc:sldMk cId="0" sldId="711"/>
        </pc:sldMkLst>
        <pc:spChg chg="mod">
          <ac:chgData name="gino tosti" userId="f614b7af894988c3" providerId="LiveId" clId="{45D8D1B5-8849-4E88-A8AF-5557EBB7F985}" dt="2026-05-08T08:17:29.041" v="28" actId="14100"/>
          <ac:spMkLst>
            <pc:docMk/>
            <pc:sldMk cId="0" sldId="711"/>
            <ac:spMk id="96258" creationId="{9E864778-9F5F-C241-A847-DA2BB5D209BE}"/>
          </ac:spMkLst>
        </pc:spChg>
      </pc:sldChg>
      <pc:sldChg chg="modSp mod">
        <pc:chgData name="gino tosti" userId="f614b7af894988c3" providerId="LiveId" clId="{45D8D1B5-8849-4E88-A8AF-5557EBB7F985}" dt="2026-05-08T08:22:39.594" v="40" actId="20577"/>
        <pc:sldMkLst>
          <pc:docMk/>
          <pc:sldMk cId="0" sldId="714"/>
        </pc:sldMkLst>
        <pc:spChg chg="mod">
          <ac:chgData name="gino tosti" userId="f614b7af894988c3" providerId="LiveId" clId="{45D8D1B5-8849-4E88-A8AF-5557EBB7F985}" dt="2026-05-08T08:22:39.594" v="40" actId="20577"/>
          <ac:spMkLst>
            <pc:docMk/>
            <pc:sldMk cId="0" sldId="714"/>
            <ac:spMk id="99331" creationId="{FC42CD49-CEA8-194A-A436-92D793DBA777}"/>
          </ac:spMkLst>
        </pc:spChg>
      </pc:sldChg>
      <pc:sldChg chg="addSp modSp mod">
        <pc:chgData name="gino tosti" userId="f614b7af894988c3" providerId="LiveId" clId="{45D8D1B5-8849-4E88-A8AF-5557EBB7F985}" dt="2026-05-08T08:23:41.382" v="54" actId="1035"/>
        <pc:sldMkLst>
          <pc:docMk/>
          <pc:sldMk cId="0" sldId="715"/>
        </pc:sldMkLst>
        <pc:spChg chg="add mod">
          <ac:chgData name="gino tosti" userId="f614b7af894988c3" providerId="LiveId" clId="{45D8D1B5-8849-4E88-A8AF-5557EBB7F985}" dt="2026-05-08T08:23:33.342" v="44" actId="1076"/>
          <ac:spMkLst>
            <pc:docMk/>
            <pc:sldMk cId="0" sldId="715"/>
            <ac:spMk id="3" creationId="{201901B7-B0A6-FEBE-9C3A-AFC2E92422C1}"/>
          </ac:spMkLst>
        </pc:spChg>
        <pc:picChg chg="mod">
          <ac:chgData name="gino tosti" userId="f614b7af894988c3" providerId="LiveId" clId="{45D8D1B5-8849-4E88-A8AF-5557EBB7F985}" dt="2026-05-08T08:23:41.382" v="54" actId="1035"/>
          <ac:picMkLst>
            <pc:docMk/>
            <pc:sldMk cId="0" sldId="715"/>
            <ac:picMk id="100354" creationId="{0FE5CDD0-E8EF-1A43-B515-1534E3D7F74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A5F0A0E-4964-864F-8DBD-AC19578C5B3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pitchFamily="1" charset="0"/>
                <a:ea typeface="+mn-ea"/>
                <a:cs typeface="+mn-cs"/>
              </a:defRPr>
            </a:lvl1pPr>
          </a:lstStyle>
          <a:p>
            <a:pPr>
              <a:defRPr/>
            </a:pPr>
            <a:endParaRPr lang="en-US"/>
          </a:p>
        </p:txBody>
      </p:sp>
      <p:sp>
        <p:nvSpPr>
          <p:cNvPr id="87043" name="Rectangle 3">
            <a:extLst>
              <a:ext uri="{FF2B5EF4-FFF2-40B4-BE49-F238E27FC236}">
                <a16:creationId xmlns:a16="http://schemas.microsoft.com/office/drawing/2014/main" id="{3F443218-6724-CD41-B5C2-37E763BE13F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pitchFamily="1" charset="0"/>
                <a:ea typeface="+mn-ea"/>
                <a:cs typeface="+mn-cs"/>
              </a:defRPr>
            </a:lvl1pPr>
          </a:lstStyle>
          <a:p>
            <a:pPr>
              <a:defRPr/>
            </a:pPr>
            <a:endParaRPr lang="en-US"/>
          </a:p>
        </p:txBody>
      </p:sp>
      <p:sp>
        <p:nvSpPr>
          <p:cNvPr id="19460" name="Rectangle 4">
            <a:extLst>
              <a:ext uri="{FF2B5EF4-FFF2-40B4-BE49-F238E27FC236}">
                <a16:creationId xmlns:a16="http://schemas.microsoft.com/office/drawing/2014/main" id="{92D9DE9C-0688-E047-9F7E-901BE8F8A8C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5" name="Rectangle 5">
            <a:extLst>
              <a:ext uri="{FF2B5EF4-FFF2-40B4-BE49-F238E27FC236}">
                <a16:creationId xmlns:a16="http://schemas.microsoft.com/office/drawing/2014/main" id="{384C74D3-DC1C-1244-8B27-433F7B5D4F0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7046" name="Rectangle 6">
            <a:extLst>
              <a:ext uri="{FF2B5EF4-FFF2-40B4-BE49-F238E27FC236}">
                <a16:creationId xmlns:a16="http://schemas.microsoft.com/office/drawing/2014/main" id="{264D73A3-87E9-2D4F-A504-7B9AFAC0B4E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pitchFamily="1" charset="0"/>
                <a:ea typeface="+mn-ea"/>
                <a:cs typeface="+mn-cs"/>
              </a:defRPr>
            </a:lvl1pPr>
          </a:lstStyle>
          <a:p>
            <a:pPr>
              <a:defRPr/>
            </a:pPr>
            <a:endParaRPr lang="en-US"/>
          </a:p>
        </p:txBody>
      </p:sp>
      <p:sp>
        <p:nvSpPr>
          <p:cNvPr id="87047" name="Rectangle 7">
            <a:extLst>
              <a:ext uri="{FF2B5EF4-FFF2-40B4-BE49-F238E27FC236}">
                <a16:creationId xmlns:a16="http://schemas.microsoft.com/office/drawing/2014/main" id="{A996C95B-13BB-2545-BACD-A85C27B7DF7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48ECA14C-89F3-4448-9D95-9A4DDD131B5C}" type="slidenum">
              <a:rPr lang="en-US" altLang="it-IT"/>
              <a:pPr>
                <a:defRPr/>
              </a:pPr>
              <a:t>‹#›</a:t>
            </a:fld>
            <a:endParaRPr lang="en-US"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1EB46A5F-F2D9-2A47-BA76-47E7A1BC65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791071D-ADD3-7343-9D12-11714217EDF1}" type="slidenum">
              <a:rPr lang="en-GB" altLang="it-IT" smtClean="0"/>
              <a:pPr>
                <a:spcBef>
                  <a:spcPct val="0"/>
                </a:spcBef>
              </a:pPr>
              <a:t>24</a:t>
            </a:fld>
            <a:endParaRPr lang="en-GB" altLang="it-IT"/>
          </a:p>
        </p:txBody>
      </p:sp>
      <p:sp>
        <p:nvSpPr>
          <p:cNvPr id="112642" name="Rectangle 2">
            <a:extLst>
              <a:ext uri="{FF2B5EF4-FFF2-40B4-BE49-F238E27FC236}">
                <a16:creationId xmlns:a16="http://schemas.microsoft.com/office/drawing/2014/main" id="{07CFA7CA-FFF1-F547-B14B-4E3D2C27DAEE}"/>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C8D5FFB0-B818-E24D-AA06-57D235CAB0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EDCF9D66-6A82-4D43-A4E9-3D33B97529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350D6BB-1952-3248-AB58-E6C3A8F45D58}" type="slidenum">
              <a:rPr lang="en-GB" altLang="it-IT" smtClean="0"/>
              <a:pPr>
                <a:spcBef>
                  <a:spcPct val="0"/>
                </a:spcBef>
              </a:pPr>
              <a:t>25</a:t>
            </a:fld>
            <a:endParaRPr lang="en-GB" altLang="it-IT"/>
          </a:p>
        </p:txBody>
      </p:sp>
      <p:sp>
        <p:nvSpPr>
          <p:cNvPr id="114690" name="Rectangle 2">
            <a:extLst>
              <a:ext uri="{FF2B5EF4-FFF2-40B4-BE49-F238E27FC236}">
                <a16:creationId xmlns:a16="http://schemas.microsoft.com/office/drawing/2014/main" id="{17DEC8E6-F473-544C-A110-8BA66E767022}"/>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2FEA060E-A95B-7140-93FC-E4884566A6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F837DC30-671C-1B4F-988C-2C24A49103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1305844-855B-D14C-A377-56A31D903C6D}" type="slidenum">
              <a:rPr lang="en-GB" altLang="it-IT" smtClean="0"/>
              <a:pPr>
                <a:spcBef>
                  <a:spcPct val="0"/>
                </a:spcBef>
              </a:pPr>
              <a:t>26</a:t>
            </a:fld>
            <a:endParaRPr lang="en-GB" altLang="it-IT"/>
          </a:p>
        </p:txBody>
      </p:sp>
      <p:sp>
        <p:nvSpPr>
          <p:cNvPr id="116738" name="Rectangle 2">
            <a:extLst>
              <a:ext uri="{FF2B5EF4-FFF2-40B4-BE49-F238E27FC236}">
                <a16:creationId xmlns:a16="http://schemas.microsoft.com/office/drawing/2014/main" id="{8B2A435E-2AC3-C24B-8367-5CDDCF10F90D}"/>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CBE0332C-3F7A-FB42-BCC9-5A8968CE47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CF571E3B-F620-F54D-950F-E07F3ADA77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FB6E3C6-DFA3-634D-A6D4-E0FD943A503D}" type="slidenum">
              <a:rPr lang="en-GB" altLang="it-IT" smtClean="0"/>
              <a:pPr>
                <a:spcBef>
                  <a:spcPct val="0"/>
                </a:spcBef>
              </a:pPr>
              <a:t>27</a:t>
            </a:fld>
            <a:endParaRPr lang="en-GB" altLang="it-IT"/>
          </a:p>
        </p:txBody>
      </p:sp>
      <p:sp>
        <p:nvSpPr>
          <p:cNvPr id="118786" name="Rectangle 2">
            <a:extLst>
              <a:ext uri="{FF2B5EF4-FFF2-40B4-BE49-F238E27FC236}">
                <a16:creationId xmlns:a16="http://schemas.microsoft.com/office/drawing/2014/main" id="{5F5A9F59-A908-BE43-8370-3939D33A15FE}"/>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6CA3976C-DAB7-0F4A-8198-9E46F3E61D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0" i="0">
                <a:latin typeface="Gill Sans" panose="020B0502020104020203" pitchFamily="34" charset="-79"/>
                <a:cs typeface="Gill Sans" panose="020B0502020104020203" pitchFamily="34" charset="-79"/>
              </a:defRPr>
            </a:lvl1pPr>
          </a:lstStyle>
          <a:p>
            <a:r>
              <a:rPr lang="it-IT"/>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b="0" i="0">
                <a:latin typeface="Gill Sans" panose="020B0502020104020203" pitchFamily="34" charset="-79"/>
                <a:cs typeface="Gill Sans" panose="020B0502020104020203" pitchFamily="34" charset="-79"/>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dirty="0"/>
              <a:t>Click to </a:t>
            </a:r>
            <a:r>
              <a:rPr lang="it-IT" dirty="0" err="1"/>
              <a:t>edit</a:t>
            </a:r>
            <a:r>
              <a:rPr lang="it-IT" dirty="0"/>
              <a:t> Master </a:t>
            </a:r>
            <a:r>
              <a:rPr lang="it-IT" dirty="0" err="1"/>
              <a:t>subtitle</a:t>
            </a:r>
            <a:r>
              <a:rPr lang="it-IT" dirty="0"/>
              <a:t> style</a:t>
            </a:r>
            <a:endParaRPr lang="en-US" dirty="0"/>
          </a:p>
        </p:txBody>
      </p:sp>
      <p:sp>
        <p:nvSpPr>
          <p:cNvPr id="4" name="Rectangle 4">
            <a:extLst>
              <a:ext uri="{FF2B5EF4-FFF2-40B4-BE49-F238E27FC236}">
                <a16:creationId xmlns:a16="http://schemas.microsoft.com/office/drawing/2014/main" id="{C75A1460-E82D-6D46-8869-4B9D26C6052B}"/>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5" name="Rectangle 5">
            <a:extLst>
              <a:ext uri="{FF2B5EF4-FFF2-40B4-BE49-F238E27FC236}">
                <a16:creationId xmlns:a16="http://schemas.microsoft.com/office/drawing/2014/main" id="{FDC6CC2A-ADC1-C440-9AA8-23ABCF1C43B8}"/>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6" name="Rectangle 6">
            <a:extLst>
              <a:ext uri="{FF2B5EF4-FFF2-40B4-BE49-F238E27FC236}">
                <a16:creationId xmlns:a16="http://schemas.microsoft.com/office/drawing/2014/main" id="{9908D44B-2117-864E-9EE5-ED6BF30D30FB}"/>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B3867DE4-A254-454B-86A6-25B93EB380E7}" type="slidenum">
              <a:rPr lang="en-US" altLang="it-IT" smtClean="0"/>
              <a:pPr>
                <a:defRPr/>
              </a:pPr>
              <a:t>‹#›</a:t>
            </a:fld>
            <a:endParaRPr lang="en-US" altLang="it-IT"/>
          </a:p>
        </p:txBody>
      </p:sp>
    </p:spTree>
    <p:extLst>
      <p:ext uri="{BB962C8B-B14F-4D97-AF65-F5344CB8AC3E}">
        <p14:creationId xmlns:p14="http://schemas.microsoft.com/office/powerpoint/2010/main" val="323471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it-IT" dirty="0"/>
              <a:t>Click to </a:t>
            </a:r>
            <a:r>
              <a:rPr lang="it-IT" dirty="0" err="1"/>
              <a:t>edit</a:t>
            </a:r>
            <a:r>
              <a:rPr lang="it-IT" dirty="0"/>
              <a:t> Master </a:t>
            </a:r>
            <a:r>
              <a:rPr lang="it-IT" dirty="0" err="1"/>
              <a:t>title</a:t>
            </a:r>
            <a:r>
              <a:rPr lang="it-IT" dirty="0"/>
              <a:t> style</a:t>
            </a:r>
            <a:endParaRPr lang="en-US" dirty="0"/>
          </a:p>
        </p:txBody>
      </p:sp>
      <p:sp>
        <p:nvSpPr>
          <p:cNvPr id="3" name="Content Placeholder 2"/>
          <p:cNvSpPr>
            <a:spLocks noGrp="1"/>
          </p:cNvSpPr>
          <p:nvPr>
            <p:ph idx="1"/>
          </p:nvPr>
        </p:nvSpPr>
        <p:spPr/>
        <p:txBody>
          <a:bodyPr/>
          <a:lstStyle>
            <a:lvl1pPr>
              <a:defRPr b="0" i="0">
                <a:latin typeface="Gill Sans" panose="020B0502020104020203" pitchFamily="34" charset="-79"/>
                <a:cs typeface="Gill Sans" panose="020B0502020104020203" pitchFamily="34" charset="-79"/>
              </a:defRPr>
            </a:lvl1pPr>
            <a:lvl2pPr>
              <a:defRPr b="0" i="0">
                <a:latin typeface="Gill Sans" panose="020B0502020104020203" pitchFamily="34" charset="-79"/>
                <a:cs typeface="Gill Sans" panose="020B0502020104020203" pitchFamily="34" charset="-79"/>
              </a:defRPr>
            </a:lvl2pPr>
            <a:lvl3pPr>
              <a:defRPr b="0" i="0">
                <a:latin typeface="Gill Sans" panose="020B0502020104020203" pitchFamily="34" charset="-79"/>
                <a:cs typeface="Gill Sans" panose="020B0502020104020203" pitchFamily="34" charset="-79"/>
              </a:defRPr>
            </a:lvl3pPr>
            <a:lvl4pPr>
              <a:defRPr b="0" i="0">
                <a:latin typeface="Gill Sans" panose="020B0502020104020203" pitchFamily="34" charset="-79"/>
                <a:cs typeface="Gill Sans" panose="020B0502020104020203" pitchFamily="34" charset="-79"/>
              </a:defRPr>
            </a:lvl4pPr>
            <a:lvl5pPr>
              <a:defRPr b="0" i="0">
                <a:latin typeface="Gill Sans" panose="020B0502020104020203" pitchFamily="34" charset="-79"/>
                <a:cs typeface="Gill Sans" panose="020B0502020104020203" pitchFamily="34" charset="-79"/>
              </a:defRPr>
            </a:lvl5pPr>
          </a:lstStyle>
          <a:p>
            <a:pPr lvl="0"/>
            <a:r>
              <a:rPr lang="it-IT" dirty="0"/>
              <a:t>Click to </a:t>
            </a:r>
            <a:r>
              <a:rPr lang="it-IT" dirty="0" err="1"/>
              <a:t>edit</a:t>
            </a:r>
            <a:r>
              <a:rPr lang="it-IT" dirty="0"/>
              <a:t> Master text </a:t>
            </a:r>
            <a:r>
              <a:rPr lang="it-IT" dirty="0" err="1"/>
              <a:t>styles</a:t>
            </a:r>
            <a:endParaRPr lang="it-IT" dirty="0"/>
          </a:p>
          <a:p>
            <a:pPr lvl="1"/>
            <a:r>
              <a:rPr lang="it-IT" dirty="0"/>
              <a:t>Second </a:t>
            </a:r>
            <a:r>
              <a:rPr lang="it-IT" dirty="0" err="1"/>
              <a:t>level</a:t>
            </a:r>
            <a:endParaRPr lang="it-IT" dirty="0"/>
          </a:p>
          <a:p>
            <a:pPr lvl="2"/>
            <a:r>
              <a:rPr lang="it-IT" dirty="0"/>
              <a:t>Third </a:t>
            </a:r>
            <a:r>
              <a:rPr lang="it-IT" dirty="0" err="1"/>
              <a:t>level</a:t>
            </a:r>
            <a:endParaRPr lang="it-IT" dirty="0"/>
          </a:p>
          <a:p>
            <a:pPr lvl="3"/>
            <a:r>
              <a:rPr lang="it-IT" dirty="0" err="1"/>
              <a:t>Fourth</a:t>
            </a:r>
            <a:r>
              <a:rPr lang="it-IT" dirty="0"/>
              <a:t> </a:t>
            </a:r>
            <a:r>
              <a:rPr lang="it-IT" dirty="0" err="1"/>
              <a:t>level</a:t>
            </a:r>
            <a:endParaRPr lang="it-IT" dirty="0"/>
          </a:p>
          <a:p>
            <a:pPr lvl="4"/>
            <a:r>
              <a:rPr lang="it-IT" dirty="0" err="1"/>
              <a:t>Fifth</a:t>
            </a:r>
            <a:r>
              <a:rPr lang="it-IT" dirty="0"/>
              <a:t> </a:t>
            </a:r>
            <a:r>
              <a:rPr lang="it-IT" dirty="0" err="1"/>
              <a:t>level</a:t>
            </a:r>
            <a:endParaRPr lang="en-US" dirty="0"/>
          </a:p>
        </p:txBody>
      </p:sp>
      <p:sp>
        <p:nvSpPr>
          <p:cNvPr id="4" name="Rectangle 4">
            <a:extLst>
              <a:ext uri="{FF2B5EF4-FFF2-40B4-BE49-F238E27FC236}">
                <a16:creationId xmlns:a16="http://schemas.microsoft.com/office/drawing/2014/main" id="{91357D89-9C89-AE48-8F9D-5B4F8D624EF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DBDF2FB-95DA-024A-9A8E-27C9E76F8D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CB043D9-585C-3347-B587-8F14366C5ED5}"/>
              </a:ext>
            </a:extLst>
          </p:cNvPr>
          <p:cNvSpPr>
            <a:spLocks noGrp="1" noChangeArrowheads="1"/>
          </p:cNvSpPr>
          <p:nvPr>
            <p:ph type="sldNum" sz="quarter" idx="12"/>
          </p:nvPr>
        </p:nvSpPr>
        <p:spPr>
          <a:ln/>
        </p:spPr>
        <p:txBody>
          <a:bodyPr/>
          <a:lstStyle>
            <a:lvl1pPr>
              <a:defRPr/>
            </a:lvl1pPr>
          </a:lstStyle>
          <a:p>
            <a:pPr>
              <a:defRPr/>
            </a:pPr>
            <a:fld id="{A752A443-4DC1-2E4A-B691-E6006F53D90B}" type="slidenum">
              <a:rPr lang="en-US" altLang="it-IT"/>
              <a:pPr>
                <a:defRPr/>
              </a:pPr>
              <a:t>‹#›</a:t>
            </a:fld>
            <a:endParaRPr lang="en-US" altLang="it-IT"/>
          </a:p>
        </p:txBody>
      </p:sp>
    </p:spTree>
    <p:extLst>
      <p:ext uri="{BB962C8B-B14F-4D97-AF65-F5344CB8AC3E}">
        <p14:creationId xmlns:p14="http://schemas.microsoft.com/office/powerpoint/2010/main" val="580771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i="0" cap="all">
                <a:latin typeface="Gill Sans" panose="020B0502020104020203" pitchFamily="34" charset="-79"/>
                <a:cs typeface="Gill Sans" panose="020B0502020104020203" pitchFamily="34" charset="-79"/>
              </a:defRPr>
            </a:lvl1pPr>
          </a:lstStyle>
          <a:p>
            <a:r>
              <a:rPr lang="it-IT"/>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b="0" i="0">
                <a:latin typeface="Gill Sans" panose="020B0502020104020203" pitchFamily="34" charset="-79"/>
                <a:cs typeface="Gill Sans" panose="020B0502020104020203" pitchFamily="34" charset="-79"/>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Click to edit Master text styles</a:t>
            </a:r>
          </a:p>
        </p:txBody>
      </p:sp>
      <p:sp>
        <p:nvSpPr>
          <p:cNvPr id="4" name="Rectangle 4">
            <a:extLst>
              <a:ext uri="{FF2B5EF4-FFF2-40B4-BE49-F238E27FC236}">
                <a16:creationId xmlns:a16="http://schemas.microsoft.com/office/drawing/2014/main" id="{F921DCFA-B596-0B4B-A838-9D94D6A90693}"/>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5" name="Rectangle 5">
            <a:extLst>
              <a:ext uri="{FF2B5EF4-FFF2-40B4-BE49-F238E27FC236}">
                <a16:creationId xmlns:a16="http://schemas.microsoft.com/office/drawing/2014/main" id="{658BC176-44CE-E14A-AD55-F79B378C8B62}"/>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6" name="Rectangle 6">
            <a:extLst>
              <a:ext uri="{FF2B5EF4-FFF2-40B4-BE49-F238E27FC236}">
                <a16:creationId xmlns:a16="http://schemas.microsoft.com/office/drawing/2014/main" id="{AC5CBAAB-D382-F643-BB4E-7DBAA7B4BBDA}"/>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1B1DC609-60A7-694B-B68E-300A3242E756}" type="slidenum">
              <a:rPr lang="en-US" altLang="it-IT" smtClean="0"/>
              <a:pPr>
                <a:defRPr/>
              </a:pPr>
              <a:t>‹#›</a:t>
            </a:fld>
            <a:endParaRPr lang="en-US" altLang="it-IT"/>
          </a:p>
        </p:txBody>
      </p:sp>
    </p:spTree>
    <p:extLst>
      <p:ext uri="{BB962C8B-B14F-4D97-AF65-F5344CB8AC3E}">
        <p14:creationId xmlns:p14="http://schemas.microsoft.com/office/powerpoint/2010/main" val="2595796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panose="020B0502020104020203" pitchFamily="34" charset="-79"/>
                <a:cs typeface="Gill Sans" panose="020B0502020104020203" pitchFamily="34" charset="-79"/>
              </a:defRPr>
            </a:lvl1pPr>
          </a:lstStyle>
          <a:p>
            <a:r>
              <a:rPr lang="it-IT"/>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b="0" i="0">
                <a:latin typeface="Gill Sans" panose="020B0502020104020203" pitchFamily="34" charset="-79"/>
                <a:cs typeface="Gill Sans" panose="020B0502020104020203" pitchFamily="34" charset="-79"/>
              </a:defRPr>
            </a:lvl1pPr>
            <a:lvl2pPr>
              <a:defRPr sz="2400" b="0" i="0">
                <a:latin typeface="Gill Sans" panose="020B0502020104020203" pitchFamily="34" charset="-79"/>
                <a:cs typeface="Gill Sans" panose="020B0502020104020203" pitchFamily="34" charset="-79"/>
              </a:defRPr>
            </a:lvl2pPr>
            <a:lvl3pPr>
              <a:defRPr sz="2000" b="0" i="0">
                <a:latin typeface="Gill Sans" panose="020B0502020104020203" pitchFamily="34" charset="-79"/>
                <a:cs typeface="Gill Sans" panose="020B0502020104020203" pitchFamily="34" charset="-79"/>
              </a:defRPr>
            </a:lvl3pPr>
            <a:lvl4pPr>
              <a:defRPr sz="1800" b="0" i="0">
                <a:latin typeface="Gill Sans" panose="020B0502020104020203" pitchFamily="34" charset="-79"/>
                <a:cs typeface="Gill Sans" panose="020B0502020104020203" pitchFamily="34" charset="-79"/>
              </a:defRPr>
            </a:lvl4pPr>
            <a:lvl5pPr>
              <a:defRPr sz="1800" b="0" i="0">
                <a:latin typeface="Gill Sans" panose="020B0502020104020203" pitchFamily="34" charset="-79"/>
                <a:cs typeface="Gill Sans" panose="020B0502020104020203" pitchFamily="34" charset="-79"/>
              </a:defRPr>
            </a:lvl5pPr>
            <a:lvl6pPr>
              <a:defRPr sz="1800"/>
            </a:lvl6pPr>
            <a:lvl7pPr>
              <a:defRPr sz="1800"/>
            </a:lvl7pPr>
            <a:lvl8pPr>
              <a:defRPr sz="1800"/>
            </a:lvl8pPr>
            <a:lvl9pPr>
              <a:defRPr sz="1800"/>
            </a:lvl9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b="0" i="0">
                <a:latin typeface="Gill Sans" panose="020B0502020104020203" pitchFamily="34" charset="-79"/>
                <a:cs typeface="Gill Sans" panose="020B0502020104020203" pitchFamily="34" charset="-79"/>
              </a:defRPr>
            </a:lvl1pPr>
            <a:lvl2pPr>
              <a:defRPr sz="2400" b="0" i="0">
                <a:latin typeface="Gill Sans" panose="020B0502020104020203" pitchFamily="34" charset="-79"/>
                <a:cs typeface="Gill Sans" panose="020B0502020104020203" pitchFamily="34" charset="-79"/>
              </a:defRPr>
            </a:lvl2pPr>
            <a:lvl3pPr>
              <a:defRPr sz="2000" b="0" i="0">
                <a:latin typeface="Gill Sans" panose="020B0502020104020203" pitchFamily="34" charset="-79"/>
                <a:cs typeface="Gill Sans" panose="020B0502020104020203" pitchFamily="34" charset="-79"/>
              </a:defRPr>
            </a:lvl3pPr>
            <a:lvl4pPr>
              <a:defRPr sz="1800" b="0" i="0">
                <a:latin typeface="Gill Sans" panose="020B0502020104020203" pitchFamily="34" charset="-79"/>
                <a:cs typeface="Gill Sans" panose="020B0502020104020203" pitchFamily="34" charset="-79"/>
              </a:defRPr>
            </a:lvl4pPr>
            <a:lvl5pPr>
              <a:defRPr sz="1800" b="0" i="0">
                <a:latin typeface="Gill Sans" panose="020B0502020104020203" pitchFamily="34" charset="-79"/>
                <a:cs typeface="Gill Sans" panose="020B0502020104020203" pitchFamily="34" charset="-79"/>
              </a:defRPr>
            </a:lvl5pPr>
            <a:lvl6pPr>
              <a:defRPr sz="1800"/>
            </a:lvl6pPr>
            <a:lvl7pPr>
              <a:defRPr sz="1800"/>
            </a:lvl7pPr>
            <a:lvl8pPr>
              <a:defRPr sz="1800"/>
            </a:lvl8pPr>
            <a:lvl9pPr>
              <a:defRPr sz="1800"/>
            </a:lvl9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Rectangle 4">
            <a:extLst>
              <a:ext uri="{FF2B5EF4-FFF2-40B4-BE49-F238E27FC236}">
                <a16:creationId xmlns:a16="http://schemas.microsoft.com/office/drawing/2014/main" id="{C76E121B-1518-A740-96E1-652DE9CCAB18}"/>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6" name="Rectangle 5">
            <a:extLst>
              <a:ext uri="{FF2B5EF4-FFF2-40B4-BE49-F238E27FC236}">
                <a16:creationId xmlns:a16="http://schemas.microsoft.com/office/drawing/2014/main" id="{CD33314B-9772-EC4F-94B9-66A50585E903}"/>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7" name="Rectangle 6">
            <a:extLst>
              <a:ext uri="{FF2B5EF4-FFF2-40B4-BE49-F238E27FC236}">
                <a16:creationId xmlns:a16="http://schemas.microsoft.com/office/drawing/2014/main" id="{F29C2CFC-00A1-F141-9DB3-BAE7B81B4AC8}"/>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09AFCC6E-57DB-CA42-B88A-0CCE7B5C2A92}" type="slidenum">
              <a:rPr lang="en-US" altLang="it-IT" smtClean="0"/>
              <a:pPr>
                <a:defRPr/>
              </a:pPr>
              <a:t>‹#›</a:t>
            </a:fld>
            <a:endParaRPr lang="en-US" altLang="it-IT"/>
          </a:p>
        </p:txBody>
      </p:sp>
    </p:spTree>
    <p:extLst>
      <p:ext uri="{BB962C8B-B14F-4D97-AF65-F5344CB8AC3E}">
        <p14:creationId xmlns:p14="http://schemas.microsoft.com/office/powerpoint/2010/main" val="2350904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it-IT"/>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7" name="Rectangle 4">
            <a:extLst>
              <a:ext uri="{FF2B5EF4-FFF2-40B4-BE49-F238E27FC236}">
                <a16:creationId xmlns:a16="http://schemas.microsoft.com/office/drawing/2014/main" id="{9ADFDB9E-1463-0A45-8D0B-36B395DDCEC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6D0D8561-3F67-674B-855A-411C55807AB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41BD5B4-3B23-A540-8553-AAC7AC58AF77}"/>
              </a:ext>
            </a:extLst>
          </p:cNvPr>
          <p:cNvSpPr>
            <a:spLocks noGrp="1" noChangeArrowheads="1"/>
          </p:cNvSpPr>
          <p:nvPr>
            <p:ph type="sldNum" sz="quarter" idx="12"/>
          </p:nvPr>
        </p:nvSpPr>
        <p:spPr>
          <a:ln/>
        </p:spPr>
        <p:txBody>
          <a:bodyPr/>
          <a:lstStyle>
            <a:lvl1pPr>
              <a:defRPr/>
            </a:lvl1pPr>
          </a:lstStyle>
          <a:p>
            <a:pPr>
              <a:defRPr/>
            </a:pPr>
            <a:fld id="{D9D79E7B-5217-D14F-9080-7D380694CEBE}" type="slidenum">
              <a:rPr lang="en-US" altLang="it-IT"/>
              <a:pPr>
                <a:defRPr/>
              </a:pPr>
              <a:t>‹#›</a:t>
            </a:fld>
            <a:endParaRPr lang="en-US" altLang="it-IT"/>
          </a:p>
        </p:txBody>
      </p:sp>
    </p:spTree>
    <p:extLst>
      <p:ext uri="{BB962C8B-B14F-4D97-AF65-F5344CB8AC3E}">
        <p14:creationId xmlns:p14="http://schemas.microsoft.com/office/powerpoint/2010/main" val="3107885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panose="020B0502020104020203" pitchFamily="34" charset="-79"/>
                <a:cs typeface="Gill Sans" panose="020B0502020104020203" pitchFamily="34" charset="-79"/>
              </a:defRPr>
            </a:lvl1pPr>
          </a:lstStyle>
          <a:p>
            <a:r>
              <a:rPr lang="it-IT" dirty="0"/>
              <a:t>Click to </a:t>
            </a:r>
            <a:r>
              <a:rPr lang="it-IT" dirty="0" err="1"/>
              <a:t>edit</a:t>
            </a:r>
            <a:r>
              <a:rPr lang="it-IT" dirty="0"/>
              <a:t> Master </a:t>
            </a:r>
            <a:r>
              <a:rPr lang="it-IT" dirty="0" err="1"/>
              <a:t>title</a:t>
            </a:r>
            <a:r>
              <a:rPr lang="it-IT" dirty="0"/>
              <a:t> style</a:t>
            </a:r>
            <a:endParaRPr lang="en-US" dirty="0"/>
          </a:p>
        </p:txBody>
      </p:sp>
      <p:sp>
        <p:nvSpPr>
          <p:cNvPr id="3" name="Rectangle 4">
            <a:extLst>
              <a:ext uri="{FF2B5EF4-FFF2-40B4-BE49-F238E27FC236}">
                <a16:creationId xmlns:a16="http://schemas.microsoft.com/office/drawing/2014/main" id="{19B5868B-C2F1-6B49-AC90-26F07B90B09D}"/>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4" name="Rectangle 5">
            <a:extLst>
              <a:ext uri="{FF2B5EF4-FFF2-40B4-BE49-F238E27FC236}">
                <a16:creationId xmlns:a16="http://schemas.microsoft.com/office/drawing/2014/main" id="{82018D95-D57F-874A-B54E-587EA7CE3C95}"/>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5" name="Rectangle 6">
            <a:extLst>
              <a:ext uri="{FF2B5EF4-FFF2-40B4-BE49-F238E27FC236}">
                <a16:creationId xmlns:a16="http://schemas.microsoft.com/office/drawing/2014/main" id="{06CED9C9-41C5-2647-AF1A-AE7C56340102}"/>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9038D7D7-5087-1D4E-8C8A-CB2C58BAFB33}" type="slidenum">
              <a:rPr lang="en-US" altLang="it-IT" smtClean="0"/>
              <a:pPr>
                <a:defRPr/>
              </a:pPr>
              <a:t>‹#›</a:t>
            </a:fld>
            <a:endParaRPr lang="en-US" altLang="it-IT"/>
          </a:p>
        </p:txBody>
      </p:sp>
    </p:spTree>
    <p:extLst>
      <p:ext uri="{BB962C8B-B14F-4D97-AF65-F5344CB8AC3E}">
        <p14:creationId xmlns:p14="http://schemas.microsoft.com/office/powerpoint/2010/main" val="2851413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E5F02F7-D0E6-D24D-AB1B-B13E7843DAD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58341E0-5758-4941-8033-A830C006DC3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BED2EA7-59A1-D344-AC4D-9AAAA18BA261}"/>
              </a:ext>
            </a:extLst>
          </p:cNvPr>
          <p:cNvSpPr>
            <a:spLocks noGrp="1" noChangeArrowheads="1"/>
          </p:cNvSpPr>
          <p:nvPr>
            <p:ph type="sldNum" sz="quarter" idx="12"/>
          </p:nvPr>
        </p:nvSpPr>
        <p:spPr>
          <a:ln/>
        </p:spPr>
        <p:txBody>
          <a:bodyPr/>
          <a:lstStyle>
            <a:lvl1pPr>
              <a:defRPr/>
            </a:lvl1pPr>
          </a:lstStyle>
          <a:p>
            <a:pPr>
              <a:defRPr/>
            </a:pPr>
            <a:fld id="{8BED1BE2-5AC6-F34E-91F3-31A845CEB0FB}" type="slidenum">
              <a:rPr lang="en-US" altLang="it-IT"/>
              <a:pPr>
                <a:defRPr/>
              </a:pPr>
              <a:t>‹#›</a:t>
            </a:fld>
            <a:endParaRPr lang="en-US" altLang="it-IT"/>
          </a:p>
        </p:txBody>
      </p:sp>
    </p:spTree>
    <p:extLst>
      <p:ext uri="{BB962C8B-B14F-4D97-AF65-F5344CB8AC3E}">
        <p14:creationId xmlns:p14="http://schemas.microsoft.com/office/powerpoint/2010/main" val="228202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it-IT"/>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Click to edit Master text styles</a:t>
            </a:r>
          </a:p>
        </p:txBody>
      </p:sp>
      <p:sp>
        <p:nvSpPr>
          <p:cNvPr id="5" name="Rectangle 4">
            <a:extLst>
              <a:ext uri="{FF2B5EF4-FFF2-40B4-BE49-F238E27FC236}">
                <a16:creationId xmlns:a16="http://schemas.microsoft.com/office/drawing/2014/main" id="{3B64C5B9-25B4-4746-A623-0060D500AAB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4E63141-683B-3D4B-8100-4E3000F652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072D8D0-A7D1-0E47-BB90-EDCBE663FC5F}"/>
              </a:ext>
            </a:extLst>
          </p:cNvPr>
          <p:cNvSpPr>
            <a:spLocks noGrp="1" noChangeArrowheads="1"/>
          </p:cNvSpPr>
          <p:nvPr>
            <p:ph type="sldNum" sz="quarter" idx="12"/>
          </p:nvPr>
        </p:nvSpPr>
        <p:spPr>
          <a:ln/>
        </p:spPr>
        <p:txBody>
          <a:bodyPr/>
          <a:lstStyle>
            <a:lvl1pPr>
              <a:defRPr/>
            </a:lvl1pPr>
          </a:lstStyle>
          <a:p>
            <a:pPr>
              <a:defRPr/>
            </a:pPr>
            <a:fld id="{AA3781B5-7B95-0140-8EE9-980AB597BED9}" type="slidenum">
              <a:rPr lang="en-US" altLang="it-IT"/>
              <a:pPr>
                <a:defRPr/>
              </a:pPr>
              <a:t>‹#›</a:t>
            </a:fld>
            <a:endParaRPr lang="en-US" altLang="it-IT"/>
          </a:p>
        </p:txBody>
      </p:sp>
    </p:spTree>
    <p:extLst>
      <p:ext uri="{BB962C8B-B14F-4D97-AF65-F5344CB8AC3E}">
        <p14:creationId xmlns:p14="http://schemas.microsoft.com/office/powerpoint/2010/main" val="1859571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it-IT"/>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Click to edit Master text styles</a:t>
            </a:r>
          </a:p>
        </p:txBody>
      </p:sp>
      <p:sp>
        <p:nvSpPr>
          <p:cNvPr id="5" name="Rectangle 4">
            <a:extLst>
              <a:ext uri="{FF2B5EF4-FFF2-40B4-BE49-F238E27FC236}">
                <a16:creationId xmlns:a16="http://schemas.microsoft.com/office/drawing/2014/main" id="{B828A4BF-EEE2-A440-A278-F716003B78F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3BFD627-82FA-7344-8761-16744BCE8D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14114A2-8B5C-1543-BB95-15FA71CF71C8}"/>
              </a:ext>
            </a:extLst>
          </p:cNvPr>
          <p:cNvSpPr>
            <a:spLocks noGrp="1" noChangeArrowheads="1"/>
          </p:cNvSpPr>
          <p:nvPr>
            <p:ph type="sldNum" sz="quarter" idx="12"/>
          </p:nvPr>
        </p:nvSpPr>
        <p:spPr>
          <a:ln/>
        </p:spPr>
        <p:txBody>
          <a:bodyPr/>
          <a:lstStyle>
            <a:lvl1pPr>
              <a:defRPr/>
            </a:lvl1pPr>
          </a:lstStyle>
          <a:p>
            <a:pPr>
              <a:defRPr/>
            </a:pPr>
            <a:fld id="{538F3199-8A61-0D43-A1DB-0EDB52923C70}" type="slidenum">
              <a:rPr lang="en-US" altLang="it-IT"/>
              <a:pPr>
                <a:defRPr/>
              </a:pPr>
              <a:t>‹#›</a:t>
            </a:fld>
            <a:endParaRPr lang="en-US" altLang="it-IT"/>
          </a:p>
        </p:txBody>
      </p:sp>
    </p:spTree>
    <p:extLst>
      <p:ext uri="{BB962C8B-B14F-4D97-AF65-F5344CB8AC3E}">
        <p14:creationId xmlns:p14="http://schemas.microsoft.com/office/powerpoint/2010/main" val="3807830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panose="020B0502020104020203" pitchFamily="34" charset="-79"/>
                <a:cs typeface="Gill Sans" panose="020B0502020104020203" pitchFamily="34" charset="-79"/>
              </a:defRPr>
            </a:lvl1pPr>
          </a:lstStyle>
          <a:p>
            <a:r>
              <a:rPr lang="it-IT"/>
              <a:t>Click to edit Master title style</a:t>
            </a:r>
            <a:endParaRPr lang="en-US"/>
          </a:p>
        </p:txBody>
      </p:sp>
      <p:sp>
        <p:nvSpPr>
          <p:cNvPr id="3" name="Vertical Text Placeholder 2"/>
          <p:cNvSpPr>
            <a:spLocks noGrp="1"/>
          </p:cNvSpPr>
          <p:nvPr>
            <p:ph type="body" orient="vert" idx="1"/>
          </p:nvPr>
        </p:nvSpPr>
        <p:spPr>
          <a:xfrm rot="16200000">
            <a:off x="1933832" y="-685800"/>
            <a:ext cx="5276336" cy="8229600"/>
          </a:xfrm>
        </p:spPr>
        <p:txBody>
          <a:bodyPr vert="eaVert"/>
          <a:lstStyle>
            <a:lvl1pPr>
              <a:defRPr b="0" i="0">
                <a:latin typeface="Gill Sans" panose="020B0502020104020203" pitchFamily="34" charset="-79"/>
                <a:cs typeface="Gill Sans" panose="020B0502020104020203" pitchFamily="34" charset="-79"/>
              </a:defRPr>
            </a:lvl1pPr>
            <a:lvl2pPr>
              <a:defRPr b="0" i="0">
                <a:latin typeface="Gill Sans" panose="020B0502020104020203" pitchFamily="34" charset="-79"/>
                <a:cs typeface="Gill Sans" panose="020B0502020104020203" pitchFamily="34" charset="-79"/>
              </a:defRPr>
            </a:lvl2pPr>
            <a:lvl3pPr>
              <a:defRPr b="0" i="0">
                <a:latin typeface="Gill Sans" panose="020B0502020104020203" pitchFamily="34" charset="-79"/>
                <a:cs typeface="Gill Sans" panose="020B0502020104020203" pitchFamily="34" charset="-79"/>
              </a:defRPr>
            </a:lvl3pPr>
            <a:lvl4pPr>
              <a:defRPr b="0" i="0">
                <a:latin typeface="Gill Sans" panose="020B0502020104020203" pitchFamily="34" charset="-79"/>
                <a:cs typeface="Gill Sans" panose="020B0502020104020203" pitchFamily="34" charset="-79"/>
              </a:defRPr>
            </a:lvl4pPr>
            <a:lvl5pPr>
              <a:defRPr b="0" i="0">
                <a:latin typeface="Gill Sans" panose="020B0502020104020203" pitchFamily="34" charset="-79"/>
                <a:cs typeface="Gill Sans" panose="020B0502020104020203" pitchFamily="34" charset="-79"/>
              </a:defRPr>
            </a:lvl5p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Rectangle 4">
            <a:extLst>
              <a:ext uri="{FF2B5EF4-FFF2-40B4-BE49-F238E27FC236}">
                <a16:creationId xmlns:a16="http://schemas.microsoft.com/office/drawing/2014/main" id="{5EC573AD-1503-4B4A-B31F-59F7367A645F}"/>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5" name="Rectangle 5">
            <a:extLst>
              <a:ext uri="{FF2B5EF4-FFF2-40B4-BE49-F238E27FC236}">
                <a16:creationId xmlns:a16="http://schemas.microsoft.com/office/drawing/2014/main" id="{8FCB3551-E1C4-BB45-AAF2-A33A15F38875}"/>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6" name="Rectangle 6">
            <a:extLst>
              <a:ext uri="{FF2B5EF4-FFF2-40B4-BE49-F238E27FC236}">
                <a16:creationId xmlns:a16="http://schemas.microsoft.com/office/drawing/2014/main" id="{000A0E57-E966-DD44-9F9D-6A8B24CCAD3F}"/>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52F91795-C1C0-6E4F-9C66-EB2B21B0595F}" type="slidenum">
              <a:rPr lang="en-US" altLang="it-IT" smtClean="0"/>
              <a:pPr>
                <a:defRPr/>
              </a:pPr>
              <a:t>‹#›</a:t>
            </a:fld>
            <a:endParaRPr lang="en-US" altLang="it-IT"/>
          </a:p>
        </p:txBody>
      </p:sp>
    </p:spTree>
    <p:extLst>
      <p:ext uri="{BB962C8B-B14F-4D97-AF65-F5344CB8AC3E}">
        <p14:creationId xmlns:p14="http://schemas.microsoft.com/office/powerpoint/2010/main" val="2210059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it-IT"/>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Rectangle 4">
            <a:extLst>
              <a:ext uri="{FF2B5EF4-FFF2-40B4-BE49-F238E27FC236}">
                <a16:creationId xmlns:a16="http://schemas.microsoft.com/office/drawing/2014/main" id="{1E97278D-E40F-2A44-AC2D-DD7C959ADEF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C76F2E9-8C20-1E43-A490-7594E9C226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788AD73-6E66-6941-8B47-CAFF795E1749}"/>
              </a:ext>
            </a:extLst>
          </p:cNvPr>
          <p:cNvSpPr>
            <a:spLocks noGrp="1" noChangeArrowheads="1"/>
          </p:cNvSpPr>
          <p:nvPr>
            <p:ph type="sldNum" sz="quarter" idx="12"/>
          </p:nvPr>
        </p:nvSpPr>
        <p:spPr>
          <a:ln/>
        </p:spPr>
        <p:txBody>
          <a:bodyPr/>
          <a:lstStyle>
            <a:lvl1pPr>
              <a:defRPr/>
            </a:lvl1pPr>
          </a:lstStyle>
          <a:p>
            <a:pPr>
              <a:defRPr/>
            </a:pPr>
            <a:fld id="{C264B100-DE56-C84A-8502-B5294E1534FD}" type="slidenum">
              <a:rPr lang="en-US" altLang="it-IT"/>
              <a:pPr>
                <a:defRPr/>
              </a:pPr>
              <a:t>‹#›</a:t>
            </a:fld>
            <a:endParaRPr lang="en-US" altLang="it-IT"/>
          </a:p>
        </p:txBody>
      </p:sp>
    </p:spTree>
    <p:extLst>
      <p:ext uri="{BB962C8B-B14F-4D97-AF65-F5344CB8AC3E}">
        <p14:creationId xmlns:p14="http://schemas.microsoft.com/office/powerpoint/2010/main" val="3893460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it-IT"/>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Text Placeholder 3"/>
          <p:cNvSpPr>
            <a:spLocks noGrp="1"/>
          </p:cNvSpPr>
          <p:nvPr>
            <p:ph type="body" sz="half" idx="2"/>
          </p:nvPr>
        </p:nvSpPr>
        <p:spPr>
          <a:xfrm>
            <a:off x="4648200" y="1600200"/>
            <a:ext cx="4038600" cy="4525963"/>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Rectangle 4">
            <a:extLst>
              <a:ext uri="{FF2B5EF4-FFF2-40B4-BE49-F238E27FC236}">
                <a16:creationId xmlns:a16="http://schemas.microsoft.com/office/drawing/2014/main" id="{80AADE19-F1AB-9843-A289-F573CA1286F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DEE03F3-D8C4-1E41-B2DD-5C91C865183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8DBD6DC-BA27-E24A-BEFD-97EE16A6ACF7}"/>
              </a:ext>
            </a:extLst>
          </p:cNvPr>
          <p:cNvSpPr>
            <a:spLocks noGrp="1" noChangeArrowheads="1"/>
          </p:cNvSpPr>
          <p:nvPr>
            <p:ph type="sldNum" sz="quarter" idx="12"/>
          </p:nvPr>
        </p:nvSpPr>
        <p:spPr>
          <a:ln/>
        </p:spPr>
        <p:txBody>
          <a:bodyPr/>
          <a:lstStyle>
            <a:lvl1pPr>
              <a:defRPr/>
            </a:lvl1pPr>
          </a:lstStyle>
          <a:p>
            <a:pPr>
              <a:defRPr/>
            </a:pPr>
            <a:fld id="{0EA1BDAA-1FFD-924A-B82A-B36F4206B36A}" type="slidenum">
              <a:rPr lang="en-US" altLang="it-IT"/>
              <a:pPr>
                <a:defRPr/>
              </a:pPr>
              <a:t>‹#›</a:t>
            </a:fld>
            <a:endParaRPr lang="en-US" altLang="it-IT"/>
          </a:p>
        </p:txBody>
      </p:sp>
    </p:spTree>
    <p:extLst>
      <p:ext uri="{BB962C8B-B14F-4D97-AF65-F5344CB8AC3E}">
        <p14:creationId xmlns:p14="http://schemas.microsoft.com/office/powerpoint/2010/main" val="939459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it-IT"/>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6" name="Rectangle 4">
            <a:extLst>
              <a:ext uri="{FF2B5EF4-FFF2-40B4-BE49-F238E27FC236}">
                <a16:creationId xmlns:a16="http://schemas.microsoft.com/office/drawing/2014/main" id="{901AC98A-9884-F340-BCFD-C5267DC1C685}"/>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2B12A2D-0618-9F47-9263-E3BD00DC4A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3BE6EEFB-B8EC-FC47-9FC0-905145E57D1E}"/>
              </a:ext>
            </a:extLst>
          </p:cNvPr>
          <p:cNvSpPr>
            <a:spLocks noGrp="1" noChangeArrowheads="1"/>
          </p:cNvSpPr>
          <p:nvPr>
            <p:ph type="sldNum" sz="quarter" idx="12"/>
          </p:nvPr>
        </p:nvSpPr>
        <p:spPr>
          <a:ln/>
        </p:spPr>
        <p:txBody>
          <a:bodyPr/>
          <a:lstStyle>
            <a:lvl1pPr>
              <a:defRPr/>
            </a:lvl1pPr>
          </a:lstStyle>
          <a:p>
            <a:pPr>
              <a:defRPr/>
            </a:pPr>
            <a:fld id="{42E43C74-3E16-DC4B-A1C2-0B8DED6C2CFA}" type="slidenum">
              <a:rPr lang="en-US" altLang="it-IT"/>
              <a:pPr>
                <a:defRPr/>
              </a:pPr>
              <a:t>‹#›</a:t>
            </a:fld>
            <a:endParaRPr lang="en-US" altLang="it-IT"/>
          </a:p>
        </p:txBody>
      </p:sp>
    </p:spTree>
    <p:extLst>
      <p:ext uri="{BB962C8B-B14F-4D97-AF65-F5344CB8AC3E}">
        <p14:creationId xmlns:p14="http://schemas.microsoft.com/office/powerpoint/2010/main" val="3965758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411162"/>
          </a:xfrm>
        </p:spPr>
        <p:txBody>
          <a:bodyPr/>
          <a:lstStyle/>
          <a:p>
            <a:r>
              <a:rPr lang="it-IT"/>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7" name="Rectangle 4">
            <a:extLst>
              <a:ext uri="{FF2B5EF4-FFF2-40B4-BE49-F238E27FC236}">
                <a16:creationId xmlns:a16="http://schemas.microsoft.com/office/drawing/2014/main" id="{0195911F-4799-DB41-9D61-76129D24157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43E61D9-0CAA-A14F-9945-8763566B912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5B60BD3F-96DF-E84D-8930-294163BC35AF}"/>
              </a:ext>
            </a:extLst>
          </p:cNvPr>
          <p:cNvSpPr>
            <a:spLocks noGrp="1" noChangeArrowheads="1"/>
          </p:cNvSpPr>
          <p:nvPr>
            <p:ph type="sldNum" sz="quarter" idx="12"/>
          </p:nvPr>
        </p:nvSpPr>
        <p:spPr>
          <a:ln/>
        </p:spPr>
        <p:txBody>
          <a:bodyPr/>
          <a:lstStyle>
            <a:lvl1pPr>
              <a:defRPr/>
            </a:lvl1pPr>
          </a:lstStyle>
          <a:p>
            <a:pPr>
              <a:defRPr/>
            </a:pPr>
            <a:fld id="{9AD58FC4-3BCE-8F45-88C8-B24637495E19}" type="slidenum">
              <a:rPr lang="en-US" altLang="it-IT"/>
              <a:pPr>
                <a:defRPr/>
              </a:pPr>
              <a:t>‹#›</a:t>
            </a:fld>
            <a:endParaRPr lang="en-US" altLang="it-IT"/>
          </a:p>
        </p:txBody>
      </p:sp>
    </p:spTree>
    <p:extLst>
      <p:ext uri="{BB962C8B-B14F-4D97-AF65-F5344CB8AC3E}">
        <p14:creationId xmlns:p14="http://schemas.microsoft.com/office/powerpoint/2010/main" val="17751273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it-IT"/>
              <a:t>Click to edit Master title style</a:t>
            </a:r>
            <a:endParaRPr lang="en-US"/>
          </a:p>
        </p:txBody>
      </p:sp>
      <p:sp>
        <p:nvSpPr>
          <p:cNvPr id="3" name="Content Placeholder 2"/>
          <p:cNvSpPr>
            <a:spLocks noGrp="1"/>
          </p:cNvSpPr>
          <p:nvPr>
            <p:ph sz="half" idx="1"/>
          </p:nvPr>
        </p:nvSpPr>
        <p:spPr>
          <a:xfrm>
            <a:off x="457200" y="1600200"/>
            <a:ext cx="8229600" cy="2185988"/>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4" name="Text Placeholder 3"/>
          <p:cNvSpPr>
            <a:spLocks noGrp="1"/>
          </p:cNvSpPr>
          <p:nvPr>
            <p:ph type="body" sz="half" idx="2"/>
          </p:nvPr>
        </p:nvSpPr>
        <p:spPr>
          <a:xfrm>
            <a:off x="457200" y="3938588"/>
            <a:ext cx="8229600" cy="2187575"/>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5" name="Rectangle 4">
            <a:extLst>
              <a:ext uri="{FF2B5EF4-FFF2-40B4-BE49-F238E27FC236}">
                <a16:creationId xmlns:a16="http://schemas.microsoft.com/office/drawing/2014/main" id="{210BAABD-1DF8-C941-9D8C-CEA14B0B6C9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497FD05-9AA8-B34A-AA90-C243806F33E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ED729C5-B06F-1746-A805-50B5B65A972C}"/>
              </a:ext>
            </a:extLst>
          </p:cNvPr>
          <p:cNvSpPr>
            <a:spLocks noGrp="1" noChangeArrowheads="1"/>
          </p:cNvSpPr>
          <p:nvPr>
            <p:ph type="sldNum" sz="quarter" idx="12"/>
          </p:nvPr>
        </p:nvSpPr>
        <p:spPr>
          <a:ln/>
        </p:spPr>
        <p:txBody>
          <a:bodyPr/>
          <a:lstStyle>
            <a:lvl1pPr>
              <a:defRPr/>
            </a:lvl1pPr>
          </a:lstStyle>
          <a:p>
            <a:pPr>
              <a:defRPr/>
            </a:pPr>
            <a:fld id="{7EE4E8B1-C660-2340-81E5-3FD5585B6005}" type="slidenum">
              <a:rPr lang="en-US" altLang="it-IT"/>
              <a:pPr>
                <a:defRPr/>
              </a:pPr>
              <a:t>‹#›</a:t>
            </a:fld>
            <a:endParaRPr lang="en-US" altLang="it-IT"/>
          </a:p>
        </p:txBody>
      </p:sp>
    </p:spTree>
    <p:extLst>
      <p:ext uri="{BB962C8B-B14F-4D97-AF65-F5344CB8AC3E}">
        <p14:creationId xmlns:p14="http://schemas.microsoft.com/office/powerpoint/2010/main" val="216497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endParaRPr lang="en-US"/>
          </a:p>
        </p:txBody>
      </p:sp>
      <p:sp>
        <p:nvSpPr>
          <p:cNvPr id="3" name="Rectangle 4">
            <a:extLst>
              <a:ext uri="{FF2B5EF4-FFF2-40B4-BE49-F238E27FC236}">
                <a16:creationId xmlns:a16="http://schemas.microsoft.com/office/drawing/2014/main" id="{A527E37C-5B34-8D45-B074-38A97224544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CDAB308-CE7E-C34E-9C7F-5A560B6C36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B3F6B5D-BE21-144C-B1BA-60A47C949016}"/>
              </a:ext>
            </a:extLst>
          </p:cNvPr>
          <p:cNvSpPr>
            <a:spLocks noGrp="1" noChangeArrowheads="1"/>
          </p:cNvSpPr>
          <p:nvPr>
            <p:ph type="sldNum" sz="quarter" idx="12"/>
          </p:nvPr>
        </p:nvSpPr>
        <p:spPr>
          <a:ln/>
        </p:spPr>
        <p:txBody>
          <a:bodyPr/>
          <a:lstStyle>
            <a:lvl1pPr>
              <a:defRPr/>
            </a:lvl1pPr>
          </a:lstStyle>
          <a:p>
            <a:pPr>
              <a:defRPr/>
            </a:pPr>
            <a:fld id="{B91CFA4D-D072-894A-97FA-BDCD711B22DF}" type="slidenum">
              <a:rPr lang="en-US" altLang="it-IT"/>
              <a:pPr>
                <a:defRPr/>
              </a:pPr>
              <a:t>‹#›</a:t>
            </a:fld>
            <a:endParaRPr lang="en-US" altLang="it-IT"/>
          </a:p>
        </p:txBody>
      </p:sp>
    </p:spTree>
    <p:extLst>
      <p:ext uri="{BB962C8B-B14F-4D97-AF65-F5344CB8AC3E}">
        <p14:creationId xmlns:p14="http://schemas.microsoft.com/office/powerpoint/2010/main" val="4199619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lvl1pPr>
              <a:defRPr b="0" i="0">
                <a:latin typeface="Gill Sans" panose="020B0502020104020203" pitchFamily="34" charset="-79"/>
                <a:cs typeface="Gill Sans" panose="020B0502020104020203" pitchFamily="34" charset="-79"/>
              </a:defRPr>
            </a:lvl1pPr>
          </a:lstStyle>
          <a:p>
            <a:r>
              <a:rPr lang="it-IT"/>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lvl1pPr>
              <a:defRPr sz="2800" b="0" i="0">
                <a:latin typeface="Gill Sans" panose="020B0502020104020203" pitchFamily="34" charset="-79"/>
                <a:cs typeface="Gill Sans" panose="020B0502020104020203" pitchFamily="34" charset="-79"/>
              </a:defRPr>
            </a:lvl1pPr>
          </a:lstStyle>
          <a:p>
            <a:pPr lvl="0"/>
            <a:endParaRPr lang="en-US" noProof="0" dirty="0"/>
          </a:p>
        </p:txBody>
      </p:sp>
      <p:sp>
        <p:nvSpPr>
          <p:cNvPr id="4" name="Rectangle 4">
            <a:extLst>
              <a:ext uri="{FF2B5EF4-FFF2-40B4-BE49-F238E27FC236}">
                <a16:creationId xmlns:a16="http://schemas.microsoft.com/office/drawing/2014/main" id="{4A35947D-F315-E942-8795-98FF258C0A79}"/>
              </a:ext>
            </a:extLst>
          </p:cNvPr>
          <p:cNvSpPr>
            <a:spLocks noGrp="1" noChangeArrowheads="1"/>
          </p:cNvSpPr>
          <p:nvPr>
            <p:ph type="dt" sz="half" idx="10"/>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5" name="Rectangle 5">
            <a:extLst>
              <a:ext uri="{FF2B5EF4-FFF2-40B4-BE49-F238E27FC236}">
                <a16:creationId xmlns:a16="http://schemas.microsoft.com/office/drawing/2014/main" id="{F65C4973-D8F2-C049-B89B-F8225C2F56CA}"/>
              </a:ext>
            </a:extLst>
          </p:cNvPr>
          <p:cNvSpPr>
            <a:spLocks noGrp="1" noChangeArrowheads="1"/>
          </p:cNvSpPr>
          <p:nvPr>
            <p:ph type="ftr" sz="quarter" idx="11"/>
          </p:nvPr>
        </p:nvSpPr>
        <p:spPr>
          <a:ln/>
        </p:spPr>
        <p:txBody>
          <a:bodyPr/>
          <a:lstStyle>
            <a:lvl1pPr>
              <a:defRPr b="0" i="0">
                <a:latin typeface="Gill Sans" panose="020B0502020104020203" pitchFamily="34" charset="-79"/>
                <a:cs typeface="Gill Sans" panose="020B0502020104020203" pitchFamily="34" charset="-79"/>
              </a:defRPr>
            </a:lvl1pPr>
          </a:lstStyle>
          <a:p>
            <a:pPr>
              <a:defRPr/>
            </a:pPr>
            <a:endParaRPr lang="en-US"/>
          </a:p>
        </p:txBody>
      </p:sp>
      <p:sp>
        <p:nvSpPr>
          <p:cNvPr id="6" name="Rectangle 6">
            <a:extLst>
              <a:ext uri="{FF2B5EF4-FFF2-40B4-BE49-F238E27FC236}">
                <a16:creationId xmlns:a16="http://schemas.microsoft.com/office/drawing/2014/main" id="{EE3B6F6B-4874-1942-B9E7-F4EE5D2B4EC1}"/>
              </a:ext>
            </a:extLst>
          </p:cNvPr>
          <p:cNvSpPr>
            <a:spLocks noGrp="1" noChangeArrowheads="1"/>
          </p:cNvSpPr>
          <p:nvPr>
            <p:ph type="sldNum" sz="quarter" idx="12"/>
          </p:nvPr>
        </p:nvSpPr>
        <p:spPr>
          <a:ln/>
        </p:spPr>
        <p:txBody>
          <a:bodyPr/>
          <a:lstStyle>
            <a:lvl1pPr>
              <a:defRPr b="0" i="0">
                <a:latin typeface="Gill Sans" panose="020B0502020104020203" pitchFamily="34" charset="-79"/>
                <a:cs typeface="Gill Sans" panose="020B0502020104020203" pitchFamily="34" charset="-79"/>
              </a:defRPr>
            </a:lvl1pPr>
          </a:lstStyle>
          <a:p>
            <a:pPr>
              <a:defRPr/>
            </a:pPr>
            <a:fld id="{9759CD0D-3355-7645-BCB4-6FC4D41E4871}" type="slidenum">
              <a:rPr lang="en-US" altLang="it-IT" smtClean="0"/>
              <a:pPr>
                <a:defRPr/>
              </a:pPr>
              <a:t>‹#›</a:t>
            </a:fld>
            <a:endParaRPr lang="en-US" altLang="it-IT"/>
          </a:p>
        </p:txBody>
      </p:sp>
    </p:spTree>
    <p:extLst>
      <p:ext uri="{BB962C8B-B14F-4D97-AF65-F5344CB8AC3E}">
        <p14:creationId xmlns:p14="http://schemas.microsoft.com/office/powerpoint/2010/main" val="2531644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097DB01-1905-1447-B536-250847E8726F}"/>
              </a:ext>
            </a:extLst>
          </p:cNvPr>
          <p:cNvSpPr>
            <a:spLocks noGrp="1" noChangeArrowheads="1"/>
          </p:cNvSpPr>
          <p:nvPr>
            <p:ph type="title"/>
          </p:nvPr>
        </p:nvSpPr>
        <p:spPr bwMode="auto">
          <a:xfrm>
            <a:off x="432487" y="187622"/>
            <a:ext cx="8229600" cy="47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it-IT"/>
              <a:t>Click to edit Master title style</a:t>
            </a:r>
          </a:p>
        </p:txBody>
      </p:sp>
      <p:sp>
        <p:nvSpPr>
          <p:cNvPr id="1027" name="Rectangle 3">
            <a:extLst>
              <a:ext uri="{FF2B5EF4-FFF2-40B4-BE49-F238E27FC236}">
                <a16:creationId xmlns:a16="http://schemas.microsoft.com/office/drawing/2014/main" id="{155A47F9-AC77-994D-B918-F67A56B5181C}"/>
              </a:ext>
            </a:extLst>
          </p:cNvPr>
          <p:cNvSpPr>
            <a:spLocks noGrp="1" noChangeArrowheads="1"/>
          </p:cNvSpPr>
          <p:nvPr>
            <p:ph type="body" idx="1"/>
          </p:nvPr>
        </p:nvSpPr>
        <p:spPr bwMode="auto">
          <a:xfrm>
            <a:off x="432487" y="1075038"/>
            <a:ext cx="8229600" cy="502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it-IT" dirty="0"/>
              <a:t>Click to edit Master text styles</a:t>
            </a:r>
          </a:p>
          <a:p>
            <a:pPr lvl="1"/>
            <a:r>
              <a:rPr lang="en-US" altLang="it-IT" dirty="0"/>
              <a:t>Second level</a:t>
            </a:r>
          </a:p>
          <a:p>
            <a:pPr lvl="2"/>
            <a:r>
              <a:rPr lang="en-US" altLang="it-IT" dirty="0"/>
              <a:t>Third level</a:t>
            </a:r>
          </a:p>
          <a:p>
            <a:pPr lvl="3"/>
            <a:r>
              <a:rPr lang="en-US" altLang="it-IT" dirty="0"/>
              <a:t>Fourth level</a:t>
            </a:r>
          </a:p>
          <a:p>
            <a:pPr lvl="4"/>
            <a:r>
              <a:rPr lang="en-US" altLang="it-IT" dirty="0"/>
              <a:t>Fifth level</a:t>
            </a:r>
          </a:p>
        </p:txBody>
      </p:sp>
      <p:sp>
        <p:nvSpPr>
          <p:cNvPr id="1028" name="Rectangle 4">
            <a:extLst>
              <a:ext uri="{FF2B5EF4-FFF2-40B4-BE49-F238E27FC236}">
                <a16:creationId xmlns:a16="http://schemas.microsoft.com/office/drawing/2014/main" id="{2443659C-EA29-7B41-8322-681E7D09EC54}"/>
              </a:ext>
            </a:extLst>
          </p:cNvPr>
          <p:cNvSpPr>
            <a:spLocks noGrp="1" noChangeArrowheads="1"/>
          </p:cNvSpPr>
          <p:nvPr>
            <p:ph type="dt" sz="half" idx="2"/>
          </p:nvPr>
        </p:nvSpPr>
        <p:spPr bwMode="auto">
          <a:xfrm>
            <a:off x="432487" y="6376085"/>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i="0">
                <a:latin typeface="Gill Sans" panose="020B0502020104020203" pitchFamily="34" charset="-79"/>
                <a:ea typeface="+mn-ea"/>
                <a:cs typeface="Gill Sans" panose="020B0502020104020203" pitchFamily="34" charset="-79"/>
              </a:defRPr>
            </a:lvl1pPr>
          </a:lstStyle>
          <a:p>
            <a:pPr>
              <a:defRPr/>
            </a:pPr>
            <a:endParaRPr lang="en-US"/>
          </a:p>
        </p:txBody>
      </p:sp>
      <p:sp>
        <p:nvSpPr>
          <p:cNvPr id="1029" name="Rectangle 5">
            <a:extLst>
              <a:ext uri="{FF2B5EF4-FFF2-40B4-BE49-F238E27FC236}">
                <a16:creationId xmlns:a16="http://schemas.microsoft.com/office/drawing/2014/main" id="{758AA93A-6C2F-2F4C-AABE-45B219F30F44}"/>
              </a:ext>
            </a:extLst>
          </p:cNvPr>
          <p:cNvSpPr>
            <a:spLocks noGrp="1" noChangeArrowheads="1"/>
          </p:cNvSpPr>
          <p:nvPr>
            <p:ph type="ftr" sz="quarter" idx="3"/>
          </p:nvPr>
        </p:nvSpPr>
        <p:spPr bwMode="auto">
          <a:xfrm>
            <a:off x="3099487" y="6376085"/>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i="0">
                <a:latin typeface="Gill Sans" panose="020B0502020104020203" pitchFamily="34" charset="-79"/>
                <a:ea typeface="+mn-ea"/>
                <a:cs typeface="Gill Sans" panose="020B0502020104020203" pitchFamily="34" charset="-79"/>
              </a:defRPr>
            </a:lvl1pPr>
          </a:lstStyle>
          <a:p>
            <a:pPr>
              <a:defRPr/>
            </a:pPr>
            <a:endParaRPr lang="en-US"/>
          </a:p>
        </p:txBody>
      </p:sp>
      <p:sp>
        <p:nvSpPr>
          <p:cNvPr id="1030" name="Rectangle 6">
            <a:extLst>
              <a:ext uri="{FF2B5EF4-FFF2-40B4-BE49-F238E27FC236}">
                <a16:creationId xmlns:a16="http://schemas.microsoft.com/office/drawing/2014/main" id="{9C7241BE-5D15-7E46-B743-C7F93DC1D89C}"/>
              </a:ext>
            </a:extLst>
          </p:cNvPr>
          <p:cNvSpPr>
            <a:spLocks noGrp="1" noChangeArrowheads="1"/>
          </p:cNvSpPr>
          <p:nvPr>
            <p:ph type="sldNum" sz="quarter" idx="4"/>
          </p:nvPr>
        </p:nvSpPr>
        <p:spPr bwMode="auto">
          <a:xfrm>
            <a:off x="6528487" y="6376085"/>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i="0">
                <a:latin typeface="Gill Sans" panose="020B0502020104020203" pitchFamily="34" charset="-79"/>
                <a:cs typeface="Gill Sans" panose="020B0502020104020203" pitchFamily="34" charset="-79"/>
              </a:defRPr>
            </a:lvl1pPr>
          </a:lstStyle>
          <a:p>
            <a:pPr>
              <a:defRPr/>
            </a:pPr>
            <a:fld id="{522B076D-E03C-E645-BD5D-A0297AAEB66D}" type="slidenum">
              <a:rPr lang="en-US" altLang="it-IT" smtClean="0"/>
              <a:pPr>
                <a:defRPr/>
              </a:pPr>
              <a:t>‹#›</a:t>
            </a:fld>
            <a:endParaRPr lang="en-US" alt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rtl="0" eaLnBrk="0" fontAlgn="base" hangingPunct="0">
        <a:spcBef>
          <a:spcPct val="0"/>
        </a:spcBef>
        <a:spcAft>
          <a:spcPct val="0"/>
        </a:spcAft>
        <a:defRPr sz="2800" b="0" i="0">
          <a:solidFill>
            <a:srgbClr val="FF3300"/>
          </a:solidFill>
          <a:latin typeface="Gill Sans" panose="020B0502020104020203" pitchFamily="34" charset="-79"/>
          <a:ea typeface="ＭＳ Ｐゴシック" charset="-128"/>
          <a:cs typeface="Gill Sans" panose="020B0502020104020203" pitchFamily="34" charset="-79"/>
        </a:defRPr>
      </a:lvl1pPr>
      <a:lvl2pPr algn="ctr" rtl="0" eaLnBrk="0" fontAlgn="base" hangingPunct="0">
        <a:spcBef>
          <a:spcPct val="0"/>
        </a:spcBef>
        <a:spcAft>
          <a:spcPct val="0"/>
        </a:spcAft>
        <a:defRPr sz="2000" b="1">
          <a:solidFill>
            <a:srgbClr val="FF3300"/>
          </a:solidFill>
          <a:latin typeface="Tahoma" pitchFamily="1" charset="0"/>
          <a:ea typeface="ＭＳ Ｐゴシック" charset="-128"/>
          <a:cs typeface="ＭＳ Ｐゴシック" charset="-128"/>
        </a:defRPr>
      </a:lvl2pPr>
      <a:lvl3pPr algn="ctr" rtl="0" eaLnBrk="0" fontAlgn="base" hangingPunct="0">
        <a:spcBef>
          <a:spcPct val="0"/>
        </a:spcBef>
        <a:spcAft>
          <a:spcPct val="0"/>
        </a:spcAft>
        <a:defRPr sz="2000" b="1">
          <a:solidFill>
            <a:srgbClr val="FF3300"/>
          </a:solidFill>
          <a:latin typeface="Tahoma" pitchFamily="1" charset="0"/>
          <a:ea typeface="ＭＳ Ｐゴシック" charset="-128"/>
          <a:cs typeface="ＭＳ Ｐゴシック" charset="-128"/>
        </a:defRPr>
      </a:lvl3pPr>
      <a:lvl4pPr algn="ctr" rtl="0" eaLnBrk="0" fontAlgn="base" hangingPunct="0">
        <a:spcBef>
          <a:spcPct val="0"/>
        </a:spcBef>
        <a:spcAft>
          <a:spcPct val="0"/>
        </a:spcAft>
        <a:defRPr sz="2000" b="1">
          <a:solidFill>
            <a:srgbClr val="FF3300"/>
          </a:solidFill>
          <a:latin typeface="Tahoma" pitchFamily="1" charset="0"/>
          <a:ea typeface="ＭＳ Ｐゴシック" charset="-128"/>
          <a:cs typeface="ＭＳ Ｐゴシック" charset="-128"/>
        </a:defRPr>
      </a:lvl4pPr>
      <a:lvl5pPr algn="ctr" rtl="0" eaLnBrk="0" fontAlgn="base" hangingPunct="0">
        <a:spcBef>
          <a:spcPct val="0"/>
        </a:spcBef>
        <a:spcAft>
          <a:spcPct val="0"/>
        </a:spcAft>
        <a:defRPr sz="2000" b="1">
          <a:solidFill>
            <a:srgbClr val="FF3300"/>
          </a:solidFill>
          <a:latin typeface="Tahoma" pitchFamily="1" charset="0"/>
          <a:ea typeface="ＭＳ Ｐゴシック" charset="-128"/>
          <a:cs typeface="ＭＳ Ｐゴシック" charset="-128"/>
        </a:defRPr>
      </a:lvl5pPr>
      <a:lvl6pPr marL="457200" algn="ctr" rtl="0" fontAlgn="base">
        <a:spcBef>
          <a:spcPct val="0"/>
        </a:spcBef>
        <a:spcAft>
          <a:spcPct val="0"/>
        </a:spcAft>
        <a:defRPr sz="2000" b="1">
          <a:solidFill>
            <a:srgbClr val="FF3300"/>
          </a:solidFill>
          <a:latin typeface="Tahoma" pitchFamily="1" charset="0"/>
        </a:defRPr>
      </a:lvl6pPr>
      <a:lvl7pPr marL="914400" algn="ctr" rtl="0" fontAlgn="base">
        <a:spcBef>
          <a:spcPct val="0"/>
        </a:spcBef>
        <a:spcAft>
          <a:spcPct val="0"/>
        </a:spcAft>
        <a:defRPr sz="2000" b="1">
          <a:solidFill>
            <a:srgbClr val="FF3300"/>
          </a:solidFill>
          <a:latin typeface="Tahoma" pitchFamily="1" charset="0"/>
        </a:defRPr>
      </a:lvl7pPr>
      <a:lvl8pPr marL="1371600" algn="ctr" rtl="0" fontAlgn="base">
        <a:spcBef>
          <a:spcPct val="0"/>
        </a:spcBef>
        <a:spcAft>
          <a:spcPct val="0"/>
        </a:spcAft>
        <a:defRPr sz="2000" b="1">
          <a:solidFill>
            <a:srgbClr val="FF3300"/>
          </a:solidFill>
          <a:latin typeface="Tahoma" pitchFamily="1" charset="0"/>
        </a:defRPr>
      </a:lvl8pPr>
      <a:lvl9pPr marL="1828800" algn="ctr" rtl="0" fontAlgn="base">
        <a:spcBef>
          <a:spcPct val="0"/>
        </a:spcBef>
        <a:spcAft>
          <a:spcPct val="0"/>
        </a:spcAft>
        <a:defRPr sz="2000" b="1">
          <a:solidFill>
            <a:srgbClr val="FF3300"/>
          </a:solidFill>
          <a:latin typeface="Tahoma" pitchFamily="1" charset="0"/>
        </a:defRPr>
      </a:lvl9pPr>
    </p:titleStyle>
    <p:bodyStyle>
      <a:lvl1pPr marL="342900" indent="-342900" algn="l" rtl="0" eaLnBrk="0" fontAlgn="base" hangingPunct="0">
        <a:spcBef>
          <a:spcPct val="20000"/>
        </a:spcBef>
        <a:spcAft>
          <a:spcPct val="0"/>
        </a:spcAft>
        <a:buChar char="•"/>
        <a:defRPr sz="2600" b="0" i="0">
          <a:solidFill>
            <a:schemeClr val="tx1"/>
          </a:solidFill>
          <a:latin typeface="Gill Sans" panose="020B0502020104020203" pitchFamily="34" charset="-79"/>
          <a:ea typeface="ＭＳ Ｐゴシック" charset="-128"/>
          <a:cs typeface="Gill Sans" panose="020B0502020104020203" pitchFamily="34" charset="-79"/>
        </a:defRPr>
      </a:lvl1pPr>
      <a:lvl2pPr marL="742950" indent="-285750" algn="l" rtl="0" eaLnBrk="0" fontAlgn="base" hangingPunct="0">
        <a:spcBef>
          <a:spcPct val="20000"/>
        </a:spcBef>
        <a:spcAft>
          <a:spcPct val="0"/>
        </a:spcAft>
        <a:buChar char="–"/>
        <a:defRPr sz="2400" b="0" i="0">
          <a:solidFill>
            <a:schemeClr val="tx1"/>
          </a:solidFill>
          <a:latin typeface="Gill Sans" panose="020B0502020104020203" pitchFamily="34" charset="-79"/>
          <a:ea typeface="ＭＳ Ｐゴシック" pitchFamily="1" charset="-128"/>
          <a:cs typeface="Gill Sans" panose="020B0502020104020203" pitchFamily="34" charset="-79"/>
        </a:defRPr>
      </a:lvl2pPr>
      <a:lvl3pPr marL="1143000" indent="-228600" algn="l" rtl="0" eaLnBrk="0" fontAlgn="base" hangingPunct="0">
        <a:spcBef>
          <a:spcPct val="20000"/>
        </a:spcBef>
        <a:spcAft>
          <a:spcPct val="0"/>
        </a:spcAft>
        <a:buChar char="•"/>
        <a:defRPr sz="2000" b="0" i="0">
          <a:solidFill>
            <a:schemeClr val="tx1"/>
          </a:solidFill>
          <a:latin typeface="Gill Sans" panose="020B0502020104020203" pitchFamily="34" charset="-79"/>
          <a:ea typeface="ＭＳ Ｐゴシック" pitchFamily="1" charset="-128"/>
          <a:cs typeface="Gill Sans" panose="020B0502020104020203" pitchFamily="34" charset="-79"/>
        </a:defRPr>
      </a:lvl3pPr>
      <a:lvl4pPr marL="1600200" indent="-228600" algn="l" rtl="0" eaLnBrk="0" fontAlgn="base" hangingPunct="0">
        <a:spcBef>
          <a:spcPct val="20000"/>
        </a:spcBef>
        <a:spcAft>
          <a:spcPct val="0"/>
        </a:spcAft>
        <a:buChar char="–"/>
        <a:defRPr sz="1800" b="0" i="0">
          <a:solidFill>
            <a:schemeClr val="tx1"/>
          </a:solidFill>
          <a:latin typeface="Gill Sans" panose="020B0502020104020203" pitchFamily="34" charset="-79"/>
          <a:ea typeface="ＭＳ Ｐゴシック" pitchFamily="1" charset="-128"/>
          <a:cs typeface="Gill Sans" panose="020B0502020104020203" pitchFamily="34" charset="-79"/>
        </a:defRPr>
      </a:lvl4pPr>
      <a:lvl5pPr marL="2057400" indent="-228600" algn="l" rtl="0" eaLnBrk="0" fontAlgn="base" hangingPunct="0">
        <a:spcBef>
          <a:spcPct val="20000"/>
        </a:spcBef>
        <a:spcAft>
          <a:spcPct val="0"/>
        </a:spcAft>
        <a:buChar char="»"/>
        <a:defRPr sz="1600" b="0" i="0">
          <a:solidFill>
            <a:schemeClr val="tx1"/>
          </a:solidFill>
          <a:latin typeface="Gill Sans" panose="020B0502020104020203" pitchFamily="34" charset="-79"/>
          <a:ea typeface="ＭＳ Ｐゴシック" pitchFamily="1" charset="-128"/>
          <a:cs typeface="Gill Sans" panose="020B0502020104020203" pitchFamily="34" charset="-79"/>
        </a:defRPr>
      </a:lvl5pPr>
      <a:lvl6pPr marL="2514600" indent="-228600" algn="l" rtl="0" fontAlgn="base">
        <a:spcBef>
          <a:spcPct val="20000"/>
        </a:spcBef>
        <a:spcAft>
          <a:spcPct val="0"/>
        </a:spcAft>
        <a:buChar char="»"/>
        <a:defRPr sz="2000">
          <a:solidFill>
            <a:schemeClr val="tx1"/>
          </a:solidFill>
          <a:latin typeface="+mn-lt"/>
          <a:ea typeface="ＭＳ Ｐゴシック" pitchFamily="1"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 charset="-128"/>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emf"/><Relationship Id="rId7" Type="http://schemas.openxmlformats.org/officeDocument/2006/relationships/image" Target="../media/image28.e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27.emf"/><Relationship Id="rId4"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35.png"/><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emf"/><Relationship Id="rId4" Type="http://schemas.openxmlformats.org/officeDocument/2006/relationships/oleObject" Target="../embeddings/oleObject10.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36.emf"/><Relationship Id="rId7" Type="http://schemas.openxmlformats.org/officeDocument/2006/relationships/image" Target="../media/image38.e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37.emf"/><Relationship Id="rId4" Type="http://schemas.openxmlformats.org/officeDocument/2006/relationships/oleObject" Target="../embeddings/oleObject12.bin"/><Relationship Id="rId9" Type="http://schemas.openxmlformats.org/officeDocument/2006/relationships/image" Target="../media/image39.emf"/></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emf"/><Relationship Id="rId7" Type="http://schemas.openxmlformats.org/officeDocument/2006/relationships/image" Target="../media/image42.e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41.emf"/><Relationship Id="rId4"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image" Target="../media/image47.emf"/><Relationship Id="rId7" Type="http://schemas.openxmlformats.org/officeDocument/2006/relationships/image" Target="../media/image49.e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51.png"/><Relationship Id="rId5" Type="http://schemas.openxmlformats.org/officeDocument/2006/relationships/image" Target="../media/image48.emf"/><Relationship Id="rId10" Type="http://schemas.openxmlformats.org/officeDocument/2006/relationships/image" Target="../media/image76.png"/><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7.emf"/><Relationship Id="rId7" Type="http://schemas.openxmlformats.org/officeDocument/2006/relationships/image" Target="../media/image60.png"/><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emf"/><Relationship Id="rId4" Type="http://schemas.openxmlformats.org/officeDocument/2006/relationships/oleObject" Target="../embeddings/oleObject22.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60.png"/><Relationship Id="rId7" Type="http://schemas.openxmlformats.org/officeDocument/2006/relationships/image" Target="../media/image62.emf"/><Relationship Id="rId12" Type="http://schemas.openxmlformats.org/officeDocument/2006/relationships/image" Target="../media/image270.png"/><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64.emf"/><Relationship Id="rId5" Type="http://schemas.openxmlformats.org/officeDocument/2006/relationships/image" Target="../media/image61.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63.emf"/></Relationships>
</file>

<file path=ppt/slides/_rels/slide3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58.emf"/><Relationship Id="rId3" Type="http://schemas.openxmlformats.org/officeDocument/2006/relationships/image" Target="../media/image68.emf"/><Relationship Id="rId7" Type="http://schemas.openxmlformats.org/officeDocument/2006/relationships/image" Target="../media/image70.emf"/><Relationship Id="rId12" Type="http://schemas.openxmlformats.org/officeDocument/2006/relationships/oleObject" Target="../embeddings/oleObject22.bin"/><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9.bin"/><Relationship Id="rId11" Type="http://schemas.openxmlformats.org/officeDocument/2006/relationships/image" Target="../media/image72.emf"/><Relationship Id="rId5" Type="http://schemas.openxmlformats.org/officeDocument/2006/relationships/image" Target="../media/image69.e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71.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emf"/></Relationships>
</file>

<file path=ppt/slides/_rels/slide43.xml.rels><?xml version="1.0" encoding="UTF-8" standalone="yes"?>
<Relationships xmlns="http://schemas.openxmlformats.org/package/2006/relationships"><Relationship Id="rId3" Type="http://schemas.openxmlformats.org/officeDocument/2006/relationships/image" Target="../media/image84.emf"/><Relationship Id="rId7" Type="http://schemas.openxmlformats.org/officeDocument/2006/relationships/image" Target="../media/image88.emf"/><Relationship Id="rId2" Type="http://schemas.openxmlformats.org/officeDocument/2006/relationships/image" Target="../media/image83.emf"/><Relationship Id="rId1" Type="http://schemas.openxmlformats.org/officeDocument/2006/relationships/slideLayout" Target="../slideLayouts/slideLayout2.xml"/><Relationship Id="rId6" Type="http://schemas.openxmlformats.org/officeDocument/2006/relationships/image" Target="../media/image87.emf"/><Relationship Id="rId5" Type="http://schemas.openxmlformats.org/officeDocument/2006/relationships/image" Target="../media/image86.emf"/><Relationship Id="rId4" Type="http://schemas.openxmlformats.org/officeDocument/2006/relationships/image" Target="../media/image85.emf"/></Relationships>
</file>

<file path=ppt/slides/_rels/slide44.xml.rels><?xml version="1.0" encoding="UTF-8" standalone="yes"?>
<Relationships xmlns="http://schemas.openxmlformats.org/package/2006/relationships"><Relationship Id="rId3" Type="http://schemas.openxmlformats.org/officeDocument/2006/relationships/image" Target="../media/image90.tiff"/><Relationship Id="rId2" Type="http://schemas.openxmlformats.org/officeDocument/2006/relationships/image" Target="../media/image89.emf"/><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DC8C389E-DEF6-6848-B8CA-B72BBF61CDF7}"/>
              </a:ext>
            </a:extLst>
          </p:cNvPr>
          <p:cNvSpPr txBox="1"/>
          <p:nvPr/>
        </p:nvSpPr>
        <p:spPr>
          <a:xfrm>
            <a:off x="3217334" y="3093156"/>
            <a:ext cx="3076483" cy="400110"/>
          </a:xfrm>
          <a:prstGeom prst="rect">
            <a:avLst/>
          </a:prstGeom>
          <a:noFill/>
        </p:spPr>
        <p:txBody>
          <a:bodyPr wrap="none" rtlCol="0">
            <a:spAutoFit/>
          </a:bodyPr>
          <a:lstStyle/>
          <a:p>
            <a:r>
              <a:rPr lang="it-IT" dirty="0"/>
              <a:t>Stellar </a:t>
            </a:r>
            <a:r>
              <a:rPr lang="it-IT" dirty="0" err="1"/>
              <a:t>Nucleosynthesis</a:t>
            </a:r>
            <a:endParaRPr lang="it-IT" dirty="0"/>
          </a:p>
        </p:txBody>
      </p:sp>
    </p:spTree>
    <p:extLst>
      <p:ext uri="{BB962C8B-B14F-4D97-AF65-F5344CB8AC3E}">
        <p14:creationId xmlns:p14="http://schemas.microsoft.com/office/powerpoint/2010/main" val="4291450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76ABDF75-F13B-B837-F888-786FF0D0B3BA}"/>
              </a:ext>
            </a:extLst>
          </p:cNvPr>
          <p:cNvSpPr>
            <a:spLocks noGrp="1"/>
          </p:cNvSpPr>
          <p:nvPr>
            <p:ph type="title"/>
          </p:nvPr>
        </p:nvSpPr>
        <p:spPr/>
        <p:txBody>
          <a:bodyPr/>
          <a:lstStyle/>
          <a:p>
            <a:r>
              <a:rPr lang="en-GB" dirty="0"/>
              <a:t>Required Energy</a:t>
            </a:r>
          </a:p>
        </p:txBody>
      </p:sp>
      <mc:AlternateContent xmlns:mc="http://schemas.openxmlformats.org/markup-compatibility/2006" xmlns:a14="http://schemas.microsoft.com/office/drawing/2010/main">
        <mc:Choice Requires="a14">
          <p:sp>
            <p:nvSpPr>
              <p:cNvPr id="5" name="Segnaposto contenuto 4">
                <a:extLst>
                  <a:ext uri="{FF2B5EF4-FFF2-40B4-BE49-F238E27FC236}">
                    <a16:creationId xmlns:a16="http://schemas.microsoft.com/office/drawing/2014/main" id="{D7B739C1-5C1B-A3E6-89F8-73D2B3886D21}"/>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𝐿</m:t>
                          </m:r>
                        </m:e>
                        <m:sub>
                          <m:r>
                            <a:rPr lang="it-IT" b="0" i="1" smtClean="0">
                              <a:latin typeface="Cambria Math" panose="02040503050406030204" pitchFamily="18" charset="0"/>
                            </a:rPr>
                            <m:t>⊙</m:t>
                          </m:r>
                        </m:sub>
                      </m:sSub>
                      <m:r>
                        <a:rPr lang="it-IT" b="0" i="1" smtClean="0">
                          <a:latin typeface="Cambria Math" panose="02040503050406030204" pitchFamily="18" charset="0"/>
                        </a:rPr>
                        <m:t>∼4⋅</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26</m:t>
                          </m:r>
                        </m:sup>
                      </m:sSup>
                      <m:r>
                        <a:rPr lang="it-IT" b="0" i="1" smtClean="0">
                          <a:latin typeface="Cambria Math" panose="02040503050406030204" pitchFamily="18" charset="0"/>
                        </a:rPr>
                        <m:t>𝑊</m:t>
                      </m:r>
                      <m:r>
                        <a:rPr lang="it-IT" b="0" i="1" smtClean="0">
                          <a:latin typeface="Cambria Math" panose="02040503050406030204" pitchFamily="18" charset="0"/>
                        </a:rPr>
                        <m:t> ;</m:t>
                      </m:r>
                    </m:oMath>
                  </m:oMathPara>
                </a14:m>
                <a:endParaRPr lang="it-IT"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𝑀</m:t>
                          </m:r>
                        </m:e>
                        <m:sub>
                          <m:r>
                            <a:rPr lang="it-IT" b="0" i="1" smtClean="0">
                              <a:latin typeface="Cambria Math" panose="02040503050406030204" pitchFamily="18" charset="0"/>
                            </a:rPr>
                            <m:t>⊙</m:t>
                          </m:r>
                        </m:sub>
                      </m:sSub>
                      <m:r>
                        <a:rPr lang="it-IT" b="0" i="1" smtClean="0">
                          <a:latin typeface="Cambria Math" panose="02040503050406030204" pitchFamily="18" charset="0"/>
                        </a:rPr>
                        <m:t>∼2⋅</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30</m:t>
                          </m:r>
                        </m:sup>
                      </m:sSup>
                      <m:r>
                        <a:rPr lang="it-IT" b="0" i="1" smtClean="0">
                          <a:latin typeface="Cambria Math" panose="02040503050406030204" pitchFamily="18" charset="0"/>
                        </a:rPr>
                        <m:t>𝑘𝑔</m:t>
                      </m:r>
                      <m:r>
                        <a:rPr lang="it-IT" b="0" i="1" smtClean="0">
                          <a:latin typeface="Cambria Math" panose="02040503050406030204" pitchFamily="18" charset="0"/>
                        </a:rPr>
                        <m:t>;</m:t>
                      </m:r>
                    </m:oMath>
                  </m:oMathPara>
                </a14:m>
                <a:endParaRPr lang="it-IT"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𝑡</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5⋅10</m:t>
                          </m:r>
                        </m:e>
                        <m:sup>
                          <m:r>
                            <a:rPr lang="it-IT" b="0" i="1" smtClean="0">
                              <a:latin typeface="Cambria Math" panose="02040503050406030204" pitchFamily="18" charset="0"/>
                            </a:rPr>
                            <m:t>9</m:t>
                          </m:r>
                        </m:sup>
                      </m:sSup>
                      <m:r>
                        <a:rPr lang="it-IT" b="0" i="1" smtClean="0">
                          <a:latin typeface="Cambria Math" panose="02040503050406030204" pitchFamily="18" charset="0"/>
                        </a:rPr>
                        <m:t> </m:t>
                      </m:r>
                      <m:r>
                        <a:rPr lang="it-IT" b="0" i="1" smtClean="0">
                          <a:latin typeface="Cambria Math" panose="02040503050406030204" pitchFamily="18" charset="0"/>
                        </a:rPr>
                        <m:t>𝑦𝑟</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17</m:t>
                          </m:r>
                        </m:sup>
                      </m:sSup>
                      <m:r>
                        <a:rPr lang="it-IT" b="0" i="1" smtClean="0">
                          <a:latin typeface="Cambria Math" panose="02040503050406030204" pitchFamily="18" charset="0"/>
                        </a:rPr>
                        <m:t>𝑠</m:t>
                      </m:r>
                    </m:oMath>
                  </m:oMathPara>
                </a14:m>
                <a:endParaRPr lang="it-IT" b="0" dirty="0"/>
              </a:p>
              <a:p>
                <a:pPr marL="0" indent="0">
                  <a:buNone/>
                </a:pPr>
                <a:r>
                  <a:rPr lang="it-IT" dirty="0" err="1"/>
                  <a:t>Then</a:t>
                </a:r>
                <a:endParaRPr lang="it-IT" b="0" dirty="0"/>
              </a:p>
              <a:p>
                <a:pPr marL="0" indent="0">
                  <a:buNone/>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𝐸</m:t>
                          </m:r>
                        </m:e>
                        <m:sub>
                          <m:r>
                            <a:rPr lang="it-IT" b="0" i="1" smtClean="0">
                              <a:latin typeface="Cambria Math" panose="02040503050406030204" pitchFamily="18" charset="0"/>
                            </a:rPr>
                            <m:t>⊙</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𝐿</m:t>
                          </m:r>
                        </m:e>
                        <m:sub>
                          <m:r>
                            <a:rPr lang="it-IT" b="0" i="1" smtClean="0">
                              <a:latin typeface="Cambria Math" panose="02040503050406030204" pitchFamily="18" charset="0"/>
                            </a:rPr>
                            <m:t>⊙</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43</m:t>
                          </m:r>
                        </m:sup>
                      </m:sSup>
                      <m:r>
                        <a:rPr lang="it-IT" b="0" i="1" smtClean="0">
                          <a:latin typeface="Cambria Math" panose="02040503050406030204" pitchFamily="18" charset="0"/>
                        </a:rPr>
                        <m:t> </m:t>
                      </m:r>
                      <m:r>
                        <a:rPr lang="it-IT" b="0" i="1" smtClean="0">
                          <a:latin typeface="Cambria Math" panose="02040503050406030204" pitchFamily="18" charset="0"/>
                        </a:rPr>
                        <m:t>𝐽</m:t>
                      </m:r>
                    </m:oMath>
                  </m:oMathPara>
                </a14:m>
                <a:endParaRPr lang="it-IT" b="0" dirty="0"/>
              </a:p>
              <a:p>
                <a:pPr marL="0" indent="0">
                  <a:buNone/>
                </a:pPr>
                <a:endParaRPr lang="it-IT" dirty="0"/>
              </a:p>
              <a:p>
                <a:pPr marL="0" indent="0">
                  <a:buNone/>
                </a:pPr>
                <a:r>
                  <a:rPr lang="it-IT" b="0" dirty="0" err="1"/>
                  <a:t>This</a:t>
                </a:r>
                <a:r>
                  <a:rPr lang="it-IT" b="0" dirty="0"/>
                  <a:t> </a:t>
                </a:r>
                <a:r>
                  <a:rPr lang="it-IT" b="0" dirty="0" err="1"/>
                  <a:t>means</a:t>
                </a:r>
                <a:r>
                  <a:rPr lang="it-IT" b="0" dirty="0"/>
                  <a:t> </a:t>
                </a:r>
                <a:r>
                  <a:rPr lang="it-IT" b="0" dirty="0" err="1"/>
                  <a:t>that</a:t>
                </a:r>
                <a:r>
                  <a:rPr lang="it-IT" b="0" dirty="0"/>
                  <a:t> the </a:t>
                </a:r>
                <a:r>
                  <a:rPr lang="it-IT" dirty="0"/>
                  <a:t>Sun must produce </a:t>
                </a:r>
                <a:r>
                  <a:rPr lang="it-IT" dirty="0" err="1"/>
                  <a:t>at</a:t>
                </a:r>
                <a:r>
                  <a:rPr lang="it-IT" dirty="0"/>
                  <a:t> </a:t>
                </a:r>
                <a:r>
                  <a:rPr lang="it-IT" dirty="0" err="1"/>
                  <a:t>least</a:t>
                </a:r>
                <a:r>
                  <a:rPr lang="it-IT" dirty="0"/>
                  <a:t>:</a:t>
                </a:r>
              </a:p>
              <a:p>
                <a:pPr marL="0" indent="0">
                  <a:buNone/>
                </a:pPr>
                <a:endParaRPr lang="it-IT" dirty="0"/>
              </a:p>
              <a:p>
                <a:pPr marL="0" indent="0">
                  <a:buNone/>
                </a:pPr>
                <a14:m>
                  <m:oMathPara xmlns:m="http://schemas.openxmlformats.org/officeDocument/2006/math">
                    <m:oMathParaPr>
                      <m:jc m:val="centerGroup"/>
                    </m:oMathParaPr>
                    <m:oMath xmlns:m="http://schemas.openxmlformats.org/officeDocument/2006/math">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𝐸</m:t>
                              </m:r>
                            </m:e>
                            <m:sub>
                              <m:r>
                                <a:rPr lang="it-IT" b="0" i="1" smtClean="0">
                                  <a:latin typeface="Cambria Math" panose="02040503050406030204" pitchFamily="18" charset="0"/>
                                </a:rPr>
                                <m:t>⊙</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𝑀</m:t>
                              </m:r>
                            </m:e>
                            <m:sub>
                              <m:r>
                                <a:rPr lang="it-IT" b="0" i="1" smtClean="0">
                                  <a:latin typeface="Cambria Math" panose="02040503050406030204" pitchFamily="18" charset="0"/>
                                </a:rPr>
                                <m:t>⊙</m:t>
                              </m:r>
                            </m:sub>
                          </m:sSub>
                        </m:den>
                      </m:f>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13</m:t>
                          </m:r>
                        </m:sup>
                      </m:sSup>
                      <m:f>
                        <m:fPr>
                          <m:ctrlPr>
                            <a:rPr lang="it-IT" b="0" i="1" smtClean="0">
                              <a:latin typeface="Cambria Math" panose="02040503050406030204" pitchFamily="18" charset="0"/>
                            </a:rPr>
                          </m:ctrlPr>
                        </m:fPr>
                        <m:num>
                          <m:r>
                            <a:rPr lang="it-IT" b="0" i="1" smtClean="0">
                              <a:latin typeface="Cambria Math" panose="02040503050406030204" pitchFamily="18" charset="0"/>
                            </a:rPr>
                            <m:t>𝐽</m:t>
                          </m:r>
                        </m:num>
                        <m:den>
                          <m:r>
                            <a:rPr lang="it-IT" b="0" i="1" smtClean="0">
                              <a:latin typeface="Cambria Math" panose="02040503050406030204" pitchFamily="18" charset="0"/>
                            </a:rPr>
                            <m:t>𝑘𝑔</m:t>
                          </m:r>
                        </m:den>
                      </m:f>
                    </m:oMath>
                  </m:oMathPara>
                </a14:m>
                <a:endParaRPr lang="it-IT" b="0" dirty="0"/>
              </a:p>
              <a:p>
                <a:pPr marL="0" indent="0">
                  <a:buNone/>
                </a:pPr>
                <a:endParaRPr lang="en-GB" dirty="0"/>
              </a:p>
            </p:txBody>
          </p:sp>
        </mc:Choice>
        <mc:Fallback xmlns="">
          <p:sp>
            <p:nvSpPr>
              <p:cNvPr id="5" name="Segnaposto contenuto 4">
                <a:extLst>
                  <a:ext uri="{FF2B5EF4-FFF2-40B4-BE49-F238E27FC236}">
                    <a16:creationId xmlns:a16="http://schemas.microsoft.com/office/drawing/2014/main" id="{D7B739C1-5C1B-A3E6-89F8-73D2B3886D21}"/>
                  </a:ext>
                </a:extLst>
              </p:cNvPr>
              <p:cNvSpPr>
                <a:spLocks noGrp="1" noRot="1" noChangeAspect="1" noMove="1" noResize="1" noEditPoints="1" noAdjustHandles="1" noChangeArrowheads="1" noChangeShapeType="1" noTextEdit="1"/>
              </p:cNvSpPr>
              <p:nvPr>
                <p:ph idx="1"/>
              </p:nvPr>
            </p:nvSpPr>
            <p:spPr>
              <a:blipFill>
                <a:blip r:embed="rId2"/>
                <a:stretch>
                  <a:fillRect l="-1387"/>
                </a:stretch>
              </a:blipFill>
            </p:spPr>
            <p:txBody>
              <a:bodyPr/>
              <a:lstStyle/>
              <a:p>
                <a:r>
                  <a:rPr lang="en-GB">
                    <a:noFill/>
                  </a:rPr>
                  <a:t> </a:t>
                </a:r>
              </a:p>
            </p:txBody>
          </p:sp>
        </mc:Fallback>
      </mc:AlternateContent>
    </p:spTree>
    <p:extLst>
      <p:ext uri="{BB962C8B-B14F-4D97-AF65-F5344CB8AC3E}">
        <p14:creationId xmlns:p14="http://schemas.microsoft.com/office/powerpoint/2010/main" val="70124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30FE0AC9-EB02-EA4F-A562-8DADA68BF30E}"/>
              </a:ext>
            </a:extLst>
          </p:cNvPr>
          <p:cNvSpPr>
            <a:spLocks noGrp="1" noChangeArrowheads="1"/>
          </p:cNvSpPr>
          <p:nvPr>
            <p:ph type="title"/>
          </p:nvPr>
        </p:nvSpPr>
        <p:spPr/>
        <p:txBody>
          <a:bodyPr/>
          <a:lstStyle/>
          <a:p>
            <a:pPr eaLnBrk="1" hangingPunct="1"/>
            <a:r>
              <a:rPr lang="en-US" altLang="it-IT" sz="1800" dirty="0" err="1">
                <a:ea typeface="ＭＳ Ｐゴシック" panose="020B0600070205080204" pitchFamily="34" charset="-128"/>
              </a:rPr>
              <a:t>Produzione</a:t>
            </a:r>
            <a:r>
              <a:rPr lang="en-US" altLang="it-IT" sz="1800" dirty="0">
                <a:ea typeface="ＭＳ Ｐゴシック" panose="020B0600070205080204" pitchFamily="34" charset="-128"/>
              </a:rPr>
              <a:t> di </a:t>
            </a:r>
            <a:r>
              <a:rPr lang="en-US" altLang="it-IT" sz="1800" dirty="0" err="1">
                <a:ea typeface="ＭＳ Ｐゴシック" panose="020B0600070205080204" pitchFamily="34" charset="-128"/>
              </a:rPr>
              <a:t>energia</a:t>
            </a:r>
            <a:endParaRPr lang="en-US" altLang="it-IT" sz="1800" dirty="0">
              <a:ea typeface="ＭＳ Ｐゴシック" panose="020B0600070205080204" pitchFamily="34" charset="-128"/>
            </a:endParaRPr>
          </a:p>
        </p:txBody>
      </p:sp>
      <p:sp>
        <p:nvSpPr>
          <p:cNvPr id="70658" name="Rectangle 3">
            <a:extLst>
              <a:ext uri="{FF2B5EF4-FFF2-40B4-BE49-F238E27FC236}">
                <a16:creationId xmlns:a16="http://schemas.microsoft.com/office/drawing/2014/main" id="{36109788-AA27-0045-B01E-8AF169AC635E}"/>
              </a:ext>
            </a:extLst>
          </p:cNvPr>
          <p:cNvSpPr>
            <a:spLocks noChangeArrowheads="1"/>
          </p:cNvSpPr>
          <p:nvPr/>
        </p:nvSpPr>
        <p:spPr bwMode="auto">
          <a:xfrm>
            <a:off x="358775" y="717550"/>
            <a:ext cx="7775575"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400" b="0" dirty="0">
                <a:latin typeface="Times New Roman" panose="02020603050405020304" pitchFamily="18" charset="0"/>
                <a:cs typeface="Arial" panose="020B0604020202020204" pitchFamily="34" charset="0"/>
              </a:rPr>
              <a:t>I </a:t>
            </a:r>
            <a:r>
              <a:rPr lang="en-US" altLang="it-IT" sz="2400" b="0" dirty="0" err="1">
                <a:latin typeface="Times New Roman" panose="02020603050405020304" pitchFamily="18" charset="0"/>
                <a:cs typeface="Arial" panose="020B0604020202020204" pitchFamily="34" charset="0"/>
              </a:rPr>
              <a:t>possibili</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meccanismi</a:t>
            </a:r>
            <a:r>
              <a:rPr lang="en-US" altLang="it-IT" sz="2400" b="0" dirty="0">
                <a:latin typeface="Times New Roman" panose="02020603050405020304" pitchFamily="18" charset="0"/>
                <a:cs typeface="Arial" panose="020B0604020202020204" pitchFamily="34" charset="0"/>
              </a:rPr>
              <a:t> di </a:t>
            </a:r>
            <a:r>
              <a:rPr lang="en-US" altLang="it-IT" sz="2400" b="0" dirty="0" err="1">
                <a:latin typeface="Times New Roman" panose="02020603050405020304" pitchFamily="18" charset="0"/>
                <a:cs typeface="Arial" panose="020B0604020202020204" pitchFamily="34" charset="0"/>
              </a:rPr>
              <a:t>produzione</a:t>
            </a:r>
            <a:r>
              <a:rPr lang="en-US" altLang="it-IT" sz="2400" b="0" dirty="0">
                <a:latin typeface="Times New Roman" panose="02020603050405020304" pitchFamily="18" charset="0"/>
                <a:cs typeface="Arial" panose="020B0604020202020204" pitchFamily="34" charset="0"/>
              </a:rPr>
              <a:t> di </a:t>
            </a:r>
            <a:r>
              <a:rPr lang="en-US" altLang="it-IT" sz="2400" b="0" dirty="0" err="1">
                <a:latin typeface="Times New Roman" panose="02020603050405020304" pitchFamily="18" charset="0"/>
                <a:cs typeface="Arial" panose="020B0604020202020204" pitchFamily="34" charset="0"/>
              </a:rPr>
              <a:t>energia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nelle</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stelle</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sono</a:t>
            </a:r>
            <a:r>
              <a:rPr lang="en-US" altLang="it-IT" sz="2400" b="0" dirty="0">
                <a:latin typeface="Times New Roman" panose="02020603050405020304" pitchFamily="18" charset="0"/>
                <a:cs typeface="Arial" panose="020B0604020202020204" pitchFamily="34" charset="0"/>
              </a:rPr>
              <a:t>:</a:t>
            </a:r>
          </a:p>
          <a:p>
            <a:pPr lvl="1" eaLnBrk="1" hangingPunct="1">
              <a:spcBef>
                <a:spcPct val="0"/>
              </a:spcBef>
              <a:buFontTx/>
              <a:buChar char="•"/>
            </a:pPr>
            <a:r>
              <a:rPr lang="en-US" altLang="it-IT" sz="2400" b="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Energia</a:t>
            </a:r>
            <a:r>
              <a:rPr lang="en-US" altLang="it-IT" sz="240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Potenziale</a:t>
            </a:r>
            <a:r>
              <a:rPr lang="en-US" altLang="it-IT" sz="240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gravitazionale</a:t>
            </a:r>
            <a:r>
              <a:rPr lang="en-US" altLang="it-IT" sz="2400" dirty="0">
                <a:latin typeface="Times New Roman" panose="02020603050405020304" pitchFamily="18" charset="0"/>
                <a:cs typeface="Arial" panose="020B0604020202020204" pitchFamily="34" charset="0"/>
              </a:rPr>
              <a:t>  </a:t>
            </a:r>
            <a:r>
              <a:rPr lang="en-US" altLang="it-IT" sz="2400" b="0" dirty="0">
                <a:latin typeface="Times New Roman" panose="02020603050405020304" pitchFamily="18" charset="0"/>
                <a:cs typeface="Arial" panose="020B0604020202020204" pitchFamily="34" charset="0"/>
              </a:rPr>
              <a:t>(</a:t>
            </a:r>
            <a:r>
              <a:rPr lang="en-US" altLang="it-IT" sz="2400" b="0" dirty="0" err="1">
                <a:latin typeface="Times New Roman" panose="02020603050405020304" pitchFamily="18" charset="0"/>
                <a:cs typeface="Arial" panose="020B0604020202020204" pitchFamily="34" charset="0"/>
              </a:rPr>
              <a:t>energia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prodotta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nella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contrazione</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della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stella</a:t>
            </a:r>
            <a:r>
              <a:rPr lang="en-US" altLang="it-IT" sz="2400" b="0" dirty="0">
                <a:latin typeface="Times New Roman" panose="02020603050405020304" pitchFamily="18" charset="0"/>
                <a:cs typeface="Arial" panose="020B0604020202020204" pitchFamily="34" charset="0"/>
              </a:rPr>
              <a:t>)</a:t>
            </a:r>
          </a:p>
          <a:p>
            <a:pPr lvl="1" eaLnBrk="1" hangingPunct="1">
              <a:spcBef>
                <a:spcPct val="0"/>
              </a:spcBef>
              <a:buFontTx/>
              <a:buChar char="•"/>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Char char="•"/>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Char char="•"/>
            </a:pPr>
            <a:r>
              <a:rPr lang="en-US" altLang="it-IT" sz="2400" b="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Energia</a:t>
            </a:r>
            <a:r>
              <a:rPr lang="en-US" altLang="it-IT" sz="240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Chimica</a:t>
            </a:r>
            <a:r>
              <a:rPr lang="en-US" altLang="it-IT" sz="2400" dirty="0">
                <a:latin typeface="Times New Roman" panose="02020603050405020304" pitchFamily="18" charset="0"/>
                <a:cs typeface="Arial" panose="020B0604020202020204" pitchFamily="34" charset="0"/>
              </a:rPr>
              <a:t> </a:t>
            </a:r>
            <a:r>
              <a:rPr lang="en-US" altLang="it-IT" sz="2400" b="0" dirty="0">
                <a:latin typeface="Times New Roman" panose="02020603050405020304" pitchFamily="18" charset="0"/>
                <a:cs typeface="Arial" panose="020B0604020202020204" pitchFamily="34" charset="0"/>
              </a:rPr>
              <a:t>(</a:t>
            </a:r>
            <a:r>
              <a:rPr lang="en-US" altLang="it-IT" sz="2400" b="0" dirty="0" err="1">
                <a:latin typeface="Times New Roman" panose="02020603050405020304" pitchFamily="18" charset="0"/>
                <a:cs typeface="Arial" panose="020B0604020202020204" pitchFamily="34" charset="0"/>
              </a:rPr>
              <a:t>energia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rilasciata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quando</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gli</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atomi</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si</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combinano</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insieme</a:t>
            </a:r>
            <a:r>
              <a:rPr lang="en-US" altLang="it-IT" sz="2400" b="0" dirty="0">
                <a:latin typeface="Times New Roman" panose="02020603050405020304" pitchFamily="18" charset="0"/>
                <a:cs typeface="Arial" panose="020B0604020202020204" pitchFamily="34" charset="0"/>
              </a:rPr>
              <a:t> un </a:t>
            </a:r>
            <a:r>
              <a:rPr lang="en-US" altLang="it-IT" sz="2400" b="0" dirty="0" err="1">
                <a:latin typeface="Times New Roman" panose="02020603050405020304" pitchFamily="18" charset="0"/>
                <a:cs typeface="Arial" panose="020B0604020202020204" pitchFamily="34" charset="0"/>
              </a:rPr>
              <a:t>valore</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tipico</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è</a:t>
            </a:r>
            <a:r>
              <a:rPr lang="en-US" altLang="it-IT" sz="2400" b="0" dirty="0">
                <a:latin typeface="Times New Roman" panose="02020603050405020304" pitchFamily="18" charset="0"/>
                <a:cs typeface="Arial" panose="020B0604020202020204" pitchFamily="34" charset="0"/>
              </a:rPr>
              <a:t> 10 eV)</a:t>
            </a:r>
          </a:p>
          <a:p>
            <a:pPr lvl="1" eaLnBrk="1" hangingPunct="1">
              <a:spcBef>
                <a:spcPct val="0"/>
              </a:spcBef>
              <a:buFontTx/>
              <a:buChar char="•"/>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Char char="•"/>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None/>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Char char="•"/>
            </a:pPr>
            <a:endParaRPr lang="en-US" altLang="it-IT" sz="2400" b="0" dirty="0">
              <a:latin typeface="Times New Roman" panose="02020603050405020304" pitchFamily="18" charset="0"/>
              <a:cs typeface="Arial" panose="020B0604020202020204" pitchFamily="34" charset="0"/>
            </a:endParaRPr>
          </a:p>
          <a:p>
            <a:pPr lvl="1" eaLnBrk="1" hangingPunct="1">
              <a:spcBef>
                <a:spcPct val="0"/>
              </a:spcBef>
              <a:buFontTx/>
              <a:buChar char="•"/>
            </a:pPr>
            <a:r>
              <a:rPr lang="en-US" altLang="it-IT" sz="2400" dirty="0" err="1">
                <a:latin typeface="Times New Roman" panose="02020603050405020304" pitchFamily="18" charset="0"/>
                <a:cs typeface="Arial" panose="020B0604020202020204" pitchFamily="34" charset="0"/>
              </a:rPr>
              <a:t>Energia</a:t>
            </a:r>
            <a:r>
              <a:rPr lang="en-US" altLang="it-IT" sz="2400" dirty="0">
                <a:latin typeface="Times New Roman" panose="02020603050405020304" pitchFamily="18" charset="0"/>
                <a:cs typeface="Arial" panose="020B0604020202020204" pitchFamily="34" charset="0"/>
              </a:rPr>
              <a:t> </a:t>
            </a:r>
            <a:r>
              <a:rPr lang="en-US" altLang="it-IT" sz="2400" dirty="0" err="1">
                <a:latin typeface="Times New Roman" panose="02020603050405020304" pitchFamily="18" charset="0"/>
                <a:cs typeface="Arial" panose="020B0604020202020204" pitchFamily="34" charset="0"/>
              </a:rPr>
              <a:t>Nucleare</a:t>
            </a:r>
            <a:r>
              <a:rPr lang="en-US" altLang="it-IT" sz="2400" dirty="0">
                <a:latin typeface="Times New Roman" panose="02020603050405020304" pitchFamily="18" charset="0"/>
                <a:cs typeface="Arial" panose="020B0604020202020204" pitchFamily="34" charset="0"/>
              </a:rPr>
              <a:t> </a:t>
            </a:r>
            <a:r>
              <a:rPr lang="en-US" altLang="it-IT" sz="2400" b="0" dirty="0">
                <a:latin typeface="Times New Roman" panose="02020603050405020304" pitchFamily="18" charset="0"/>
                <a:cs typeface="Arial" panose="020B0604020202020204" pitchFamily="34" charset="0"/>
              </a:rPr>
              <a:t>(</a:t>
            </a:r>
            <a:r>
              <a:rPr lang="en-US" altLang="it-IT" sz="2400" b="0" dirty="0" err="1">
                <a:latin typeface="Times New Roman" panose="02020603050405020304" pitchFamily="18" charset="0"/>
                <a:cs typeface="Arial" panose="020B0604020202020204" pitchFamily="34" charset="0"/>
              </a:rPr>
              <a:t>Energia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rilasciata</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quando</a:t>
            </a:r>
            <a:r>
              <a:rPr lang="en-US" altLang="it-IT" sz="2400" b="0" dirty="0">
                <a:latin typeface="Times New Roman" panose="02020603050405020304" pitchFamily="18" charset="0"/>
                <a:cs typeface="Arial" panose="020B0604020202020204" pitchFamily="34" charset="0"/>
              </a:rPr>
              <a:t> </a:t>
            </a:r>
            <a:r>
              <a:rPr lang="en-US" altLang="it-IT" sz="2400" b="0" dirty="0" err="1">
                <a:latin typeface="Times New Roman" panose="02020603050405020304" pitchFamily="18" charset="0"/>
                <a:cs typeface="Arial" panose="020B0604020202020204" pitchFamily="34" charset="0"/>
              </a:rPr>
              <a:t>si</a:t>
            </a:r>
            <a:r>
              <a:rPr lang="en-US" altLang="it-IT" sz="2400" b="0" dirty="0">
                <a:latin typeface="Times New Roman" panose="02020603050405020304" pitchFamily="18" charset="0"/>
                <a:cs typeface="Arial" panose="020B0604020202020204" pitchFamily="34" charset="0"/>
              </a:rPr>
              <a:t> forma un </a:t>
            </a:r>
            <a:r>
              <a:rPr lang="en-US" altLang="it-IT" sz="2400" b="0" dirty="0" err="1">
                <a:latin typeface="Times New Roman" panose="02020603050405020304" pitchFamily="18" charset="0"/>
                <a:cs typeface="Arial" panose="020B0604020202020204" pitchFamily="34" charset="0"/>
              </a:rPr>
              <a:t>atomo</a:t>
            </a:r>
            <a:r>
              <a:rPr lang="en-US" altLang="it-IT" sz="2400" b="0" dirty="0">
                <a:latin typeface="Times New Roman" panose="02020603050405020304" pitchFamily="18" charset="0"/>
                <a:cs typeface="Arial" panose="020B0604020202020204" pitchFamily="34" charset="0"/>
              </a:rPr>
              <a:t>)</a:t>
            </a:r>
          </a:p>
          <a:p>
            <a:pPr eaLnBrk="1" hangingPunct="1">
              <a:spcBef>
                <a:spcPct val="50000"/>
              </a:spcBef>
            </a:pPr>
            <a:endParaRPr lang="en-US" altLang="it-IT" sz="2400" b="0" dirty="0">
              <a:cs typeface="Arial" panose="020B0604020202020204" pitchFamily="34" charset="0"/>
            </a:endParaRPr>
          </a:p>
        </p:txBody>
      </p:sp>
      <p:graphicFrame>
        <p:nvGraphicFramePr>
          <p:cNvPr id="70659" name="Object 2">
            <a:extLst>
              <a:ext uri="{FF2B5EF4-FFF2-40B4-BE49-F238E27FC236}">
                <a16:creationId xmlns:a16="http://schemas.microsoft.com/office/drawing/2014/main" id="{F2A9E98E-9036-B642-A200-93892AC951B5}"/>
              </a:ext>
            </a:extLst>
          </p:cNvPr>
          <p:cNvGraphicFramePr>
            <a:graphicFrameLocks noChangeAspect="1"/>
          </p:cNvGraphicFramePr>
          <p:nvPr/>
        </p:nvGraphicFramePr>
        <p:xfrm>
          <a:off x="3613150" y="2160588"/>
          <a:ext cx="1851025" cy="908050"/>
        </p:xfrm>
        <a:graphic>
          <a:graphicData uri="http://schemas.openxmlformats.org/presentationml/2006/ole">
            <mc:AlternateContent xmlns:mc="http://schemas.openxmlformats.org/markup-compatibility/2006">
              <mc:Choice xmlns:v="urn:schemas-microsoft-com:vml" Requires="v">
                <p:oleObj name="Equation" r:id="rId2" imgW="800100" imgH="393700" progId="Equation.3">
                  <p:embed/>
                </p:oleObj>
              </mc:Choice>
              <mc:Fallback>
                <p:oleObj name="Equation" r:id="rId2" imgW="800100" imgH="393700" progId="Equation.3">
                  <p:embed/>
                  <p:pic>
                    <p:nvPicPr>
                      <p:cNvPr id="70659" name="Object 2">
                        <a:extLst>
                          <a:ext uri="{FF2B5EF4-FFF2-40B4-BE49-F238E27FC236}">
                            <a16:creationId xmlns:a16="http://schemas.microsoft.com/office/drawing/2014/main" id="{F2A9E98E-9036-B642-A200-93892AC95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3150" y="2160588"/>
                        <a:ext cx="185102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0660" name="Object 3">
            <a:extLst>
              <a:ext uri="{FF2B5EF4-FFF2-40B4-BE49-F238E27FC236}">
                <a16:creationId xmlns:a16="http://schemas.microsoft.com/office/drawing/2014/main" id="{22848B6E-292B-6C4D-8835-2F82C3E277D9}"/>
              </a:ext>
            </a:extLst>
          </p:cNvPr>
          <p:cNvGraphicFramePr>
            <a:graphicFrameLocks noChangeAspect="1"/>
          </p:cNvGraphicFramePr>
          <p:nvPr/>
        </p:nvGraphicFramePr>
        <p:xfrm>
          <a:off x="2243138" y="3713163"/>
          <a:ext cx="4433887" cy="912812"/>
        </p:xfrm>
        <a:graphic>
          <a:graphicData uri="http://schemas.openxmlformats.org/presentationml/2006/ole">
            <mc:AlternateContent xmlns:mc="http://schemas.openxmlformats.org/markup-compatibility/2006">
              <mc:Choice xmlns:v="urn:schemas-microsoft-com:vml" Requires="v">
                <p:oleObj name="Equation" r:id="rId4" imgW="2209800" imgH="457200" progId="Equation.3">
                  <p:embed/>
                </p:oleObj>
              </mc:Choice>
              <mc:Fallback>
                <p:oleObj name="Equation" r:id="rId4" imgW="2209800" imgH="457200" progId="Equation.3">
                  <p:embed/>
                  <p:pic>
                    <p:nvPicPr>
                      <p:cNvPr id="70660" name="Object 3">
                        <a:extLst>
                          <a:ext uri="{FF2B5EF4-FFF2-40B4-BE49-F238E27FC236}">
                            <a16:creationId xmlns:a16="http://schemas.microsoft.com/office/drawing/2014/main" id="{22848B6E-292B-6C4D-8835-2F82C3E277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3138" y="3713163"/>
                        <a:ext cx="4433887"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0661" name="Object 4">
            <a:extLst>
              <a:ext uri="{FF2B5EF4-FFF2-40B4-BE49-F238E27FC236}">
                <a16:creationId xmlns:a16="http://schemas.microsoft.com/office/drawing/2014/main" id="{7914AE03-8BCE-9B47-B8B6-D86CC0D88550}"/>
              </a:ext>
            </a:extLst>
          </p:cNvPr>
          <p:cNvGraphicFramePr>
            <a:graphicFrameLocks noChangeAspect="1"/>
          </p:cNvGraphicFramePr>
          <p:nvPr/>
        </p:nvGraphicFramePr>
        <p:xfrm>
          <a:off x="3344863" y="4665663"/>
          <a:ext cx="2192337" cy="406400"/>
        </p:xfrm>
        <a:graphic>
          <a:graphicData uri="http://schemas.openxmlformats.org/presentationml/2006/ole">
            <mc:AlternateContent xmlns:mc="http://schemas.openxmlformats.org/markup-compatibility/2006">
              <mc:Choice xmlns:v="urn:schemas-microsoft-com:vml" Requires="v">
                <p:oleObj name="Equation" r:id="rId6" imgW="1092200" imgH="203200" progId="Equation.3">
                  <p:embed/>
                </p:oleObj>
              </mc:Choice>
              <mc:Fallback>
                <p:oleObj name="Equation" r:id="rId6" imgW="1092200" imgH="203200" progId="Equation.3">
                  <p:embed/>
                  <p:pic>
                    <p:nvPicPr>
                      <p:cNvPr id="70661" name="Object 4">
                        <a:extLst>
                          <a:ext uri="{FF2B5EF4-FFF2-40B4-BE49-F238E27FC236}">
                            <a16:creationId xmlns:a16="http://schemas.microsoft.com/office/drawing/2014/main" id="{7914AE03-8BCE-9B47-B8B6-D86CC0D88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4863" y="4665663"/>
                        <a:ext cx="219233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0662" name="Object 5">
            <a:extLst>
              <a:ext uri="{FF2B5EF4-FFF2-40B4-BE49-F238E27FC236}">
                <a16:creationId xmlns:a16="http://schemas.microsoft.com/office/drawing/2014/main" id="{9C9D6AB5-7725-704E-BE95-6984B5460897}"/>
              </a:ext>
            </a:extLst>
          </p:cNvPr>
          <p:cNvGraphicFramePr>
            <a:graphicFrameLocks noChangeAspect="1"/>
          </p:cNvGraphicFramePr>
          <p:nvPr/>
        </p:nvGraphicFramePr>
        <p:xfrm>
          <a:off x="4054475" y="5921375"/>
          <a:ext cx="1193800" cy="442913"/>
        </p:xfrm>
        <a:graphic>
          <a:graphicData uri="http://schemas.openxmlformats.org/presentationml/2006/ole">
            <mc:AlternateContent xmlns:mc="http://schemas.openxmlformats.org/markup-compatibility/2006">
              <mc:Choice xmlns:v="urn:schemas-microsoft-com:vml" Requires="v">
                <p:oleObj name="Equation" r:id="rId8" imgW="546100" imgH="203200" progId="Equation.3">
                  <p:embed/>
                </p:oleObj>
              </mc:Choice>
              <mc:Fallback>
                <p:oleObj name="Equation" r:id="rId8" imgW="546100" imgH="203200" progId="Equation.3">
                  <p:embed/>
                  <p:pic>
                    <p:nvPicPr>
                      <p:cNvPr id="70662" name="Object 5">
                        <a:extLst>
                          <a:ext uri="{FF2B5EF4-FFF2-40B4-BE49-F238E27FC236}">
                            <a16:creationId xmlns:a16="http://schemas.microsoft.com/office/drawing/2014/main" id="{9C9D6AB5-7725-704E-BE95-6984B54608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4475" y="5921375"/>
                        <a:ext cx="1193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5119DB82-FB97-A544-854D-6D231C6F8691}"/>
              </a:ext>
            </a:extLst>
          </p:cNvPr>
          <p:cNvSpPr>
            <a:spLocks noChangeArrowheads="1"/>
          </p:cNvSpPr>
          <p:nvPr/>
        </p:nvSpPr>
        <p:spPr bwMode="auto">
          <a:xfrm>
            <a:off x="177800" y="952500"/>
            <a:ext cx="8763000" cy="487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har char="•"/>
              <a:tabLst>
                <a:tab pos="1371600" algn="l"/>
                <a:tab pos="4348163" algn="ct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371600" algn="l"/>
                <a:tab pos="4348163" algn="ct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371600" algn="l"/>
                <a:tab pos="4348163" algn="ct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371600" algn="l"/>
                <a:tab pos="4348163" algn="ctr"/>
              </a:tabLst>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lnSpc>
                <a:spcPct val="80000"/>
              </a:lnSpc>
              <a:spcBef>
                <a:spcPct val="0"/>
              </a:spcBef>
              <a:buFontTx/>
              <a:buNone/>
            </a:pPr>
            <a:r>
              <a:rPr lang="en-GB" altLang="it-IT" sz="2000" b="0" u="sng" dirty="0">
                <a:cs typeface="Arial" panose="020B0604020202020204" pitchFamily="34" charset="0"/>
              </a:rPr>
              <a:t>Nuclear Energy Sources</a:t>
            </a:r>
            <a:endParaRPr lang="en-US" altLang="it-IT" sz="2000" b="0" dirty="0">
              <a:cs typeface="Arial" panose="020B0604020202020204" pitchFamily="34" charset="0"/>
            </a:endParaRPr>
          </a:p>
          <a:p>
            <a:pPr eaLnBrk="1" hangingPunct="1">
              <a:spcBef>
                <a:spcPct val="0"/>
              </a:spcBef>
              <a:buFontTx/>
              <a:buNone/>
            </a:pPr>
            <a:endParaRPr lang="en-US" altLang="it-IT" sz="2000" b="0" dirty="0">
              <a:cs typeface="Arial" panose="020B0604020202020204" pitchFamily="34" charset="0"/>
            </a:endParaRPr>
          </a:p>
          <a:p>
            <a:pPr algn="just" eaLnBrk="1" hangingPunct="1">
              <a:spcBef>
                <a:spcPct val="0"/>
              </a:spcBef>
              <a:buFontTx/>
              <a:buNone/>
            </a:pPr>
            <a:r>
              <a:rPr lang="en-US" altLang="it-IT" sz="2000" b="0" dirty="0">
                <a:cs typeface="Arial" panose="020B0604020202020204" pitchFamily="34" charset="0"/>
              </a:rPr>
              <a:t>The rest masses of the fundamental nuclear particles (for </a:t>
            </a:r>
            <a:r>
              <a:rPr lang="en-US" altLang="it-IT" sz="2000" b="0" i="1" dirty="0">
                <a:cs typeface="Arial" panose="020B0604020202020204" pitchFamily="34" charset="0"/>
              </a:rPr>
              <a:t>m=E(MeV)/c</a:t>
            </a:r>
            <a:r>
              <a:rPr lang="en-US" altLang="it-IT" sz="2000" b="0" baseline="30000" dirty="0">
                <a:cs typeface="Arial" panose="020B0604020202020204" pitchFamily="34" charset="0"/>
              </a:rPr>
              <a:t>2</a:t>
            </a:r>
            <a:r>
              <a:rPr lang="en-US" altLang="it-IT" sz="2000" b="0" dirty="0">
                <a:cs typeface="Arial" panose="020B0604020202020204" pitchFamily="34" charset="0"/>
              </a:rPr>
              <a:t>):</a:t>
            </a:r>
          </a:p>
          <a:p>
            <a:pPr algn="just" eaLnBrk="1" hangingPunct="1">
              <a:spcBef>
                <a:spcPct val="0"/>
              </a:spcBef>
              <a:buFontTx/>
              <a:buNone/>
            </a:pPr>
            <a:endParaRPr lang="en-US" altLang="it-IT" sz="2000" b="0" dirty="0">
              <a:cs typeface="Arial" panose="020B0604020202020204" pitchFamily="34" charset="0"/>
            </a:endParaRPr>
          </a:p>
          <a:p>
            <a:pPr algn="just" eaLnBrk="1" hangingPunct="1">
              <a:spcBef>
                <a:spcPct val="0"/>
              </a:spcBef>
              <a:buFontTx/>
              <a:buNone/>
            </a:pPr>
            <a:r>
              <a:rPr lang="en-US" altLang="it-IT" sz="2000" b="0" dirty="0">
                <a:cs typeface="Arial" panose="020B0604020202020204" pitchFamily="34" charset="0"/>
              </a:rPr>
              <a:t>Proton: </a:t>
            </a:r>
            <a:r>
              <a:rPr lang="en-US" altLang="it-IT" sz="2000" b="0" dirty="0" err="1">
                <a:cs typeface="Arial" panose="020B0604020202020204" pitchFamily="34" charset="0"/>
              </a:rPr>
              <a:t>m</a:t>
            </a:r>
            <a:r>
              <a:rPr lang="en-US" altLang="it-IT" sz="2000" b="0" baseline="-25000" dirty="0" err="1">
                <a:cs typeface="Arial" panose="020B0604020202020204" pitchFamily="34" charset="0"/>
              </a:rPr>
              <a:t>p</a:t>
            </a:r>
            <a:r>
              <a:rPr lang="en-US" altLang="it-IT" sz="2000" b="0" dirty="0">
                <a:cs typeface="Arial" panose="020B0604020202020204" pitchFamily="34" charset="0"/>
              </a:rPr>
              <a:t>	= 1.672623 × 10</a:t>
            </a:r>
            <a:r>
              <a:rPr lang="en-US" altLang="it-IT" sz="2000" b="0" baseline="30000" dirty="0">
                <a:cs typeface="Arial" panose="020B0604020202020204" pitchFamily="34" charset="0"/>
              </a:rPr>
              <a:t>–27</a:t>
            </a:r>
            <a:r>
              <a:rPr lang="en-US" altLang="it-IT" sz="2000" b="0" dirty="0">
                <a:cs typeface="Arial" panose="020B0604020202020204" pitchFamily="34" charset="0"/>
              </a:rPr>
              <a:t> kg = 938.28 MeV/c</a:t>
            </a:r>
            <a:r>
              <a:rPr lang="en-US" altLang="it-IT" sz="2000" b="0" baseline="30000" dirty="0">
                <a:cs typeface="Arial" panose="020B0604020202020204" pitchFamily="34" charset="0"/>
              </a:rPr>
              <a:t>2 </a:t>
            </a:r>
          </a:p>
          <a:p>
            <a:pPr algn="just" eaLnBrk="1" hangingPunct="1">
              <a:spcBef>
                <a:spcPct val="0"/>
              </a:spcBef>
              <a:buFontTx/>
              <a:buNone/>
            </a:pPr>
            <a:r>
              <a:rPr lang="en-US" altLang="it-IT" sz="2000" b="0" dirty="0">
                <a:cs typeface="Arial" panose="020B0604020202020204" pitchFamily="34" charset="0"/>
              </a:rPr>
              <a:t>Neutron: </a:t>
            </a:r>
            <a:r>
              <a:rPr lang="en-US" altLang="it-IT" sz="2000" b="0" dirty="0" err="1">
                <a:cs typeface="Arial" panose="020B0604020202020204" pitchFamily="34" charset="0"/>
              </a:rPr>
              <a:t>m</a:t>
            </a:r>
            <a:r>
              <a:rPr lang="en-US" altLang="it-IT" sz="2000" b="0" baseline="-25000" dirty="0" err="1">
                <a:cs typeface="Arial" panose="020B0604020202020204" pitchFamily="34" charset="0"/>
              </a:rPr>
              <a:t>n</a:t>
            </a:r>
            <a:r>
              <a:rPr lang="en-US" altLang="it-IT" sz="2000" b="0" dirty="0">
                <a:cs typeface="Arial" panose="020B0604020202020204" pitchFamily="34" charset="0"/>
              </a:rPr>
              <a:t> = 1.674929 × 10</a:t>
            </a:r>
            <a:r>
              <a:rPr lang="en-US" altLang="it-IT" sz="2000" b="0" baseline="30000" dirty="0">
                <a:cs typeface="Arial" panose="020B0604020202020204" pitchFamily="34" charset="0"/>
              </a:rPr>
              <a:t>–27</a:t>
            </a:r>
            <a:r>
              <a:rPr lang="en-US" altLang="it-IT" sz="2000" b="0" dirty="0">
                <a:cs typeface="Arial" panose="020B0604020202020204" pitchFamily="34" charset="0"/>
              </a:rPr>
              <a:t> kg = 939.57 MeV/c</a:t>
            </a:r>
            <a:r>
              <a:rPr lang="en-US" altLang="it-IT" sz="2000" b="0" baseline="30000" dirty="0">
                <a:cs typeface="Arial" panose="020B0604020202020204" pitchFamily="34" charset="0"/>
              </a:rPr>
              <a:t>2</a:t>
            </a:r>
            <a:endParaRPr lang="en-US" altLang="it-IT" sz="2000" b="0" dirty="0">
              <a:cs typeface="Arial" panose="020B0604020202020204" pitchFamily="34" charset="0"/>
            </a:endParaRPr>
          </a:p>
          <a:p>
            <a:pPr algn="just" eaLnBrk="1" hangingPunct="1">
              <a:spcBef>
                <a:spcPct val="0"/>
              </a:spcBef>
              <a:buFontTx/>
              <a:buNone/>
            </a:pPr>
            <a:r>
              <a:rPr lang="en-US" altLang="it-IT" sz="2000" b="0" dirty="0">
                <a:cs typeface="Arial" panose="020B0604020202020204" pitchFamily="34" charset="0"/>
              </a:rPr>
              <a:t>Electron: m</a:t>
            </a:r>
            <a:r>
              <a:rPr lang="en-US" altLang="it-IT" sz="2000" b="0" baseline="-25000" dirty="0">
                <a:cs typeface="Arial" panose="020B0604020202020204" pitchFamily="34" charset="0"/>
              </a:rPr>
              <a:t>e</a:t>
            </a:r>
            <a:r>
              <a:rPr lang="en-US" altLang="it-IT" sz="2000" b="0" dirty="0">
                <a:cs typeface="Arial" panose="020B0604020202020204" pitchFamily="34" charset="0"/>
              </a:rPr>
              <a:t> = 9.109390 × 10</a:t>
            </a:r>
            <a:r>
              <a:rPr lang="en-US" altLang="it-IT" sz="2000" b="0" baseline="30000" dirty="0">
                <a:cs typeface="Arial" panose="020B0604020202020204" pitchFamily="34" charset="0"/>
              </a:rPr>
              <a:t>–31</a:t>
            </a:r>
            <a:r>
              <a:rPr lang="en-US" altLang="it-IT" sz="2000" b="0" dirty="0">
                <a:cs typeface="Arial" panose="020B0604020202020204" pitchFamily="34" charset="0"/>
              </a:rPr>
              <a:t> kg = 0.511 MeV/c</a:t>
            </a:r>
            <a:r>
              <a:rPr lang="en-US" altLang="it-IT" sz="2000" b="0" baseline="30000" dirty="0">
                <a:cs typeface="Arial" panose="020B0604020202020204" pitchFamily="34" charset="0"/>
              </a:rPr>
              <a:t>2</a:t>
            </a:r>
          </a:p>
          <a:p>
            <a:pPr algn="just" eaLnBrk="1" hangingPunct="1">
              <a:spcBef>
                <a:spcPct val="0"/>
              </a:spcBef>
              <a:buFontTx/>
              <a:buNone/>
            </a:pPr>
            <a:endParaRPr lang="en-US" altLang="it-IT" sz="2000" b="0" baseline="30000" dirty="0">
              <a:cs typeface="Arial" panose="020B0604020202020204" pitchFamily="34" charset="0"/>
            </a:endParaRPr>
          </a:p>
          <a:p>
            <a:pPr algn="just" eaLnBrk="1" hangingPunct="1">
              <a:spcBef>
                <a:spcPct val="0"/>
              </a:spcBef>
              <a:buFontTx/>
              <a:buNone/>
            </a:pPr>
            <a:r>
              <a:rPr lang="en-US" altLang="it-IT" sz="2000" b="0" dirty="0">
                <a:cs typeface="Arial" panose="020B0604020202020204" pitchFamily="34" charset="0"/>
              </a:rPr>
              <a:t>For atoms the Atomic mass unit, 1 </a:t>
            </a:r>
            <a:r>
              <a:rPr lang="en-US" altLang="it-IT" sz="2000" b="0" i="1" dirty="0">
                <a:cs typeface="Arial" panose="020B0604020202020204" pitchFamily="34" charset="0"/>
              </a:rPr>
              <a:t>u</a:t>
            </a:r>
            <a:r>
              <a:rPr lang="en-US" altLang="it-IT" sz="2000" b="0" dirty="0">
                <a:cs typeface="Arial" panose="020B0604020202020204" pitchFamily="34" charset="0"/>
              </a:rPr>
              <a:t> = 1.660540 × 10</a:t>
            </a:r>
            <a:r>
              <a:rPr lang="en-US" altLang="it-IT" sz="2000" b="0" baseline="30000" dirty="0">
                <a:cs typeface="Arial" panose="020B0604020202020204" pitchFamily="34" charset="0"/>
              </a:rPr>
              <a:t>–27</a:t>
            </a:r>
            <a:r>
              <a:rPr lang="en-US" altLang="it-IT" sz="2000" b="0" dirty="0">
                <a:cs typeface="Arial" panose="020B0604020202020204" pitchFamily="34" charset="0"/>
              </a:rPr>
              <a:t> kg = 931.49432 MeV/c</a:t>
            </a:r>
            <a:r>
              <a:rPr lang="en-US" altLang="it-IT" sz="2000" b="0" baseline="30000" dirty="0">
                <a:cs typeface="Arial" panose="020B0604020202020204" pitchFamily="34" charset="0"/>
              </a:rPr>
              <a:t>2</a:t>
            </a:r>
            <a:r>
              <a:rPr lang="en-US" altLang="it-IT" sz="2000" b="0" dirty="0">
                <a:cs typeface="Arial" panose="020B0604020202020204" pitchFamily="34" charset="0"/>
              </a:rPr>
              <a:t>, is often used.</a:t>
            </a:r>
          </a:p>
          <a:p>
            <a:pPr algn="just" eaLnBrk="1" hangingPunct="1">
              <a:spcBef>
                <a:spcPct val="0"/>
              </a:spcBef>
              <a:buFontTx/>
              <a:buNone/>
            </a:pPr>
            <a:endParaRPr lang="en-US" altLang="it-IT" sz="2000" b="0" baseline="30000" dirty="0">
              <a:cs typeface="Arial" panose="020B0604020202020204" pitchFamily="34" charset="0"/>
            </a:endParaRPr>
          </a:p>
          <a:p>
            <a:pPr algn="just" eaLnBrk="1" hangingPunct="1">
              <a:spcBef>
                <a:spcPct val="0"/>
              </a:spcBef>
              <a:buFontTx/>
              <a:buNone/>
            </a:pPr>
            <a:r>
              <a:rPr lang="en-US" altLang="it-IT" sz="2000" b="0" baseline="30000" dirty="0">
                <a:solidFill>
                  <a:srgbClr val="000000"/>
                </a:solidFill>
                <a:cs typeface="Arial" panose="020B0604020202020204" pitchFamily="34" charset="0"/>
              </a:rPr>
              <a:t>1</a:t>
            </a:r>
            <a:r>
              <a:rPr lang="en-US" altLang="it-IT" sz="2000" b="0" dirty="0">
                <a:solidFill>
                  <a:srgbClr val="000000"/>
                </a:solidFill>
                <a:cs typeface="Arial" panose="020B0604020202020204" pitchFamily="34" charset="0"/>
              </a:rPr>
              <a:t>H  =  1.673525 x 10</a:t>
            </a:r>
            <a:r>
              <a:rPr lang="en-US" altLang="it-IT" sz="2000" b="0" baseline="30000" dirty="0">
                <a:solidFill>
                  <a:srgbClr val="000000"/>
                </a:solidFill>
                <a:cs typeface="Arial" panose="020B0604020202020204" pitchFamily="34" charset="0"/>
              </a:rPr>
              <a:t>-27</a:t>
            </a:r>
            <a:r>
              <a:rPr lang="en-US" altLang="it-IT" sz="2000" b="0" dirty="0">
                <a:solidFill>
                  <a:srgbClr val="000000"/>
                </a:solidFill>
                <a:cs typeface="Arial" panose="020B0604020202020204" pitchFamily="34" charset="0"/>
              </a:rPr>
              <a:t> kg =  938.78326 MeV</a:t>
            </a:r>
            <a:r>
              <a:rPr lang="en-US" altLang="it-IT" sz="2000" b="0" dirty="0">
                <a:cs typeface="Arial" panose="020B0604020202020204" pitchFamily="34" charset="0"/>
              </a:rPr>
              <a:t> /c</a:t>
            </a:r>
            <a:r>
              <a:rPr lang="en-US" altLang="it-IT" sz="2000" b="0" baseline="30000" dirty="0">
                <a:cs typeface="Arial" panose="020B0604020202020204" pitchFamily="34" charset="0"/>
              </a:rPr>
              <a:t>2  </a:t>
            </a:r>
            <a:r>
              <a:rPr lang="en-US" altLang="it-IT" sz="2000" b="0" dirty="0">
                <a:solidFill>
                  <a:srgbClr val="000000"/>
                </a:solidFill>
                <a:cs typeface="Arial" panose="020B0604020202020204" pitchFamily="34" charset="0"/>
              </a:rPr>
              <a:t>=1.007825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a:t>
            </a:r>
          </a:p>
          <a:p>
            <a:pPr algn="just" eaLnBrk="1" hangingPunct="1">
              <a:spcBef>
                <a:spcPct val="0"/>
              </a:spcBef>
              <a:buFontTx/>
              <a:buNone/>
            </a:pPr>
            <a:endParaRPr lang="en-US" altLang="it-IT" sz="2000" b="0" i="1" dirty="0">
              <a:solidFill>
                <a:srgbClr val="000000"/>
              </a:solidFill>
              <a:cs typeface="Arial" panose="020B0604020202020204" pitchFamily="34" charset="0"/>
            </a:endParaRPr>
          </a:p>
          <a:p>
            <a:pPr algn="just" eaLnBrk="1" hangingPunct="1">
              <a:spcBef>
                <a:spcPct val="0"/>
              </a:spcBef>
              <a:buFontTx/>
              <a:buNone/>
            </a:pPr>
            <a:endParaRPr lang="en-US" altLang="it-IT" sz="2000" b="0" i="1" dirty="0">
              <a:solidFill>
                <a:srgbClr val="000000"/>
              </a:solidFill>
              <a:cs typeface="Arial" panose="020B0604020202020204" pitchFamily="34" charset="0"/>
            </a:endParaRPr>
          </a:p>
          <a:p>
            <a:pPr algn="just" eaLnBrk="1" hangingPunct="1">
              <a:spcBef>
                <a:spcPct val="0"/>
              </a:spcBef>
              <a:buFontTx/>
              <a:buNone/>
            </a:pPr>
            <a:endParaRPr lang="en-US" altLang="it-IT" sz="2000" b="0" dirty="0">
              <a:cs typeface="Arial" panose="020B0604020202020204" pitchFamily="34" charset="0"/>
            </a:endParaRPr>
          </a:p>
          <a:p>
            <a:pPr algn="just" eaLnBrk="1" hangingPunct="1">
              <a:spcBef>
                <a:spcPct val="0"/>
              </a:spcBef>
              <a:buFontTx/>
              <a:buNone/>
            </a:pPr>
            <a:endParaRPr lang="en-US" altLang="it-IT" sz="2000" b="0" dirty="0">
              <a:cs typeface="Arial" panose="020B0604020202020204" pitchFamily="34" charset="0"/>
            </a:endParaRPr>
          </a:p>
          <a:p>
            <a:pPr algn="just" eaLnBrk="1" hangingPunct="1">
              <a:spcBef>
                <a:spcPct val="0"/>
              </a:spcBef>
              <a:buFontTx/>
              <a:buNone/>
            </a:pPr>
            <a:endParaRPr lang="en-US" altLang="it-IT" sz="2000" b="0" dirty="0">
              <a:cs typeface="Arial" panose="020B0604020202020204" pitchFamily="34" charset="0"/>
            </a:endParaRPr>
          </a:p>
        </p:txBody>
      </p:sp>
      <p:sp>
        <p:nvSpPr>
          <p:cNvPr id="71682" name="Rectangle 2">
            <a:extLst>
              <a:ext uri="{FF2B5EF4-FFF2-40B4-BE49-F238E27FC236}">
                <a16:creationId xmlns:a16="http://schemas.microsoft.com/office/drawing/2014/main" id="{AA744BA8-B81A-964B-9B91-2CE23956A1FB}"/>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dirty="0">
                <a:solidFill>
                  <a:srgbClr val="FF3300"/>
                </a:solidFill>
                <a:latin typeface="Tahoma" panose="020B0604030504040204" pitchFamily="34" charset="0"/>
              </a:rPr>
              <a:t>Energy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olo 1">
            <a:extLst>
              <a:ext uri="{FF2B5EF4-FFF2-40B4-BE49-F238E27FC236}">
                <a16:creationId xmlns:a16="http://schemas.microsoft.com/office/drawing/2014/main" id="{15299D4F-32D1-EC41-A23B-FB00A858EB53}"/>
              </a:ext>
            </a:extLst>
          </p:cNvPr>
          <p:cNvSpPr>
            <a:spLocks noGrp="1" noChangeArrowheads="1"/>
          </p:cNvSpPr>
          <p:nvPr>
            <p:ph type="title"/>
          </p:nvPr>
        </p:nvSpPr>
        <p:spPr/>
        <p:txBody>
          <a:bodyPr/>
          <a:lstStyle/>
          <a:p>
            <a:r>
              <a:rPr lang="en-US" altLang="it-IT">
                <a:ea typeface="ＭＳ Ｐゴシック" panose="020B0600070205080204" pitchFamily="34" charset="-128"/>
              </a:rPr>
              <a:t>Binding Enengy</a:t>
            </a:r>
          </a:p>
        </p:txBody>
      </p:sp>
      <p:sp>
        <p:nvSpPr>
          <p:cNvPr id="86018" name="Segnaposto contenuto 2">
            <a:extLst>
              <a:ext uri="{FF2B5EF4-FFF2-40B4-BE49-F238E27FC236}">
                <a16:creationId xmlns:a16="http://schemas.microsoft.com/office/drawing/2014/main" id="{4841DBD3-5ACD-034C-A5C4-36B0BCFF7513}"/>
              </a:ext>
            </a:extLst>
          </p:cNvPr>
          <p:cNvSpPr>
            <a:spLocks noGrp="1" noChangeArrowheads="1"/>
          </p:cNvSpPr>
          <p:nvPr>
            <p:ph idx="1"/>
          </p:nvPr>
        </p:nvSpPr>
        <p:spPr>
          <a:xfrm>
            <a:off x="444500" y="825500"/>
            <a:ext cx="8229600" cy="5156200"/>
          </a:xfrm>
        </p:spPr>
        <p:txBody>
          <a:bodyPr/>
          <a:lstStyle/>
          <a:p>
            <a:pPr algn="just"/>
            <a:r>
              <a:rPr lang="en-US" altLang="it-IT" sz="1800" dirty="0">
                <a:solidFill>
                  <a:srgbClr val="0070C0"/>
                </a:solidFill>
                <a:ea typeface="ＭＳ Ｐゴシック" panose="020B0600070205080204" pitchFamily="34" charset="-128"/>
              </a:rPr>
              <a:t>Nuclear fusion </a:t>
            </a:r>
            <a:r>
              <a:rPr lang="en-US" altLang="it-IT" sz="1800" dirty="0">
                <a:ea typeface="ＭＳ Ｐゴシック" panose="020B0600070205080204" pitchFamily="34" charset="-128"/>
              </a:rPr>
              <a:t>is the union of light nuclei to produce heavier nuclei. Nuclear fusion reactions are </a:t>
            </a:r>
            <a:r>
              <a:rPr lang="en-US" altLang="it-IT" sz="1800" i="1" dirty="0">
                <a:ea typeface="ＭＳ Ｐゴシック" panose="020B0600070205080204" pitchFamily="34" charset="-128"/>
              </a:rPr>
              <a:t>exothermic</a:t>
            </a:r>
            <a:r>
              <a:rPr lang="en-US" altLang="it-IT" sz="1800" dirty="0">
                <a:ea typeface="ＭＳ Ｐゴシック" panose="020B0600070205080204" pitchFamily="34" charset="-128"/>
              </a:rPr>
              <a:t> and are the principal source of energy in stars. Energy is emitted by these reactions because the nuclei that are produced are more stable than those that fuse.</a:t>
            </a:r>
          </a:p>
          <a:p>
            <a:pPr algn="just"/>
            <a:endParaRPr lang="en-US" altLang="it-IT" sz="1800" dirty="0">
              <a:ea typeface="ＭＳ Ｐゴシック" panose="020B0600070205080204" pitchFamily="34" charset="-128"/>
            </a:endParaRPr>
          </a:p>
          <a:p>
            <a:pPr algn="just"/>
            <a:r>
              <a:rPr lang="en-US" altLang="it-IT" sz="1800" dirty="0">
                <a:ea typeface="ＭＳ Ｐゴシック" panose="020B0600070205080204" pitchFamily="34" charset="-128"/>
              </a:rPr>
              <a:t>The mass </a:t>
            </a:r>
            <a:r>
              <a:rPr lang="en-US" altLang="it-IT" sz="1800" i="1" dirty="0" err="1">
                <a:ea typeface="ＭＳ Ｐゴシック" panose="020B0600070205080204" pitchFamily="34" charset="-128"/>
              </a:rPr>
              <a:t>m</a:t>
            </a:r>
            <a:r>
              <a:rPr lang="en-US" altLang="it-IT" sz="1800" i="1" baseline="-25000" dirty="0" err="1">
                <a:ea typeface="ＭＳ Ｐゴシック" panose="020B0600070205080204" pitchFamily="34" charset="-128"/>
              </a:rPr>
              <a:t>nuc</a:t>
            </a:r>
            <a:r>
              <a:rPr lang="en-US" altLang="it-IT" sz="1800" dirty="0">
                <a:ea typeface="ＭＳ Ｐゴシック" panose="020B0600070205080204" pitchFamily="34" charset="-128"/>
              </a:rPr>
              <a:t> of the nucleus is always found to be less than the combined mass of the protons and neutrons. It is the energy equivalent of this mass deficit which provides the binding energy of the nucleus and is given by (A= mass number (</a:t>
            </a:r>
            <a:r>
              <a:rPr lang="en-US" altLang="it-IT" sz="1800" dirty="0" err="1">
                <a:ea typeface="ＭＳ Ｐゴシック" panose="020B0600070205080204" pitchFamily="34" charset="-128"/>
              </a:rPr>
              <a:t>p+n</a:t>
            </a:r>
            <a:r>
              <a:rPr lang="en-US" altLang="it-IT" sz="1800" dirty="0">
                <a:ea typeface="ＭＳ Ｐゴシック" panose="020B0600070205080204" pitchFamily="34" charset="-128"/>
              </a:rPr>
              <a:t>); Z = Atomic number (p))</a:t>
            </a:r>
          </a:p>
          <a:p>
            <a:pPr algn="just"/>
            <a:endParaRPr lang="en-US" altLang="it-IT" sz="1800" dirty="0">
              <a:ea typeface="ＭＳ Ｐゴシック" panose="020B0600070205080204" pitchFamily="34" charset="-128"/>
            </a:endParaRPr>
          </a:p>
          <a:p>
            <a:pPr algn="just"/>
            <a:endParaRPr lang="en-US" altLang="it-IT" sz="1800" dirty="0">
              <a:ea typeface="ＭＳ Ｐゴシック" panose="020B0600070205080204" pitchFamily="34" charset="-128"/>
            </a:endParaRPr>
          </a:p>
          <a:p>
            <a:pPr algn="just"/>
            <a:endParaRPr lang="en-US" altLang="it-IT" sz="1800" dirty="0">
              <a:ea typeface="ＭＳ Ｐゴシック" panose="020B0600070205080204" pitchFamily="34" charset="-128"/>
            </a:endParaRPr>
          </a:p>
          <a:p>
            <a:r>
              <a:rPr lang="en-US" altLang="it-IT" sz="1800" dirty="0">
                <a:ea typeface="ＭＳ Ｐゴシック" panose="020B0600070205080204" pitchFamily="34" charset="-128"/>
              </a:rPr>
              <a:t>Which can be also defined </a:t>
            </a:r>
            <a:r>
              <a:rPr lang="en-US" altLang="it-IT" sz="1800" i="1" dirty="0">
                <a:solidFill>
                  <a:srgbClr val="0070C0"/>
                </a:solidFill>
                <a:ea typeface="ＭＳ Ｐゴシック" panose="020B0600070205080204" pitchFamily="34" charset="-128"/>
              </a:rPr>
              <a:t>as the minimum energy required to break up and disperse to infinity all the constituent nucleons in the nucleus</a:t>
            </a:r>
            <a:r>
              <a:rPr lang="en-US" altLang="it-IT" sz="1800" dirty="0">
                <a:ea typeface="ＭＳ Ｐゴシック" panose="020B0600070205080204" pitchFamily="34" charset="-128"/>
              </a:rPr>
              <a:t>.</a:t>
            </a:r>
          </a:p>
          <a:p>
            <a:pPr>
              <a:buFontTx/>
              <a:buNone/>
            </a:pPr>
            <a:endParaRPr lang="en-US" altLang="it-IT" sz="1800" dirty="0">
              <a:ea typeface="ＭＳ Ｐゴシック" panose="020B0600070205080204" pitchFamily="34" charset="-128"/>
            </a:endParaRPr>
          </a:p>
          <a:p>
            <a:r>
              <a:rPr lang="en-US" altLang="it-IT" sz="1800" dirty="0">
                <a:ea typeface="ＭＳ Ｐゴシック" panose="020B0600070205080204" pitchFamily="34" charset="-128"/>
              </a:rPr>
              <a:t>To express how tightly bound a nucleus is, we need to consider the binding energy per nucleon:   E</a:t>
            </a:r>
            <a:r>
              <a:rPr lang="en-US" altLang="it-IT" sz="1800" baseline="-25000" dirty="0">
                <a:ea typeface="ＭＳ Ｐゴシック" panose="020B0600070205080204" pitchFamily="34" charset="-128"/>
              </a:rPr>
              <a:t>B</a:t>
            </a:r>
            <a:r>
              <a:rPr lang="en-US" altLang="it-IT" sz="1800" dirty="0">
                <a:ea typeface="ＭＳ Ｐゴシック" panose="020B0600070205080204" pitchFamily="34" charset="-128"/>
              </a:rPr>
              <a:t>/A</a:t>
            </a:r>
          </a:p>
        </p:txBody>
      </p:sp>
      <p:pic>
        <p:nvPicPr>
          <p:cNvPr id="86019" name="Immagine 4">
            <a:extLst>
              <a:ext uri="{FF2B5EF4-FFF2-40B4-BE49-F238E27FC236}">
                <a16:creationId xmlns:a16="http://schemas.microsoft.com/office/drawing/2014/main" id="{D33F7F45-C1B7-E949-B607-238D2BCA4F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14543" y="3697356"/>
            <a:ext cx="429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olo 1">
            <a:extLst>
              <a:ext uri="{FF2B5EF4-FFF2-40B4-BE49-F238E27FC236}">
                <a16:creationId xmlns:a16="http://schemas.microsoft.com/office/drawing/2014/main" id="{09346BC9-79CF-9946-95BD-C5C25DC11A19}"/>
              </a:ext>
            </a:extLst>
          </p:cNvPr>
          <p:cNvSpPr>
            <a:spLocks noGrp="1" noChangeArrowheads="1"/>
          </p:cNvSpPr>
          <p:nvPr>
            <p:ph type="title"/>
          </p:nvPr>
        </p:nvSpPr>
        <p:spPr/>
        <p:txBody>
          <a:bodyPr/>
          <a:lstStyle/>
          <a:p>
            <a:r>
              <a:rPr lang="en-US" altLang="it-IT">
                <a:ea typeface="ＭＳ Ｐゴシック" panose="020B0600070205080204" pitchFamily="34" charset="-128"/>
              </a:rPr>
              <a:t>Nuclear Fusion</a:t>
            </a:r>
          </a:p>
        </p:txBody>
      </p:sp>
      <p:sp>
        <p:nvSpPr>
          <p:cNvPr id="87042" name="Segnaposto contenuto 2">
            <a:extLst>
              <a:ext uri="{FF2B5EF4-FFF2-40B4-BE49-F238E27FC236}">
                <a16:creationId xmlns:a16="http://schemas.microsoft.com/office/drawing/2014/main" id="{2B0D79C6-D2AA-004C-B371-DB9F5C8DCD0A}"/>
              </a:ext>
            </a:extLst>
          </p:cNvPr>
          <p:cNvSpPr>
            <a:spLocks noGrp="1" noChangeArrowheads="1"/>
          </p:cNvSpPr>
          <p:nvPr>
            <p:ph idx="1"/>
          </p:nvPr>
        </p:nvSpPr>
        <p:spPr>
          <a:xfrm>
            <a:off x="431800" y="825500"/>
            <a:ext cx="8229600" cy="5156200"/>
          </a:xfrm>
        </p:spPr>
        <p:txBody>
          <a:bodyPr/>
          <a:lstStyle/>
          <a:p>
            <a:pPr algn="just"/>
            <a:r>
              <a:rPr lang="en-US" altLang="it-IT" sz="1800">
                <a:ea typeface="ＭＳ Ｐゴシック" panose="020B0600070205080204" pitchFamily="34" charset="-128"/>
              </a:rPr>
              <a:t>It is seen that the intermediate-mass nuclei around iron are most tightly bound. </a:t>
            </a:r>
          </a:p>
        </p:txBody>
      </p:sp>
      <p:pic>
        <p:nvPicPr>
          <p:cNvPr id="87043" name="Immagine 7">
            <a:extLst>
              <a:ext uri="{FF2B5EF4-FFF2-40B4-BE49-F238E27FC236}">
                <a16:creationId xmlns:a16="http://schemas.microsoft.com/office/drawing/2014/main" id="{DF8B8EEA-1F95-5044-822E-70FADCFBBB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0"/>
            <a:ext cx="4256088"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4" name="Immagine 8">
            <a:extLst>
              <a:ext uri="{FF2B5EF4-FFF2-40B4-BE49-F238E27FC236}">
                <a16:creationId xmlns:a16="http://schemas.microsoft.com/office/drawing/2014/main" id="{A00AC720-565F-DD47-9CCC-B2D29D704B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41800" y="1493838"/>
            <a:ext cx="45085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5" name="Rettangolo 9">
            <a:extLst>
              <a:ext uri="{FF2B5EF4-FFF2-40B4-BE49-F238E27FC236}">
                <a16:creationId xmlns:a16="http://schemas.microsoft.com/office/drawing/2014/main" id="{2CBF6A6B-5C4D-4240-A01D-19DBB43F18A1}"/>
              </a:ext>
            </a:extLst>
          </p:cNvPr>
          <p:cNvSpPr>
            <a:spLocks noChangeArrowheads="1"/>
          </p:cNvSpPr>
          <p:nvPr/>
        </p:nvSpPr>
        <p:spPr bwMode="auto">
          <a:xfrm>
            <a:off x="482600" y="4454525"/>
            <a:ext cx="82169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We observe that E</a:t>
            </a:r>
            <a:r>
              <a:rPr lang="en-US" altLang="it-IT" sz="2000" b="0" baseline="-25000" dirty="0">
                <a:latin typeface="Gill Sans" panose="020B0502020104020203" pitchFamily="34" charset="-79"/>
                <a:cs typeface="Gill Sans" panose="020B0502020104020203" pitchFamily="34" charset="-79"/>
              </a:rPr>
              <a:t>B</a:t>
            </a:r>
            <a:r>
              <a:rPr lang="en-US" altLang="it-IT" sz="2000" b="0" dirty="0">
                <a:latin typeface="Gill Sans" panose="020B0502020104020203" pitchFamily="34" charset="-79"/>
                <a:cs typeface="Gill Sans" panose="020B0502020104020203" pitchFamily="34" charset="-79"/>
              </a:rPr>
              <a:t>/A increases with A in light nuclei, and reaches a broad maximum around A ~55 − 60 in the iron-nickel region. Beyond, it decreases slowly as a function of A. This tells us that energy can be released by the </a:t>
            </a:r>
            <a:r>
              <a:rPr lang="en-US" altLang="en-GB" sz="2000" b="0" dirty="0">
                <a:latin typeface="Gill Sans" panose="020B0502020104020203" pitchFamily="34" charset="-79"/>
                <a:cs typeface="Gill Sans" panose="020B0502020104020203" pitchFamily="34" charset="-79"/>
              </a:rPr>
              <a:t>“</a:t>
            </a:r>
            <a:r>
              <a:rPr lang="en-US" altLang="it-IT" sz="2000" b="0" dirty="0">
                <a:latin typeface="Gill Sans" panose="020B0502020104020203" pitchFamily="34" charset="-79"/>
                <a:cs typeface="Gill Sans" panose="020B0502020104020203" pitchFamily="34" charset="-79"/>
              </a:rPr>
              <a:t>fusion</a:t>
            </a:r>
            <a:r>
              <a:rPr lang="en-US" altLang="en-GB" sz="2000" b="0" dirty="0">
                <a:latin typeface="Gill Sans" panose="020B0502020104020203" pitchFamily="34" charset="-79"/>
                <a:cs typeface="Gill Sans" panose="020B0502020104020203" pitchFamily="34" charset="-79"/>
              </a:rPr>
              <a:t>”</a:t>
            </a:r>
            <a:r>
              <a:rPr lang="en-US" altLang="it-IT" sz="2000" b="0" dirty="0">
                <a:latin typeface="Gill Sans" panose="020B0502020104020203" pitchFamily="34" charset="-79"/>
                <a:cs typeface="Gill Sans" panose="020B0502020104020203" pitchFamily="34" charset="-79"/>
              </a:rPr>
              <a:t> of light nuclei into heavier ones, or by the </a:t>
            </a:r>
            <a:r>
              <a:rPr lang="en-US" altLang="en-GB" sz="2000" b="0" dirty="0">
                <a:latin typeface="Gill Sans" panose="020B0502020104020203" pitchFamily="34" charset="-79"/>
                <a:cs typeface="Gill Sans" panose="020B0502020104020203" pitchFamily="34" charset="-79"/>
              </a:rPr>
              <a:t>“</a:t>
            </a:r>
            <a:r>
              <a:rPr lang="en-US" altLang="it-IT" sz="2000" b="0" dirty="0">
                <a:latin typeface="Gill Sans" panose="020B0502020104020203" pitchFamily="34" charset="-79"/>
                <a:cs typeface="Gill Sans" panose="020B0502020104020203" pitchFamily="34" charset="-79"/>
              </a:rPr>
              <a:t>fission</a:t>
            </a:r>
            <a:r>
              <a:rPr lang="en-US" altLang="en-GB" sz="2000" b="0" dirty="0">
                <a:latin typeface="Gill Sans" panose="020B0502020104020203" pitchFamily="34" charset="-79"/>
                <a:cs typeface="Gill Sans" panose="020B0502020104020203" pitchFamily="34" charset="-79"/>
              </a:rPr>
              <a:t>”</a:t>
            </a:r>
            <a:r>
              <a:rPr lang="en-US" altLang="it-IT" sz="2000" b="0" dirty="0">
                <a:latin typeface="Gill Sans" panose="020B0502020104020203" pitchFamily="34" charset="-79"/>
                <a:cs typeface="Gill Sans" panose="020B0502020104020203" pitchFamily="34" charset="-79"/>
              </a:rPr>
              <a:t> of heavy nuclei into lighter ones. </a:t>
            </a:r>
          </a:p>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		7.7MeV &lt; E</a:t>
            </a:r>
            <a:r>
              <a:rPr lang="en-US" altLang="it-IT" sz="2000" b="0" baseline="-25000" dirty="0">
                <a:latin typeface="Gill Sans" panose="020B0502020104020203" pitchFamily="34" charset="-79"/>
                <a:cs typeface="Gill Sans" panose="020B0502020104020203" pitchFamily="34" charset="-79"/>
              </a:rPr>
              <a:t>B</a:t>
            </a:r>
            <a:r>
              <a:rPr lang="en-US" altLang="it-IT" sz="2000" b="0" dirty="0">
                <a:latin typeface="Gill Sans" panose="020B0502020104020203" pitchFamily="34" charset="-79"/>
                <a:cs typeface="Gill Sans" panose="020B0502020104020203" pitchFamily="34" charset="-79"/>
              </a:rPr>
              <a:t>/A &lt; 8.8MeV 12 &lt; A &lt; 225. </a:t>
            </a: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2705" name="Rectangle 2">
                <a:extLst>
                  <a:ext uri="{FF2B5EF4-FFF2-40B4-BE49-F238E27FC236}">
                    <a16:creationId xmlns:a16="http://schemas.microsoft.com/office/drawing/2014/main" id="{90CFF0C6-E1B4-0A46-A372-9954C1115B1D}"/>
                  </a:ext>
                </a:extLst>
              </p:cNvPr>
              <p:cNvSpPr>
                <a:spLocks noChangeArrowheads="1"/>
              </p:cNvSpPr>
              <p:nvPr/>
            </p:nvSpPr>
            <p:spPr bwMode="auto">
              <a:xfrm>
                <a:off x="139700" y="508000"/>
                <a:ext cx="8763000" cy="61849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a:spcBef>
                    <a:spcPct val="20000"/>
                  </a:spcBef>
                  <a:buChar char="•"/>
                  <a:tabLst>
                    <a:tab pos="1482725" algn="l"/>
                    <a:tab pos="4114800" algn="l"/>
                    <a:tab pos="4348163" algn="ct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482725" algn="l"/>
                    <a:tab pos="4114800" algn="l"/>
                    <a:tab pos="4348163" algn="ct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482725" algn="l"/>
                    <a:tab pos="4114800" algn="l"/>
                    <a:tab pos="4348163" algn="ct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482725" algn="l"/>
                    <a:tab pos="4114800" algn="l"/>
                    <a:tab pos="4348163" algn="ctr"/>
                  </a:tabLst>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000" b="0" dirty="0">
                    <a:solidFill>
                      <a:srgbClr val="000000"/>
                    </a:solidFill>
                    <a:cs typeface="Arial" panose="020B0604020202020204" pitchFamily="34" charset="0"/>
                  </a:rPr>
                  <a:t>Typical masses:</a:t>
                </a:r>
              </a:p>
              <a:p>
                <a:pPr eaLnBrk="1" hangingPunct="1">
                  <a:spcBef>
                    <a:spcPct val="0"/>
                  </a:spcBef>
                  <a:buFontTx/>
                  <a:buNone/>
                </a:pPr>
                <a:endParaRPr lang="en-US" altLang="it-IT" sz="2000" b="0" dirty="0">
                  <a:solidFill>
                    <a:srgbClr val="000000"/>
                  </a:solidFill>
                  <a:cs typeface="Arial" panose="020B0604020202020204" pitchFamily="34" charset="0"/>
                </a:endParaRPr>
              </a:p>
              <a:p>
                <a:pPr eaLnBrk="1" hangingPunct="1">
                  <a:spcBef>
                    <a:spcPct val="0"/>
                  </a:spcBef>
                  <a:buFontTx/>
                  <a:buNone/>
                </a:pPr>
                <a:r>
                  <a:rPr lang="en-US" altLang="it-IT" sz="2000" b="0" baseline="30000" dirty="0">
                    <a:solidFill>
                      <a:srgbClr val="000000"/>
                    </a:solidFill>
                    <a:cs typeface="Arial" panose="020B0604020202020204" pitchFamily="34" charset="0"/>
                  </a:rPr>
                  <a:t>2</a:t>
                </a:r>
                <a:r>
                  <a:rPr lang="en-US" altLang="it-IT" sz="2000" b="0" dirty="0">
                    <a:solidFill>
                      <a:srgbClr val="000000"/>
                    </a:solidFill>
                    <a:cs typeface="Arial" panose="020B0604020202020204" pitchFamily="34" charset="0"/>
                  </a:rPr>
                  <a:t>H  =  2.014102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1876.12457 MeV</a:t>
                </a:r>
              </a:p>
              <a:p>
                <a:pPr eaLnBrk="1" hangingPunct="1">
                  <a:spcBef>
                    <a:spcPct val="0"/>
                  </a:spcBef>
                  <a:buFontTx/>
                  <a:buNone/>
                </a:pPr>
                <a:r>
                  <a:rPr lang="en-US" altLang="it-IT" sz="2000" b="0" baseline="30000" dirty="0">
                    <a:solidFill>
                      <a:srgbClr val="000000"/>
                    </a:solidFill>
                    <a:cs typeface="Arial" panose="020B0604020202020204" pitchFamily="34" charset="0"/>
                  </a:rPr>
                  <a:t>4</a:t>
                </a:r>
                <a:r>
                  <a:rPr lang="en-US" altLang="it-IT" sz="2000" b="0" dirty="0">
                    <a:solidFill>
                      <a:srgbClr val="000000"/>
                    </a:solidFill>
                    <a:cs typeface="Arial" panose="020B0604020202020204" pitchFamily="34" charset="0"/>
                  </a:rPr>
                  <a:t>He  =  4.002603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3728.40196 MeV</a:t>
                </a:r>
              </a:p>
              <a:p>
                <a:pPr eaLnBrk="1" hangingPunct="1">
                  <a:spcBef>
                    <a:spcPct val="0"/>
                  </a:spcBef>
                  <a:buFontTx/>
                  <a:buNone/>
                </a:pPr>
                <a:r>
                  <a:rPr lang="en-US" altLang="it-IT" sz="2000" b="0" baseline="30000" dirty="0">
                    <a:solidFill>
                      <a:srgbClr val="000000"/>
                    </a:solidFill>
                    <a:cs typeface="Arial" panose="020B0604020202020204" pitchFamily="34" charset="0"/>
                  </a:rPr>
                  <a:t>5</a:t>
                </a:r>
                <a:r>
                  <a:rPr lang="en-US" altLang="it-IT" sz="2000" b="0" dirty="0">
                    <a:solidFill>
                      <a:srgbClr val="000000"/>
                    </a:solidFill>
                    <a:cs typeface="Arial" panose="020B0604020202020204" pitchFamily="34" charset="0"/>
                  </a:rPr>
                  <a:t>Li  =  5.0125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4669.115279 MeV</a:t>
                </a:r>
              </a:p>
              <a:p>
                <a:pPr eaLnBrk="1" hangingPunct="1">
                  <a:spcBef>
                    <a:spcPct val="0"/>
                  </a:spcBef>
                  <a:buFontTx/>
                  <a:buNone/>
                </a:pPr>
                <a:r>
                  <a:rPr lang="en-US" altLang="it-IT" sz="2000" b="0" baseline="30000" dirty="0">
                    <a:solidFill>
                      <a:srgbClr val="000000"/>
                    </a:solidFill>
                    <a:cs typeface="Arial" panose="020B0604020202020204" pitchFamily="34" charset="0"/>
                  </a:rPr>
                  <a:t>8</a:t>
                </a:r>
                <a:r>
                  <a:rPr lang="en-US" altLang="it-IT" sz="2000" b="0" dirty="0">
                    <a:solidFill>
                      <a:srgbClr val="000000"/>
                    </a:solidFill>
                    <a:cs typeface="Arial" panose="020B0604020202020204" pitchFamily="34" charset="0"/>
                  </a:rPr>
                  <a:t>Be  =  8.005305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7456.89614 MeV</a:t>
                </a:r>
              </a:p>
              <a:p>
                <a:pPr eaLnBrk="1" hangingPunct="1">
                  <a:spcBef>
                    <a:spcPct val="0"/>
                  </a:spcBef>
                  <a:buFontTx/>
                  <a:buNone/>
                </a:pPr>
                <a:endParaRPr lang="en-US" altLang="it-IT" sz="2000" b="0" dirty="0">
                  <a:solidFill>
                    <a:srgbClr val="000000"/>
                  </a:solidFill>
                  <a:cs typeface="Arial" panose="020B0604020202020204" pitchFamily="34" charset="0"/>
                </a:endParaRPr>
              </a:p>
              <a:p>
                <a:pPr algn="just" eaLnBrk="1" hangingPunct="1">
                  <a:spcBef>
                    <a:spcPct val="0"/>
                  </a:spcBef>
                  <a:buFontTx/>
                  <a:buNone/>
                </a:pPr>
                <a:r>
                  <a:rPr lang="en-US" altLang="it-IT" sz="2000" b="0" dirty="0">
                    <a:solidFill>
                      <a:srgbClr val="000000"/>
                    </a:solidFill>
                    <a:cs typeface="Arial" panose="020B0604020202020204" pitchFamily="34" charset="0"/>
                  </a:rPr>
                  <a:t>The major reaction in astronomy converts 4 hydrogen nuclei (protons) into a helium nucleus (</a:t>
                </a:r>
                <a:r>
                  <a:rPr lang="en-US" altLang="it-IT" sz="2000" b="0" baseline="30000" dirty="0">
                    <a:solidFill>
                      <a:srgbClr val="000000"/>
                    </a:solidFill>
                    <a:cs typeface="Arial" panose="020B0604020202020204" pitchFamily="34" charset="0"/>
                  </a:rPr>
                  <a:t>4</a:t>
                </a:r>
                <a:r>
                  <a:rPr lang="en-US" altLang="it-IT" sz="2000" b="0" dirty="0">
                    <a:solidFill>
                      <a:srgbClr val="000000"/>
                    </a:solidFill>
                    <a:cs typeface="Arial" panose="020B0604020202020204" pitchFamily="34" charset="0"/>
                  </a:rPr>
                  <a:t>He).</a:t>
                </a:r>
              </a:p>
              <a:p>
                <a:pPr eaLnBrk="1" hangingPunct="1">
                  <a:spcBef>
                    <a:spcPct val="0"/>
                  </a:spcBef>
                  <a:buFontTx/>
                  <a:buNone/>
                </a:pPr>
                <a:endParaRPr lang="en-US" altLang="it-IT" sz="2000" b="0" dirty="0">
                  <a:solidFill>
                    <a:srgbClr val="000000"/>
                  </a:solidFill>
                  <a:cs typeface="Arial" panose="020B0604020202020204" pitchFamily="34" charset="0"/>
                </a:endParaRPr>
              </a:p>
              <a:p>
                <a:pPr eaLnBrk="1" hangingPunct="1">
                  <a:spcBef>
                    <a:spcPct val="0"/>
                  </a:spcBef>
                  <a:buFontTx/>
                  <a:buNone/>
                </a:pPr>
                <a:r>
                  <a:rPr lang="en-US" altLang="it-IT" sz="2000" b="0" dirty="0">
                    <a:solidFill>
                      <a:srgbClr val="000000"/>
                    </a:solidFill>
                    <a:cs typeface="Arial" panose="020B0604020202020204" pitchFamily="34" charset="0"/>
                  </a:rPr>
                  <a:t>But 4 </a:t>
                </a:r>
                <a:r>
                  <a:rPr lang="en-US" altLang="it-IT" sz="2000" b="0" baseline="30000" dirty="0">
                    <a:solidFill>
                      <a:srgbClr val="000000"/>
                    </a:solidFill>
                    <a:cs typeface="Arial" panose="020B0604020202020204" pitchFamily="34" charset="0"/>
                  </a:rPr>
                  <a:t>1</a:t>
                </a:r>
                <a:r>
                  <a:rPr lang="en-US" altLang="it-IT" sz="2000" b="0" dirty="0">
                    <a:solidFill>
                      <a:srgbClr val="000000"/>
                    </a:solidFill>
                    <a:cs typeface="Arial" panose="020B0604020202020204" pitchFamily="34" charset="0"/>
                  </a:rPr>
                  <a:t>H	= 1.007825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4	= 4.031280 </a:t>
                </a:r>
                <a:r>
                  <a:rPr lang="en-US" altLang="it-IT" sz="2000" b="0" i="1" dirty="0">
                    <a:solidFill>
                      <a:srgbClr val="000000"/>
                    </a:solidFill>
                    <a:cs typeface="Arial" panose="020B0604020202020204" pitchFamily="34" charset="0"/>
                  </a:rPr>
                  <a:t>u</a:t>
                </a:r>
              </a:p>
              <a:p>
                <a:pPr eaLnBrk="1" hangingPunct="1">
                  <a:spcBef>
                    <a:spcPct val="0"/>
                  </a:spcBef>
                  <a:buFontTx/>
                  <a:buNone/>
                </a:pPr>
                <a:r>
                  <a:rPr lang="en-US" altLang="it-IT" sz="2000" b="0" dirty="0">
                    <a:solidFill>
                      <a:srgbClr val="000000"/>
                    </a:solidFill>
                    <a:cs typeface="Arial" panose="020B0604020202020204" pitchFamily="34" charset="0"/>
                  </a:rPr>
                  <a:t>and 1 </a:t>
                </a:r>
                <a:r>
                  <a:rPr lang="en-US" altLang="it-IT" sz="2000" b="0" baseline="30000" dirty="0">
                    <a:solidFill>
                      <a:srgbClr val="000000"/>
                    </a:solidFill>
                    <a:cs typeface="Arial" panose="020B0604020202020204" pitchFamily="34" charset="0"/>
                  </a:rPr>
                  <a:t>4</a:t>
                </a:r>
                <a:r>
                  <a:rPr lang="en-US" altLang="it-IT" sz="2000" b="0" dirty="0">
                    <a:solidFill>
                      <a:srgbClr val="000000"/>
                    </a:solidFill>
                    <a:cs typeface="Arial" panose="020B0604020202020204" pitchFamily="34" charset="0"/>
                  </a:rPr>
                  <a:t>He	= 4.002603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4.002603 </a:t>
                </a:r>
                <a:r>
                  <a:rPr lang="en-US" altLang="it-IT" sz="2000" b="0" i="1" dirty="0">
                    <a:solidFill>
                      <a:srgbClr val="000000"/>
                    </a:solidFill>
                    <a:cs typeface="Arial" panose="020B0604020202020204" pitchFamily="34" charset="0"/>
                  </a:rPr>
                  <a:t>u</a:t>
                </a:r>
                <a:endParaRPr lang="en-US" altLang="it-IT" sz="2000" b="0" dirty="0">
                  <a:solidFill>
                    <a:srgbClr val="000000"/>
                  </a:solidFill>
                  <a:cs typeface="Arial" panose="020B0604020202020204" pitchFamily="34" charset="0"/>
                </a:endParaRPr>
              </a:p>
              <a:p>
                <a:pPr eaLnBrk="1" hangingPunct="1">
                  <a:spcBef>
                    <a:spcPct val="0"/>
                  </a:spcBef>
                  <a:buFontTx/>
                  <a:buNone/>
                </a:pPr>
                <a:r>
                  <a:rPr lang="en-US" altLang="it-IT" sz="2000" b="0" dirty="0">
                    <a:solidFill>
                      <a:srgbClr val="000000"/>
                    </a:solidFill>
                    <a:cs typeface="Arial" panose="020B0604020202020204" pitchFamily="34" charset="0"/>
                  </a:rPr>
                  <a:t>Difference 		= 0.028677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0.0071 of 4 </a:t>
                </a:r>
                <a:r>
                  <a:rPr lang="en-US" altLang="it-IT" sz="2000" b="0" baseline="30000" dirty="0">
                    <a:solidFill>
                      <a:srgbClr val="000000"/>
                    </a:solidFill>
                    <a:cs typeface="Arial" panose="020B0604020202020204" pitchFamily="34" charset="0"/>
                  </a:rPr>
                  <a:t>1</a:t>
                </a:r>
                <a:r>
                  <a:rPr lang="en-US" altLang="it-IT" sz="2000" b="0" dirty="0">
                    <a:solidFill>
                      <a:srgbClr val="000000"/>
                    </a:solidFill>
                    <a:cs typeface="Arial" panose="020B0604020202020204" pitchFamily="34" charset="0"/>
                  </a:rPr>
                  <a:t>H</a:t>
                </a:r>
              </a:p>
              <a:p>
                <a:pPr eaLnBrk="1" hangingPunct="1">
                  <a:spcBef>
                    <a:spcPct val="0"/>
                  </a:spcBef>
                  <a:buFontTx/>
                  <a:buNone/>
                </a:pPr>
                <a:endParaRPr lang="en-US" altLang="it-IT" sz="2000" b="0" dirty="0">
                  <a:solidFill>
                    <a:srgbClr val="000000"/>
                  </a:solidFill>
                  <a:cs typeface="Arial" panose="020B0604020202020204" pitchFamily="34" charset="0"/>
                </a:endParaRPr>
              </a:p>
              <a:p>
                <a:pPr algn="just" eaLnBrk="1" hangingPunct="1">
                  <a:spcBef>
                    <a:spcPct val="0"/>
                  </a:spcBef>
                  <a:buFontTx/>
                  <a:buNone/>
                </a:pPr>
                <a:r>
                  <a:rPr lang="en-US" altLang="it-IT" sz="2000" b="0" dirty="0">
                    <a:solidFill>
                      <a:srgbClr val="000000"/>
                    </a:solidFill>
                    <a:cs typeface="Arial" panose="020B0604020202020204" pitchFamily="34" charset="0"/>
                  </a:rPr>
                  <a:t>The energy released = </a:t>
                </a:r>
                <a:r>
                  <a:rPr lang="en-US" altLang="it-IT" sz="2000" b="0" i="1" dirty="0">
                    <a:solidFill>
                      <a:srgbClr val="000000"/>
                    </a:solidFill>
                    <a:cs typeface="Arial" panose="020B0604020202020204" pitchFamily="34" charset="0"/>
                  </a:rPr>
                  <a:t>mc</a:t>
                </a:r>
                <a:r>
                  <a:rPr lang="en-US" altLang="it-IT" sz="2000" b="0" baseline="30000" dirty="0">
                    <a:solidFill>
                      <a:srgbClr val="000000"/>
                    </a:solidFill>
                    <a:cs typeface="Arial" panose="020B0604020202020204" pitchFamily="34" charset="0"/>
                  </a:rPr>
                  <a:t>2</a:t>
                </a:r>
                <a:r>
                  <a:rPr lang="en-US" altLang="it-IT" sz="2000" b="0" dirty="0">
                    <a:solidFill>
                      <a:srgbClr val="000000"/>
                    </a:solidFill>
                    <a:cs typeface="Arial" panose="020B0604020202020204" pitchFamily="34" charset="0"/>
                  </a:rPr>
                  <a:t> = 0.028677 </a:t>
                </a:r>
                <a:r>
                  <a:rPr lang="en-US" altLang="it-IT" sz="2000" b="0" i="1" dirty="0">
                    <a:solidFill>
                      <a:srgbClr val="000000"/>
                    </a:solidFill>
                    <a:cs typeface="Arial" panose="020B0604020202020204" pitchFamily="34" charset="0"/>
                  </a:rPr>
                  <a:t>u</a:t>
                </a:r>
                <a:r>
                  <a:rPr lang="en-US" altLang="it-IT" sz="2000" b="0" dirty="0">
                    <a:solidFill>
                      <a:srgbClr val="000000"/>
                    </a:solidFill>
                    <a:cs typeface="Arial" panose="020B0604020202020204" pitchFamily="34" charset="0"/>
                  </a:rPr>
                  <a:t> × 1.660540 × 10</a:t>
                </a:r>
                <a:r>
                  <a:rPr lang="en-US" altLang="it-IT" sz="2000" b="0" baseline="30000" dirty="0">
                    <a:solidFill>
                      <a:srgbClr val="000000"/>
                    </a:solidFill>
                    <a:cs typeface="Arial" panose="020B0604020202020204" pitchFamily="34" charset="0"/>
                  </a:rPr>
                  <a:t>–24</a:t>
                </a:r>
                <a:r>
                  <a:rPr lang="en-US" altLang="it-IT" sz="2000" b="0" dirty="0">
                    <a:solidFill>
                      <a:srgbClr val="000000"/>
                    </a:solidFill>
                    <a:cs typeface="Arial" panose="020B0604020202020204" pitchFamily="34" charset="0"/>
                  </a:rPr>
                  <a:t> g </a:t>
                </a:r>
                <a:r>
                  <a:rPr lang="en-US" altLang="it-IT" sz="2000" b="0" i="1" dirty="0">
                    <a:solidFill>
                      <a:srgbClr val="000000"/>
                    </a:solidFill>
                    <a:cs typeface="Arial" panose="020B0604020202020204" pitchFamily="34" charset="0"/>
                  </a:rPr>
                  <a:t>c</a:t>
                </a:r>
                <a:r>
                  <a:rPr lang="en-US" altLang="it-IT" sz="2000" b="0" baseline="30000" dirty="0">
                    <a:solidFill>
                      <a:srgbClr val="000000"/>
                    </a:solidFill>
                    <a:cs typeface="Arial" panose="020B0604020202020204" pitchFamily="34" charset="0"/>
                  </a:rPr>
                  <a:t>2</a:t>
                </a:r>
              </a:p>
              <a:p>
                <a:pPr algn="just" eaLnBrk="1" hangingPunct="1">
                  <a:spcBef>
                    <a:spcPct val="0"/>
                  </a:spcBef>
                  <a:buFontTx/>
                  <a:buNone/>
                </a:pPr>
                <a:r>
                  <a:rPr lang="en-US" altLang="it-IT" sz="2000" b="0" dirty="0">
                    <a:solidFill>
                      <a:srgbClr val="000000"/>
                    </a:solidFill>
                    <a:cs typeface="Arial" panose="020B0604020202020204" pitchFamily="34" charset="0"/>
                  </a:rPr>
                  <a:t>= 26.71 MeV </a:t>
                </a:r>
                <a14:m>
                  <m:oMath xmlns:m="http://schemas.openxmlformats.org/officeDocument/2006/math">
                    <m:r>
                      <a:rPr lang="it-IT" altLang="it-IT" sz="2000" b="0" i="1" smtClean="0">
                        <a:solidFill>
                          <a:srgbClr val="000000"/>
                        </a:solidFill>
                        <a:latin typeface="Cambria Math" panose="02040503050406030204" pitchFamily="18" charset="0"/>
                        <a:cs typeface="Arial" panose="020B0604020202020204" pitchFamily="34" charset="0"/>
                      </a:rPr>
                      <m:t>∼</m:t>
                    </m:r>
                    <m:sSup>
                      <m:sSupPr>
                        <m:ctrlPr>
                          <a:rPr lang="it-IT" altLang="it-IT" sz="2000" b="0" i="1" smtClean="0">
                            <a:solidFill>
                              <a:srgbClr val="000000"/>
                            </a:solidFill>
                            <a:latin typeface="Cambria Math" panose="02040503050406030204" pitchFamily="18" charset="0"/>
                            <a:cs typeface="Arial" panose="020B0604020202020204" pitchFamily="34" charset="0"/>
                          </a:rPr>
                        </m:ctrlPr>
                      </m:sSupPr>
                      <m:e>
                        <m:r>
                          <a:rPr lang="it-IT" altLang="it-IT" sz="2000" b="0" i="1" smtClean="0">
                            <a:solidFill>
                              <a:srgbClr val="000000"/>
                            </a:solidFill>
                            <a:latin typeface="Cambria Math" panose="02040503050406030204" pitchFamily="18" charset="0"/>
                            <a:cs typeface="Arial" panose="020B0604020202020204" pitchFamily="34" charset="0"/>
                          </a:rPr>
                          <m:t>10</m:t>
                        </m:r>
                      </m:e>
                      <m:sup>
                        <m:r>
                          <a:rPr lang="it-IT" altLang="it-IT" sz="2000" b="0" i="1" smtClean="0">
                            <a:solidFill>
                              <a:srgbClr val="000000"/>
                            </a:solidFill>
                            <a:latin typeface="Cambria Math" panose="02040503050406030204" pitchFamily="18" charset="0"/>
                            <a:cs typeface="Arial" panose="020B0604020202020204" pitchFamily="34" charset="0"/>
                          </a:rPr>
                          <m:t>−12</m:t>
                        </m:r>
                      </m:sup>
                    </m:sSup>
                    <m:r>
                      <a:rPr lang="it-IT" altLang="it-IT" sz="2000" b="0" i="1" smtClean="0">
                        <a:solidFill>
                          <a:srgbClr val="000000"/>
                        </a:solidFill>
                        <a:latin typeface="Cambria Math" panose="02040503050406030204" pitchFamily="18" charset="0"/>
                        <a:cs typeface="Arial" panose="020B0604020202020204" pitchFamily="34" charset="0"/>
                      </a:rPr>
                      <m:t>𝐽</m:t>
                    </m:r>
                    <m:r>
                      <a:rPr lang="it-IT" altLang="it-IT" sz="2000" b="0" i="1" smtClean="0">
                        <a:solidFill>
                          <a:srgbClr val="000000"/>
                        </a:solidFill>
                        <a:latin typeface="Cambria Math" panose="02040503050406030204" pitchFamily="18" charset="0"/>
                        <a:cs typeface="Arial" panose="020B0604020202020204" pitchFamily="34" charset="0"/>
                      </a:rPr>
                      <m:t> →1</m:t>
                    </m:r>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𝑘𝑔</m:t>
                    </m:r>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 </m:t>
                    </m:r>
                    <m:d>
                      <m:dPr>
                        <m:ctrlP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dPr>
                      <m:e>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𝐻</m:t>
                        </m:r>
                      </m:e>
                    </m:d>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10</m:t>
                        </m:r>
                      </m:e>
                      <m:sup>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14</m:t>
                        </m:r>
                      </m:sup>
                    </m:sSup>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 </m:t>
                    </m:r>
                    <m:r>
                      <a:rPr lang="it-IT" altLang="it-IT"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𝐽</m:t>
                    </m:r>
                  </m:oMath>
                </a14:m>
                <a:r>
                  <a:rPr lang="en-US" altLang="it-IT" sz="2000" b="0" dirty="0">
                    <a:solidFill>
                      <a:srgbClr val="000000"/>
                    </a:solidFill>
                    <a:cs typeface="Arial" panose="020B0604020202020204" pitchFamily="34" charset="0"/>
                  </a:rPr>
                  <a:t> in agreement with the value of </a:t>
                </a:r>
                <a14:m>
                  <m:oMath xmlns:m="http://schemas.openxmlformats.org/officeDocument/2006/math">
                    <m:sSup>
                      <m:sSupPr>
                        <m:ctrlPr>
                          <a:rPr lang="it-IT" altLang="it-IT" sz="2000" b="0" i="1" smtClean="0">
                            <a:solidFill>
                              <a:srgbClr val="000000"/>
                            </a:solidFill>
                            <a:latin typeface="Cambria Math" panose="02040503050406030204" pitchFamily="18" charset="0"/>
                            <a:cs typeface="Arial" panose="020B0604020202020204" pitchFamily="34" charset="0"/>
                          </a:rPr>
                        </m:ctrlPr>
                      </m:sSupPr>
                      <m:e>
                        <m:r>
                          <a:rPr lang="it-IT" altLang="it-IT" sz="2000" b="0" i="1" smtClean="0">
                            <a:solidFill>
                              <a:srgbClr val="000000"/>
                            </a:solidFill>
                            <a:latin typeface="Cambria Math" panose="02040503050406030204" pitchFamily="18" charset="0"/>
                            <a:cs typeface="Arial" panose="020B0604020202020204" pitchFamily="34" charset="0"/>
                          </a:rPr>
                          <m:t>10</m:t>
                        </m:r>
                      </m:e>
                      <m:sup>
                        <m:r>
                          <a:rPr lang="it-IT" altLang="it-IT" sz="2000" b="0" i="1" smtClean="0">
                            <a:solidFill>
                              <a:srgbClr val="000000"/>
                            </a:solidFill>
                            <a:latin typeface="Cambria Math" panose="02040503050406030204" pitchFamily="18" charset="0"/>
                            <a:cs typeface="Arial" panose="020B0604020202020204" pitchFamily="34" charset="0"/>
                          </a:rPr>
                          <m:t>13</m:t>
                        </m:r>
                      </m:sup>
                    </m:sSup>
                    <m:f>
                      <m:fPr>
                        <m:ctrlPr>
                          <a:rPr lang="it-IT" altLang="it-IT" sz="2000" b="0" i="1" smtClean="0">
                            <a:solidFill>
                              <a:srgbClr val="000000"/>
                            </a:solidFill>
                            <a:latin typeface="Cambria Math" panose="02040503050406030204" pitchFamily="18" charset="0"/>
                            <a:cs typeface="Arial" panose="020B0604020202020204" pitchFamily="34" charset="0"/>
                          </a:rPr>
                        </m:ctrlPr>
                      </m:fPr>
                      <m:num>
                        <m:r>
                          <a:rPr lang="it-IT" altLang="it-IT" sz="2000" b="0" i="1" smtClean="0">
                            <a:solidFill>
                              <a:srgbClr val="000000"/>
                            </a:solidFill>
                            <a:latin typeface="Cambria Math" panose="02040503050406030204" pitchFamily="18" charset="0"/>
                            <a:cs typeface="Arial" panose="020B0604020202020204" pitchFamily="34" charset="0"/>
                          </a:rPr>
                          <m:t>𝐽</m:t>
                        </m:r>
                      </m:num>
                      <m:den>
                        <m:r>
                          <a:rPr lang="it-IT" altLang="it-IT" sz="2000" b="0" i="1" smtClean="0">
                            <a:solidFill>
                              <a:srgbClr val="000000"/>
                            </a:solidFill>
                            <a:latin typeface="Cambria Math" panose="02040503050406030204" pitchFamily="18" charset="0"/>
                            <a:cs typeface="Arial" panose="020B0604020202020204" pitchFamily="34" charset="0"/>
                          </a:rPr>
                          <m:t>𝑘𝑔</m:t>
                        </m:r>
                      </m:den>
                    </m:f>
                    <m:r>
                      <a:rPr lang="it-IT" altLang="it-IT" sz="2000" b="0" i="1" smtClean="0">
                        <a:solidFill>
                          <a:srgbClr val="000000"/>
                        </a:solidFill>
                        <a:latin typeface="Cambria Math" panose="02040503050406030204" pitchFamily="18" charset="0"/>
                        <a:cs typeface="Arial" panose="020B0604020202020204" pitchFamily="34" charset="0"/>
                      </a:rPr>
                      <m:t> </m:t>
                    </m:r>
                    <m:r>
                      <a:rPr lang="it-IT" altLang="it-IT" sz="2000" b="0" i="0" smtClean="0">
                        <a:solidFill>
                          <a:srgbClr val="000000"/>
                        </a:solidFill>
                        <a:latin typeface="Cambria Math" panose="02040503050406030204" pitchFamily="18" charset="0"/>
                        <a:cs typeface="Arial" panose="020B0604020202020204" pitchFamily="34" charset="0"/>
                      </a:rPr>
                      <m:t> </m:t>
                    </m:r>
                  </m:oMath>
                </a14:m>
                <a:r>
                  <a:rPr lang="en-US" altLang="it-IT" sz="2000" b="0" dirty="0">
                    <a:solidFill>
                      <a:srgbClr val="000000"/>
                    </a:solidFill>
                    <a:cs typeface="Arial" panose="020B0604020202020204" pitchFamily="34" charset="0"/>
                  </a:rPr>
                  <a:t>previously estimated .</a:t>
                </a:r>
              </a:p>
              <a:p>
                <a:pPr algn="just" eaLnBrk="1" hangingPunct="1">
                  <a:spcBef>
                    <a:spcPct val="0"/>
                  </a:spcBef>
                  <a:buFontTx/>
                  <a:buNone/>
                </a:pPr>
                <a:endParaRPr lang="en-US" altLang="it-IT" sz="2000" b="0" dirty="0">
                  <a:solidFill>
                    <a:srgbClr val="000000"/>
                  </a:solidFill>
                  <a:cs typeface="Arial" panose="020B0604020202020204" pitchFamily="34" charset="0"/>
                </a:endParaRPr>
              </a:p>
              <a:p>
                <a:pPr algn="just" eaLnBrk="1" hangingPunct="1">
                  <a:spcBef>
                    <a:spcPct val="0"/>
                  </a:spcBef>
                  <a:buFontTx/>
                  <a:buNone/>
                </a:pPr>
                <a:r>
                  <a:rPr lang="en-US" altLang="it-IT" sz="2000" b="0" dirty="0">
                    <a:solidFill>
                      <a:srgbClr val="000000"/>
                    </a:solidFill>
                    <a:cs typeface="Arial" panose="020B0604020202020204" pitchFamily="34" charset="0"/>
                  </a:rPr>
                  <a:t>The lifetime of a star via nuclear reactions depends upon how much of its hydrogen content is converted to energy via nuclear reactions.</a:t>
                </a:r>
              </a:p>
            </p:txBody>
          </p:sp>
        </mc:Choice>
        <mc:Fallback xmlns="">
          <p:sp>
            <p:nvSpPr>
              <p:cNvPr id="72705" name="Rectangle 2">
                <a:extLst>
                  <a:ext uri="{FF2B5EF4-FFF2-40B4-BE49-F238E27FC236}">
                    <a16:creationId xmlns:a16="http://schemas.microsoft.com/office/drawing/2014/main" id="{90CFF0C6-E1B4-0A46-A372-9954C1115B1D}"/>
                  </a:ext>
                </a:extLst>
              </p:cNvPr>
              <p:cNvSpPr>
                <a:spLocks noRot="1" noChangeAspect="1" noMove="1" noResize="1" noEditPoints="1" noAdjustHandles="1" noChangeArrowheads="1" noChangeShapeType="1" noTextEdit="1"/>
              </p:cNvSpPr>
              <p:nvPr/>
            </p:nvSpPr>
            <p:spPr bwMode="auto">
              <a:xfrm>
                <a:off x="139700" y="508000"/>
                <a:ext cx="8763000" cy="6184900"/>
              </a:xfrm>
              <a:prstGeom prst="rect">
                <a:avLst/>
              </a:prstGeom>
              <a:blipFill>
                <a:blip r:embed="rId2"/>
                <a:stretch>
                  <a:fillRect l="-725" t="-409" r="-870" b="-42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72706" name="Rectangle 2">
            <a:extLst>
              <a:ext uri="{FF2B5EF4-FFF2-40B4-BE49-F238E27FC236}">
                <a16:creationId xmlns:a16="http://schemas.microsoft.com/office/drawing/2014/main" id="{543C5EE9-F8D6-874A-A866-85AF2721186C}"/>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dirty="0">
                <a:solidFill>
                  <a:srgbClr val="FF3300"/>
                </a:solidFill>
                <a:latin typeface="Tahoma" panose="020B0604030504040204" pitchFamily="34" charset="0"/>
              </a:rPr>
              <a:t>Energy Production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9F978245-4635-6B42-92A4-A901B61B05B0}"/>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a:t>
            </a:r>
          </a:p>
        </p:txBody>
      </p:sp>
      <p:sp>
        <p:nvSpPr>
          <p:cNvPr id="88066" name="Rettangolo 2">
            <a:extLst>
              <a:ext uri="{FF2B5EF4-FFF2-40B4-BE49-F238E27FC236}">
                <a16:creationId xmlns:a16="http://schemas.microsoft.com/office/drawing/2014/main" id="{D25A2C9A-3C97-2440-A6FC-367D68337FEE}"/>
              </a:ext>
            </a:extLst>
          </p:cNvPr>
          <p:cNvSpPr>
            <a:spLocks noChangeArrowheads="1"/>
          </p:cNvSpPr>
          <p:nvPr/>
        </p:nvSpPr>
        <p:spPr bwMode="auto">
          <a:xfrm>
            <a:off x="457200" y="950913"/>
            <a:ext cx="7864475"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457200" indent="-457200" algn="just" eaLnBrk="1" hangingPunct="1">
              <a:spcBef>
                <a:spcPct val="0"/>
              </a:spcBef>
            </a:pPr>
            <a:r>
              <a:rPr lang="en-US" altLang="it-IT" sz="2600" b="0" dirty="0">
                <a:latin typeface="Gill Sans" panose="020B0502020104020203" pitchFamily="34" charset="-79"/>
                <a:cs typeface="Gill Sans" panose="020B0502020104020203" pitchFamily="34" charset="-79"/>
              </a:rPr>
              <a:t>We have shown that nuclear reactions can provide the necessary energy to power the stars (and therefore the Sun).</a:t>
            </a:r>
          </a:p>
          <a:p>
            <a:pPr marL="457200" indent="-457200" algn="just" eaLnBrk="1" hangingPunct="1">
              <a:spcBef>
                <a:spcPct val="0"/>
              </a:spcBef>
            </a:pPr>
            <a:endParaRPr lang="en-US" altLang="it-IT" sz="2600" b="0" dirty="0">
              <a:latin typeface="Gill Sans" panose="020B0502020104020203" pitchFamily="34" charset="-79"/>
              <a:cs typeface="Gill Sans" panose="020B0502020104020203" pitchFamily="34" charset="-79"/>
            </a:endParaRPr>
          </a:p>
          <a:p>
            <a:pPr marL="457200" indent="-457200" algn="just" eaLnBrk="1" hangingPunct="1">
              <a:spcBef>
                <a:spcPct val="0"/>
              </a:spcBef>
            </a:pPr>
            <a:r>
              <a:rPr lang="en-US" altLang="it-IT" sz="2600" b="0" dirty="0">
                <a:latin typeface="Gill Sans" panose="020B0502020104020203" pitchFamily="34" charset="-79"/>
                <a:cs typeface="Gill Sans" panose="020B0502020104020203" pitchFamily="34" charset="-79"/>
              </a:rPr>
              <a:t>However, to understand the rate at which energy is being produced from nuclear reactions (required in order to get an equation to solve for the star</a:t>
            </a:r>
            <a:r>
              <a:rPr lang="en-US" altLang="en-GB" sz="2600" b="0" dirty="0">
                <a:latin typeface="Gill Sans" panose="020B0502020104020203" pitchFamily="34" charset="-79"/>
                <a:cs typeface="Gill Sans" panose="020B0502020104020203" pitchFamily="34" charset="-79"/>
              </a:rPr>
              <a:t>’</a:t>
            </a:r>
            <a:r>
              <a:rPr lang="en-US" altLang="it-IT" sz="2600" b="0" dirty="0">
                <a:latin typeface="Gill Sans" panose="020B0502020104020203" pitchFamily="34" charset="-79"/>
                <a:cs typeface="Gill Sans" panose="020B0502020104020203" pitchFamily="34" charset="-79"/>
              </a:rPr>
              <a:t>s luminosity) we need an understanding of the probability that a particular nuclear reaction actually occurs.</a:t>
            </a:r>
          </a:p>
          <a:p>
            <a:pPr marL="457200" indent="-457200" algn="just" eaLnBrk="1" hangingPunct="1">
              <a:spcBef>
                <a:spcPct val="0"/>
              </a:spcBef>
            </a:pPr>
            <a:endParaRPr lang="en-US" altLang="it-IT" sz="2600" b="0" dirty="0">
              <a:latin typeface="Gill Sans" panose="020B0502020104020203" pitchFamily="34" charset="-79"/>
              <a:cs typeface="Gill Sans" panose="020B0502020104020203" pitchFamily="34" charset="-79"/>
            </a:endParaRPr>
          </a:p>
          <a:p>
            <a:pPr marL="457200" indent="-457200" algn="just" eaLnBrk="1" hangingPunct="1">
              <a:spcBef>
                <a:spcPct val="0"/>
              </a:spcBef>
            </a:pPr>
            <a:r>
              <a:rPr lang="en-US" altLang="it-IT" sz="2600" b="0" dirty="0">
                <a:latin typeface="Gill Sans" panose="020B0502020104020203" pitchFamily="34" charset="-79"/>
                <a:cs typeface="Gill Sans" panose="020B0502020104020203" pitchFamily="34" charset="-79"/>
              </a:rPr>
              <a:t>This will depend on the stellar conditions in which these reactions occur: density, temperature, abundances of interacting particles.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1C45F97C-0963-F14C-8577-76F831388A63}"/>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Quantum tunneling</a:t>
            </a:r>
          </a:p>
        </p:txBody>
      </p:sp>
      <mc:AlternateContent xmlns:mc="http://schemas.openxmlformats.org/markup-compatibility/2006" xmlns:a14="http://schemas.microsoft.com/office/drawing/2010/main">
        <mc:Choice Requires="a14">
          <p:sp>
            <p:nvSpPr>
              <p:cNvPr id="94210" name="Rettangolo 3">
                <a:extLst>
                  <a:ext uri="{FF2B5EF4-FFF2-40B4-BE49-F238E27FC236}">
                    <a16:creationId xmlns:a16="http://schemas.microsoft.com/office/drawing/2014/main" id="{13A33511-049D-2E42-A896-FA1694A8D552}"/>
                  </a:ext>
                </a:extLst>
              </p:cNvPr>
              <p:cNvSpPr>
                <a:spLocks noChangeArrowheads="1"/>
              </p:cNvSpPr>
              <p:nvPr/>
            </p:nvSpPr>
            <p:spPr bwMode="auto">
              <a:xfrm>
                <a:off x="190500" y="1017588"/>
                <a:ext cx="3860800" cy="23082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r>
                  <a:rPr lang="en-US" altLang="it-IT" sz="1600" b="0" dirty="0">
                    <a:latin typeface="Gill Sans" panose="020B0502020104020203" pitchFamily="34" charset="-79"/>
                    <a:cs typeface="Gill Sans" panose="020B0502020104020203" pitchFamily="34" charset="-79"/>
                  </a:rPr>
                  <a:t>All nuclei are positively charged and normally repel each other. </a:t>
                </a:r>
                <a:r>
                  <a:rPr lang="en-US" altLang="it-IT" sz="1600" b="0" dirty="0">
                    <a:solidFill>
                      <a:srgbClr val="FF0000"/>
                    </a:solidFill>
                    <a:latin typeface="Gill Sans" panose="020B0502020104020203" pitchFamily="34" charset="-79"/>
                    <a:cs typeface="Gill Sans" panose="020B0502020104020203" pitchFamily="34" charset="-79"/>
                  </a:rPr>
                  <a:t>Only when two nuclei are brought within about 10</a:t>
                </a:r>
                <a:r>
                  <a:rPr lang="en-US" altLang="it-IT" sz="1600" b="0" baseline="30000" dirty="0">
                    <a:solidFill>
                      <a:srgbClr val="FF0000"/>
                    </a:solidFill>
                    <a:latin typeface="Gill Sans" panose="020B0502020104020203" pitchFamily="34" charset="-79"/>
                    <a:cs typeface="Gill Sans" panose="020B0502020104020203" pitchFamily="34" charset="-79"/>
                  </a:rPr>
                  <a:t>−13 </a:t>
                </a:r>
                <a:r>
                  <a:rPr lang="en-US" altLang="it-IT" sz="1600" b="0" dirty="0">
                    <a:solidFill>
                      <a:srgbClr val="FF0000"/>
                    </a:solidFill>
                    <a:latin typeface="Gill Sans" panose="020B0502020104020203" pitchFamily="34" charset="-79"/>
                    <a:cs typeface="Gill Sans" panose="020B0502020104020203" pitchFamily="34" charset="-79"/>
                  </a:rPr>
                  <a:t>cm</a:t>
                </a:r>
                <a:r>
                  <a:rPr lang="en-US" altLang="it-IT" sz="1600" b="0" dirty="0">
                    <a:latin typeface="Gill Sans" panose="020B0502020104020203" pitchFamily="34" charset="-79"/>
                    <a:cs typeface="Gill Sans" panose="020B0502020104020203" pitchFamily="34" charset="-79"/>
                  </a:rPr>
                  <a:t>, </a:t>
                </a:r>
                <a:r>
                  <a:rPr lang="en-US" altLang="it-IT" sz="1600" b="0" dirty="0">
                    <a:solidFill>
                      <a:srgbClr val="FF0000"/>
                    </a:solidFill>
                    <a:latin typeface="Gill Sans" panose="020B0502020104020203" pitchFamily="34" charset="-79"/>
                    <a:cs typeface="Gill Sans" panose="020B0502020104020203" pitchFamily="34" charset="-79"/>
                  </a:rPr>
                  <a:t>can the short-range nuclear forces overcome the electrical repulsion and the nuclei can fuse</a:t>
                </a:r>
                <a:r>
                  <a:rPr lang="en-US" altLang="it-IT" sz="1600" b="0" dirty="0">
                    <a:latin typeface="Gill Sans" panose="020B0502020104020203" pitchFamily="34" charset="-79"/>
                    <a:cs typeface="Gill Sans" panose="020B0502020104020203" pitchFamily="34" charset="-79"/>
                  </a:rPr>
                  <a:t>. </a:t>
                </a:r>
              </a:p>
              <a:p>
                <a:pPr algn="just" eaLnBrk="1" hangingPunct="1">
                  <a:spcBef>
                    <a:spcPct val="0"/>
                  </a:spcBef>
                  <a:buFontTx/>
                  <a:buNone/>
                </a:pPr>
                <a:r>
                  <a:rPr lang="en-US" altLang="it-IT" sz="1600" b="0" dirty="0">
                    <a:latin typeface="Gill Sans" panose="020B0502020104020203" pitchFamily="34" charset="-79"/>
                    <a:cs typeface="Gill Sans" panose="020B0502020104020203" pitchFamily="34" charset="-79"/>
                  </a:rPr>
                  <a:t>For two nuclei with atomic numbers </a:t>
                </a:r>
                <a14:m>
                  <m:oMath xmlns:m="http://schemas.openxmlformats.org/officeDocument/2006/math">
                    <m:r>
                      <a:rPr lang="en-US" altLang="it-IT" sz="1600" b="0" i="1" dirty="0" smtClean="0">
                        <a:latin typeface="Cambria Math" panose="02040503050406030204" pitchFamily="18" charset="0"/>
                        <a:cs typeface="Gill Sans" panose="020B0502020104020203" pitchFamily="34" charset="-79"/>
                      </a:rPr>
                      <m:t>𝑍</m:t>
                    </m:r>
                    <m:r>
                      <a:rPr lang="en-US" altLang="it-IT" sz="1600" b="0" i="1" baseline="-25000" dirty="0">
                        <a:latin typeface="Cambria Math" panose="02040503050406030204" pitchFamily="18" charset="0"/>
                        <a:cs typeface="Gill Sans" panose="020B0502020104020203" pitchFamily="34" charset="-79"/>
                      </a:rPr>
                      <m:t>1</m:t>
                    </m:r>
                  </m:oMath>
                </a14:m>
                <a:r>
                  <a:rPr lang="en-US" altLang="it-IT" sz="1600" b="0" dirty="0">
                    <a:latin typeface="Gill Sans" panose="020B0502020104020203" pitchFamily="34" charset="-79"/>
                    <a:cs typeface="Gill Sans" panose="020B0502020104020203" pitchFamily="34" charset="-79"/>
                  </a:rPr>
                  <a:t> and</a:t>
                </a:r>
              </a:p>
              <a:p>
                <a:pPr algn="just" eaLnBrk="1" hangingPunct="1">
                  <a:spcBef>
                    <a:spcPct val="0"/>
                  </a:spcBef>
                  <a:buFontTx/>
                  <a:buNone/>
                </a:pPr>
                <a14:m>
                  <m:oMath xmlns:m="http://schemas.openxmlformats.org/officeDocument/2006/math">
                    <m:r>
                      <a:rPr lang="en-US" altLang="it-IT" sz="1600" b="0" i="1" dirty="0" smtClean="0">
                        <a:latin typeface="Cambria Math" panose="02040503050406030204" pitchFamily="18" charset="0"/>
                        <a:cs typeface="Gill Sans" panose="020B0502020104020203" pitchFamily="34" charset="-79"/>
                      </a:rPr>
                      <m:t>𝑍</m:t>
                    </m:r>
                    <m:r>
                      <a:rPr lang="en-US" altLang="it-IT" sz="1600" b="0" i="1" baseline="-25000" dirty="0">
                        <a:latin typeface="Cambria Math" panose="02040503050406030204" pitchFamily="18" charset="0"/>
                        <a:cs typeface="Gill Sans" panose="020B0502020104020203" pitchFamily="34" charset="-79"/>
                      </a:rPr>
                      <m:t>2</m:t>
                    </m:r>
                    <m:r>
                      <a:rPr lang="en-US" altLang="it-IT" sz="1600" b="0" i="1" dirty="0">
                        <a:latin typeface="Cambria Math" panose="02040503050406030204" pitchFamily="18" charset="0"/>
                        <a:cs typeface="Gill Sans" panose="020B0502020104020203" pitchFamily="34" charset="-79"/>
                      </a:rPr>
                      <m:t>, </m:t>
                    </m:r>
                  </m:oMath>
                </a14:m>
                <a:r>
                  <a:rPr lang="en-US" altLang="it-IT" sz="1600" b="0" dirty="0">
                    <a:latin typeface="Gill Sans" panose="020B0502020104020203" pitchFamily="34" charset="-79"/>
                    <a:cs typeface="Gill Sans" panose="020B0502020104020203" pitchFamily="34" charset="-79"/>
                  </a:rPr>
                  <a:t>the electrostatic potential is</a:t>
                </a:r>
              </a:p>
              <a:p>
                <a:pPr algn="just" eaLnBrk="1" hangingPunct="1">
                  <a:spcBef>
                    <a:spcPct val="0"/>
                  </a:spcBef>
                  <a:buFontTx/>
                  <a:buNone/>
                </a:pPr>
                <a:endParaRPr lang="en-US" altLang="it-IT" sz="1600" b="0" dirty="0">
                  <a:latin typeface="Gill Sans" panose="020B0502020104020203" pitchFamily="34" charset="-79"/>
                  <a:cs typeface="Gill Sans" panose="020B0502020104020203" pitchFamily="34" charset="-79"/>
                </a:endParaRPr>
              </a:p>
            </p:txBody>
          </p:sp>
        </mc:Choice>
        <mc:Fallback xmlns="">
          <p:sp>
            <p:nvSpPr>
              <p:cNvPr id="94210" name="Rettangolo 3">
                <a:extLst>
                  <a:ext uri="{FF2B5EF4-FFF2-40B4-BE49-F238E27FC236}">
                    <a16:creationId xmlns:a16="http://schemas.microsoft.com/office/drawing/2014/main" id="{13A33511-049D-2E42-A896-FA1694A8D552}"/>
                  </a:ext>
                </a:extLst>
              </p:cNvPr>
              <p:cNvSpPr>
                <a:spLocks noRot="1" noChangeAspect="1" noMove="1" noResize="1" noEditPoints="1" noAdjustHandles="1" noChangeArrowheads="1" noChangeShapeType="1" noTextEdit="1"/>
              </p:cNvSpPr>
              <p:nvPr/>
            </p:nvSpPr>
            <p:spPr bwMode="auto">
              <a:xfrm>
                <a:off x="190500" y="1017588"/>
                <a:ext cx="3860800" cy="2308225"/>
              </a:xfrm>
              <a:prstGeom prst="rect">
                <a:avLst/>
              </a:prstGeom>
              <a:blipFill>
                <a:blip r:embed="rId3"/>
                <a:stretch>
                  <a:fillRect l="-656" t="-546" r="-6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pic>
        <p:nvPicPr>
          <p:cNvPr id="94211" name="Picture 6" descr="Figure 10">
            <a:extLst>
              <a:ext uri="{FF2B5EF4-FFF2-40B4-BE49-F238E27FC236}">
                <a16:creationId xmlns:a16="http://schemas.microsoft.com/office/drawing/2014/main" id="{14874E22-CC70-0141-B427-23E133C545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0363" y="946150"/>
            <a:ext cx="4594225"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4212" name="Object 2">
            <a:extLst>
              <a:ext uri="{FF2B5EF4-FFF2-40B4-BE49-F238E27FC236}">
                <a16:creationId xmlns:a16="http://schemas.microsoft.com/office/drawing/2014/main" id="{0317502E-A9E4-E44D-A0D3-67498F1502F0}"/>
              </a:ext>
            </a:extLst>
          </p:cNvPr>
          <p:cNvGraphicFramePr>
            <a:graphicFrameLocks noChangeAspect="1"/>
          </p:cNvGraphicFramePr>
          <p:nvPr/>
        </p:nvGraphicFramePr>
        <p:xfrm>
          <a:off x="652463" y="3279775"/>
          <a:ext cx="2376487" cy="930275"/>
        </p:xfrm>
        <a:graphic>
          <a:graphicData uri="http://schemas.openxmlformats.org/presentationml/2006/ole">
            <mc:AlternateContent xmlns:mc="http://schemas.openxmlformats.org/markup-compatibility/2006">
              <mc:Choice xmlns:v="urn:schemas-microsoft-com:vml" Requires="v">
                <p:oleObj name="Equation" r:id="rId5" imgW="1168400" imgH="457200" progId="Equation.3">
                  <p:embed/>
                </p:oleObj>
              </mc:Choice>
              <mc:Fallback>
                <p:oleObj name="Equation" r:id="rId5" imgW="1168400" imgH="457200" progId="Equation.3">
                  <p:embed/>
                  <p:pic>
                    <p:nvPicPr>
                      <p:cNvPr id="94212" name="Object 2">
                        <a:extLst>
                          <a:ext uri="{FF2B5EF4-FFF2-40B4-BE49-F238E27FC236}">
                            <a16:creationId xmlns:a16="http://schemas.microsoft.com/office/drawing/2014/main" id="{0317502E-A9E4-E44D-A0D3-67498F1502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463" y="3279775"/>
                        <a:ext cx="2376487"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94213" name="Rettangolo 6">
                <a:extLst>
                  <a:ext uri="{FF2B5EF4-FFF2-40B4-BE49-F238E27FC236}">
                    <a16:creationId xmlns:a16="http://schemas.microsoft.com/office/drawing/2014/main" id="{C1227417-D820-584B-B39A-CEC044598261}"/>
                  </a:ext>
                </a:extLst>
              </p:cNvPr>
              <p:cNvSpPr>
                <a:spLocks noChangeArrowheads="1"/>
              </p:cNvSpPr>
              <p:nvPr/>
            </p:nvSpPr>
            <p:spPr bwMode="auto">
              <a:xfrm>
                <a:off x="152400" y="4926013"/>
                <a:ext cx="8801100" cy="15724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r>
                  <a:rPr lang="en-US" altLang="it-IT" sz="1600" b="0" dirty="0">
                    <a:latin typeface="Gill Sans" panose="020B0502020104020203" pitchFamily="34" charset="-79"/>
                    <a:cs typeface="Gill Sans" panose="020B0502020104020203" pitchFamily="34" charset="-79"/>
                  </a:rPr>
                  <a:t>The height of this potential at the nuclear radius </a:t>
                </a:r>
                <a14:m>
                  <m:oMath xmlns:m="http://schemas.openxmlformats.org/officeDocument/2006/math">
                    <m:r>
                      <a:rPr lang="en-US" altLang="it-IT" sz="1600" b="0" i="1" dirty="0" smtClean="0">
                        <a:latin typeface="Cambria Math" panose="02040503050406030204" pitchFamily="18" charset="0"/>
                        <a:cs typeface="Gill Sans" panose="020B0502020104020203" pitchFamily="34" charset="-79"/>
                      </a:rPr>
                      <m:t>𝑟</m:t>
                    </m:r>
                    <m:r>
                      <a:rPr lang="en-US" altLang="it-IT" sz="1600" b="0" i="1" dirty="0" smtClean="0">
                        <a:latin typeface="Cambria Math" panose="02040503050406030204" pitchFamily="18" charset="0"/>
                        <a:cs typeface="Gill Sans" panose="020B0502020104020203" pitchFamily="34" charset="-79"/>
                      </a:rPr>
                      <m:t> ≈ </m:t>
                    </m:r>
                    <m:sSup>
                      <m:sSupPr>
                        <m:ctrlPr>
                          <a:rPr lang="it-IT" altLang="it-IT" sz="1600" b="0" i="1" dirty="0" smtClean="0">
                            <a:latin typeface="Cambria Math" panose="02040503050406030204" pitchFamily="18" charset="0"/>
                            <a:cs typeface="Gill Sans" panose="020B0502020104020203" pitchFamily="34" charset="-79"/>
                          </a:rPr>
                        </m:ctrlPr>
                      </m:sSupPr>
                      <m:e>
                        <m:r>
                          <a:rPr lang="en-US" altLang="it-IT" sz="1600" b="0" i="1" dirty="0" smtClean="0">
                            <a:latin typeface="Cambria Math" panose="02040503050406030204" pitchFamily="18" charset="0"/>
                            <a:cs typeface="Gill Sans" panose="020B0502020104020203" pitchFamily="34" charset="-79"/>
                          </a:rPr>
                          <m:t>10</m:t>
                        </m:r>
                      </m:e>
                      <m:sup>
                        <m:r>
                          <a:rPr lang="it-IT" altLang="it-IT" sz="1600" b="0" i="1" dirty="0" smtClean="0">
                            <a:latin typeface="Cambria Math" panose="02040503050406030204" pitchFamily="18" charset="0"/>
                            <a:cs typeface="Gill Sans" panose="020B0502020104020203" pitchFamily="34" charset="-79"/>
                          </a:rPr>
                          <m:t>−15</m:t>
                        </m:r>
                      </m:sup>
                    </m:sSup>
                    <m:r>
                      <a:rPr lang="en-US" altLang="it-IT" sz="1600" b="0" i="1" baseline="30000" dirty="0">
                        <a:latin typeface="Cambria Math" panose="02040503050406030204" pitchFamily="18" charset="0"/>
                        <a:cs typeface="Gill Sans" panose="020B0502020104020203" pitchFamily="34" charset="-79"/>
                      </a:rPr>
                      <m:t> </m:t>
                    </m:r>
                    <m:r>
                      <a:rPr lang="en-US" altLang="it-IT" sz="1600" b="0" i="1" dirty="0">
                        <a:latin typeface="Cambria Math" panose="02040503050406030204" pitchFamily="18" charset="0"/>
                        <a:cs typeface="Gill Sans" panose="020B0502020104020203" pitchFamily="34" charset="-79"/>
                      </a:rPr>
                      <m:t>𝑐𝑚</m:t>
                    </m:r>
                    <m:r>
                      <a:rPr lang="en-US" altLang="it-IT" sz="1600" b="0" i="1" dirty="0">
                        <a:latin typeface="Cambria Math" panose="02040503050406030204" pitchFamily="18" charset="0"/>
                        <a:cs typeface="Gill Sans" panose="020B0502020104020203" pitchFamily="34" charset="-79"/>
                      </a:rPr>
                      <m:t> </m:t>
                    </m:r>
                  </m:oMath>
                </a14:m>
                <a:r>
                  <a:rPr lang="en-US" altLang="it-IT" sz="1600" b="0" dirty="0">
                    <a:latin typeface="Gill Sans" panose="020B0502020104020203" pitchFamily="34" charset="-79"/>
                    <a:cs typeface="Gill Sans" panose="020B0502020104020203" pitchFamily="34" charset="-79"/>
                  </a:rPr>
                  <a:t>turns out to be about  </a:t>
                </a:r>
                <a14:m>
                  <m:oMath xmlns:m="http://schemas.openxmlformats.org/officeDocument/2006/math">
                    <m:r>
                      <a:rPr lang="en-US" altLang="it-IT" sz="1600" b="0" i="1" dirty="0" smtClean="0">
                        <a:solidFill>
                          <a:srgbClr val="FF0000"/>
                        </a:solidFill>
                        <a:latin typeface="Cambria Math" panose="02040503050406030204" pitchFamily="18" charset="0"/>
                        <a:cs typeface="Gill Sans" panose="020B0502020104020203" pitchFamily="34" charset="-79"/>
                      </a:rPr>
                      <m:t>𝑍</m:t>
                    </m:r>
                    <m:r>
                      <a:rPr lang="en-US" altLang="it-IT" sz="1600" b="0" i="1" baseline="-25000" dirty="0">
                        <a:solidFill>
                          <a:srgbClr val="FF0000"/>
                        </a:solidFill>
                        <a:latin typeface="Cambria Math" panose="02040503050406030204" pitchFamily="18" charset="0"/>
                        <a:cs typeface="Gill Sans" panose="020B0502020104020203" pitchFamily="34" charset="-79"/>
                      </a:rPr>
                      <m:t>1</m:t>
                    </m:r>
                    <m:r>
                      <a:rPr lang="en-US" altLang="it-IT" sz="1600" b="0" i="1" dirty="0">
                        <a:solidFill>
                          <a:srgbClr val="FF0000"/>
                        </a:solidFill>
                        <a:latin typeface="Cambria Math" panose="02040503050406030204" pitchFamily="18" charset="0"/>
                        <a:cs typeface="Gill Sans" panose="020B0502020104020203" pitchFamily="34" charset="-79"/>
                      </a:rPr>
                      <m:t>𝑍</m:t>
                    </m:r>
                    <m:r>
                      <a:rPr lang="en-US" altLang="it-IT" sz="1600" b="0" i="1" baseline="-25000" dirty="0">
                        <a:solidFill>
                          <a:srgbClr val="FF0000"/>
                        </a:solidFill>
                        <a:latin typeface="Cambria Math" panose="02040503050406030204" pitchFamily="18" charset="0"/>
                        <a:cs typeface="Gill Sans" panose="020B0502020104020203" pitchFamily="34" charset="-79"/>
                      </a:rPr>
                      <m:t>2</m:t>
                    </m:r>
                  </m:oMath>
                </a14:m>
                <a:r>
                  <a:rPr lang="en-US" altLang="it-IT" sz="1600" b="0" dirty="0">
                    <a:latin typeface="Gill Sans" panose="020B0502020104020203" pitchFamily="34" charset="-79"/>
                    <a:cs typeface="Gill Sans" panose="020B0502020104020203" pitchFamily="34" charset="-79"/>
                  </a:rPr>
                  <a:t> MeV</a:t>
                </a:r>
              </a:p>
              <a:p>
                <a:pPr algn="just" eaLnBrk="1" hangingPunct="1">
                  <a:spcBef>
                    <a:spcPct val="0"/>
                  </a:spcBef>
                  <a:buFontTx/>
                  <a:buNone/>
                </a:pPr>
                <a:endParaRPr lang="en-US" altLang="it-IT" sz="16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600" b="0" dirty="0">
                    <a:latin typeface="Gill Sans" panose="020B0502020104020203" pitchFamily="34" charset="-79"/>
                    <a:cs typeface="Gill Sans" panose="020B0502020104020203" pitchFamily="34" charset="-79"/>
                  </a:rPr>
                  <a:t>At the </a:t>
                </a:r>
                <a:r>
                  <a:rPr lang="en-US" altLang="it-IT" sz="1600" b="0" dirty="0" err="1">
                    <a:latin typeface="Gill Sans" panose="020B0502020104020203" pitchFamily="34" charset="-79"/>
                    <a:cs typeface="Gill Sans" panose="020B0502020104020203" pitchFamily="34" charset="-79"/>
                  </a:rPr>
                  <a:t>centre</a:t>
                </a:r>
                <a:r>
                  <a:rPr lang="en-US" altLang="it-IT" sz="1600" b="0" dirty="0">
                    <a:latin typeface="Gill Sans" panose="020B0502020104020203" pitchFamily="34" charset="-79"/>
                    <a:cs typeface="Gill Sans" panose="020B0502020104020203" pitchFamily="34" charset="-79"/>
                  </a:rPr>
                  <a:t> of the Sun where the temperature is of order </a:t>
                </a:r>
                <a14:m>
                  <m:oMath xmlns:m="http://schemas.openxmlformats.org/officeDocument/2006/math">
                    <m:r>
                      <a:rPr lang="en-US" altLang="it-IT" sz="1600" b="0" i="1" dirty="0" smtClean="0">
                        <a:latin typeface="Cambria Math" panose="02040503050406030204" pitchFamily="18" charset="0"/>
                        <a:cs typeface="Gill Sans" panose="020B0502020104020203" pitchFamily="34" charset="-79"/>
                      </a:rPr>
                      <m:t>10</m:t>
                    </m:r>
                    <m:r>
                      <a:rPr lang="en-US" altLang="it-IT" sz="1600" b="0" i="1" baseline="30000" dirty="0" smtClean="0">
                        <a:latin typeface="Cambria Math" panose="02040503050406030204" pitchFamily="18" charset="0"/>
                        <a:cs typeface="Gill Sans" panose="020B0502020104020203" pitchFamily="34" charset="-79"/>
                      </a:rPr>
                      <m:t>7 </m:t>
                    </m:r>
                    <m:r>
                      <a:rPr lang="en-US" altLang="it-IT" sz="1600" b="0" i="1" dirty="0" smtClean="0">
                        <a:latin typeface="Cambria Math" panose="02040503050406030204" pitchFamily="18" charset="0"/>
                        <a:cs typeface="Gill Sans" panose="020B0502020104020203" pitchFamily="34" charset="-79"/>
                      </a:rPr>
                      <m:t>𝐾</m:t>
                    </m:r>
                  </m:oMath>
                </a14:m>
                <a:r>
                  <a:rPr lang="en-US" altLang="it-IT" sz="1600" b="0" dirty="0">
                    <a:latin typeface="Gill Sans" panose="020B0502020104020203" pitchFamily="34" charset="-79"/>
                    <a:cs typeface="Gill Sans" panose="020B0502020104020203" pitchFamily="34" charset="-79"/>
                  </a:rPr>
                  <a:t> then the kinetic energy of the particle </a:t>
                </a:r>
                <a14:m>
                  <m:oMath xmlns:m="http://schemas.openxmlformats.org/officeDocument/2006/math">
                    <m:r>
                      <a:rPr lang="en-US" altLang="it-IT" sz="1600" b="0" i="1" dirty="0" smtClean="0">
                        <a:latin typeface="Cambria Math" panose="02040503050406030204" pitchFamily="18" charset="0"/>
                        <a:cs typeface="Gill Sans" panose="020B0502020104020203" pitchFamily="34" charset="-79"/>
                      </a:rPr>
                      <m:t>(3/2 </m:t>
                    </m:r>
                    <m:r>
                      <a:rPr lang="en-US" altLang="it-IT" sz="1600" b="0" i="1" dirty="0" err="1">
                        <a:latin typeface="Cambria Math" panose="02040503050406030204" pitchFamily="18" charset="0"/>
                        <a:cs typeface="Gill Sans" panose="020B0502020104020203" pitchFamily="34" charset="-79"/>
                      </a:rPr>
                      <m:t>𝑘𝑇</m:t>
                    </m:r>
                    <m:r>
                      <a:rPr lang="en-US" altLang="it-IT" sz="1600" b="0" i="1" dirty="0">
                        <a:latin typeface="Cambria Math" panose="02040503050406030204" pitchFamily="18" charset="0"/>
                        <a:cs typeface="Gill Sans" panose="020B0502020104020203" pitchFamily="34" charset="-79"/>
                      </a:rPr>
                      <m:t>) </m:t>
                    </m:r>
                  </m:oMath>
                </a14:m>
                <a:r>
                  <a:rPr lang="en-US" altLang="it-IT" sz="1600" b="0" dirty="0">
                    <a:latin typeface="Gill Sans" panose="020B0502020104020203" pitchFamily="34" charset="-79"/>
                    <a:cs typeface="Gill Sans" panose="020B0502020104020203" pitchFamily="34" charset="-79"/>
                  </a:rPr>
                  <a:t>is of order of </a:t>
                </a:r>
                <a:r>
                  <a:rPr lang="en-US" altLang="it-IT" sz="1600" b="0" dirty="0" err="1">
                    <a:latin typeface="Gill Sans" panose="020B0502020104020203" pitchFamily="34" charset="-79"/>
                    <a:cs typeface="Gill Sans" panose="020B0502020104020203" pitchFamily="34" charset="-79"/>
                  </a:rPr>
                  <a:t>keV</a:t>
                </a:r>
                <a:r>
                  <a:rPr lang="en-US" altLang="it-IT" sz="1600" b="0" dirty="0">
                    <a:latin typeface="Gill Sans" panose="020B0502020104020203" pitchFamily="34" charset="-79"/>
                    <a:cs typeface="Gill Sans" panose="020B0502020104020203" pitchFamily="34" charset="-79"/>
                  </a:rPr>
                  <a:t>!!!</a:t>
                </a:r>
              </a:p>
              <a:p>
                <a:pPr algn="just" eaLnBrk="1" hangingPunct="1">
                  <a:spcBef>
                    <a:spcPct val="0"/>
                  </a:spcBef>
                  <a:buFontTx/>
                  <a:buNone/>
                </a:pPr>
                <a:endParaRPr lang="en-US" altLang="it-IT" sz="16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600" b="0" dirty="0">
                    <a:solidFill>
                      <a:srgbClr val="FF0000"/>
                    </a:solidFill>
                    <a:latin typeface="Gill Sans" panose="020B0502020104020203" pitchFamily="34" charset="-79"/>
                    <a:cs typeface="Gill Sans" panose="020B0502020104020203" pitchFamily="34" charset="-79"/>
                  </a:rPr>
                  <a:t>HOW CAN NUCLEAR FUSION OCCUR IN STAR?</a:t>
                </a:r>
              </a:p>
            </p:txBody>
          </p:sp>
        </mc:Choice>
        <mc:Fallback xmlns="">
          <p:sp>
            <p:nvSpPr>
              <p:cNvPr id="94213" name="Rettangolo 6">
                <a:extLst>
                  <a:ext uri="{FF2B5EF4-FFF2-40B4-BE49-F238E27FC236}">
                    <a16:creationId xmlns:a16="http://schemas.microsoft.com/office/drawing/2014/main" id="{C1227417-D820-584B-B39A-CEC044598261}"/>
                  </a:ext>
                </a:extLst>
              </p:cNvPr>
              <p:cNvSpPr>
                <a:spLocks noRot="1" noChangeAspect="1" noMove="1" noResize="1" noEditPoints="1" noAdjustHandles="1" noChangeArrowheads="1" noChangeShapeType="1" noTextEdit="1"/>
              </p:cNvSpPr>
              <p:nvPr/>
            </p:nvSpPr>
            <p:spPr bwMode="auto">
              <a:xfrm>
                <a:off x="152400" y="4926013"/>
                <a:ext cx="8801100" cy="1572482"/>
              </a:xfrm>
              <a:prstGeom prst="rect">
                <a:avLst/>
              </a:prstGeom>
              <a:blipFill>
                <a:blip r:embed="rId7"/>
                <a:stretch>
                  <a:fillRect l="-433" t="-1600" r="-289" b="-4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95D5DD24-9B51-1B4E-B475-EB9902EAB8C0}"/>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Quantum tunneling</a:t>
            </a:r>
          </a:p>
        </p:txBody>
      </p:sp>
      <p:sp>
        <p:nvSpPr>
          <p:cNvPr id="95234" name="Rettangolo 2">
            <a:extLst>
              <a:ext uri="{FF2B5EF4-FFF2-40B4-BE49-F238E27FC236}">
                <a16:creationId xmlns:a16="http://schemas.microsoft.com/office/drawing/2014/main" id="{E8501A62-6066-BC4A-ABEF-8392A1E46723}"/>
              </a:ext>
            </a:extLst>
          </p:cNvPr>
          <p:cNvSpPr>
            <a:spLocks noChangeArrowheads="1"/>
          </p:cNvSpPr>
          <p:nvPr/>
        </p:nvSpPr>
        <p:spPr bwMode="auto">
          <a:xfrm>
            <a:off x="215900" y="1084263"/>
            <a:ext cx="494030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285750" indent="-285750" algn="just" eaLnBrk="1" hangingPunct="1">
              <a:spcBef>
                <a:spcPct val="0"/>
              </a:spcBef>
            </a:pPr>
            <a:r>
              <a:rPr lang="en-GB" altLang="it-IT" sz="1800" b="0" dirty="0">
                <a:latin typeface="Gill Sans" panose="020B0502020104020203" pitchFamily="34" charset="-79"/>
                <a:cs typeface="Gill Sans" panose="020B0502020104020203" pitchFamily="34" charset="-79"/>
              </a:rPr>
              <a:t>As derived by Quantum Mechanics, there is a finite probability for a particle to penetrate the Coulomb barrier as if </a:t>
            </a:r>
            <a:r>
              <a:rPr lang="ja-JP" altLang="en-GB" sz="1800" b="0">
                <a:latin typeface="Gill Sans" panose="020B0502020104020203" pitchFamily="34" charset="-79"/>
                <a:cs typeface="Gill Sans" panose="020B0502020104020203" pitchFamily="34" charset="-79"/>
              </a:rPr>
              <a:t>“</a:t>
            </a:r>
            <a:r>
              <a:rPr lang="en-GB" altLang="ja-JP" sz="1800" b="0" dirty="0">
                <a:latin typeface="Gill Sans" panose="020B0502020104020203" pitchFamily="34" charset="-79"/>
                <a:cs typeface="Gill Sans" panose="020B0502020104020203" pitchFamily="34" charset="-79"/>
              </a:rPr>
              <a:t>tunnel</a:t>
            </a:r>
            <a:r>
              <a:rPr lang="ja-JP" altLang="en-GB" sz="1800" b="0">
                <a:latin typeface="Gill Sans" panose="020B0502020104020203" pitchFamily="34" charset="-79"/>
                <a:cs typeface="Gill Sans" panose="020B0502020104020203" pitchFamily="34" charset="-79"/>
              </a:rPr>
              <a:t>”</a:t>
            </a:r>
            <a:r>
              <a:rPr lang="en-GB" altLang="ja-JP" sz="1800" b="0" dirty="0">
                <a:latin typeface="Gill Sans" panose="020B0502020104020203" pitchFamily="34" charset="-79"/>
                <a:cs typeface="Gill Sans" panose="020B0502020104020203" pitchFamily="34" charset="-79"/>
              </a:rPr>
              <a:t> existed. </a:t>
            </a:r>
          </a:p>
          <a:p>
            <a:pPr marL="285750" indent="-285750" algn="just" eaLnBrk="1" hangingPunct="1">
              <a:spcBef>
                <a:spcPct val="0"/>
              </a:spcBef>
            </a:pPr>
            <a:endParaRPr lang="en-US" altLang="it-IT" sz="1800" b="0" dirty="0">
              <a:latin typeface="Gill Sans" panose="020B0502020104020203" pitchFamily="34" charset="-79"/>
              <a:cs typeface="Gill Sans" panose="020B0502020104020203" pitchFamily="34" charset="-79"/>
            </a:endParaRPr>
          </a:p>
          <a:p>
            <a:pPr marL="285750" indent="-285750" algn="just" eaLnBrk="1" hangingPunct="1">
              <a:spcBef>
                <a:spcPct val="0"/>
              </a:spcBef>
            </a:pPr>
            <a:r>
              <a:rPr lang="en-US" altLang="it-IT" sz="1800" b="0" dirty="0">
                <a:latin typeface="Gill Sans" panose="020B0502020104020203" pitchFamily="34" charset="-79"/>
                <a:cs typeface="Gill Sans" panose="020B0502020104020203" pitchFamily="34" charset="-79"/>
              </a:rPr>
              <a:t>First used to explain alpha decay of heavier elements in 1928 by George Gamow</a:t>
            </a:r>
          </a:p>
          <a:p>
            <a:pPr algn="just" eaLnBrk="1" hangingPunct="1">
              <a:spcBef>
                <a:spcPct val="0"/>
              </a:spcBef>
            </a:pPr>
            <a:endParaRPr lang="en-US" altLang="it-IT" sz="1800" b="0" dirty="0">
              <a:latin typeface="Gill Sans" panose="020B0502020104020203" pitchFamily="34" charset="-79"/>
              <a:cs typeface="Gill Sans" panose="020B0502020104020203" pitchFamily="34" charset="-79"/>
            </a:endParaRPr>
          </a:p>
          <a:p>
            <a:pPr marL="285750" indent="-285750" algn="just" eaLnBrk="1" hangingPunct="1">
              <a:spcBef>
                <a:spcPct val="0"/>
              </a:spcBef>
            </a:pPr>
            <a:r>
              <a:rPr lang="en-US" altLang="it-IT" sz="1800" b="0" dirty="0">
                <a:latin typeface="Gill Sans" panose="020B0502020104020203" pitchFamily="34" charset="-79"/>
                <a:cs typeface="Gill Sans" panose="020B0502020104020203" pitchFamily="34" charset="-79"/>
              </a:rPr>
              <a:t>Shown experimentally by Leona Esaki in 1958 in the tunneling diode</a:t>
            </a:r>
          </a:p>
          <a:p>
            <a:pPr algn="just" eaLnBrk="1" hangingPunct="1">
              <a:spcBef>
                <a:spcPct val="0"/>
              </a:spcBef>
            </a:pPr>
            <a:endParaRPr lang="en-US" altLang="it-IT" sz="1800" b="0" dirty="0">
              <a:latin typeface="Gill Sans" panose="020B0502020104020203" pitchFamily="34" charset="-79"/>
              <a:cs typeface="Gill Sans" panose="020B0502020104020203" pitchFamily="34" charset="-79"/>
            </a:endParaRPr>
          </a:p>
          <a:p>
            <a:pPr marL="285750" indent="-285750" algn="just" eaLnBrk="1" hangingPunct="1">
              <a:spcBef>
                <a:spcPct val="0"/>
              </a:spcBef>
            </a:pPr>
            <a:r>
              <a:rPr lang="en-US" altLang="it-IT" sz="1800" b="0" dirty="0">
                <a:latin typeface="Gill Sans" panose="020B0502020104020203" pitchFamily="34" charset="-79"/>
                <a:cs typeface="Gill Sans" panose="020B0502020104020203" pitchFamily="34" charset="-79"/>
              </a:rPr>
              <a:t>Consequence of the wave nature of matter. Classically, when a particle is incident on a barrier of greater energy than the particle, reflection occurs.</a:t>
            </a:r>
          </a:p>
          <a:p>
            <a:pPr algn="just" eaLnBrk="1" hangingPunct="1">
              <a:spcBef>
                <a:spcPct val="0"/>
              </a:spcBef>
            </a:pPr>
            <a:endParaRPr lang="en-US" altLang="it-IT" sz="1800" b="0" dirty="0">
              <a:latin typeface="Gill Sans" panose="020B0502020104020203" pitchFamily="34" charset="-79"/>
              <a:cs typeface="Gill Sans" panose="020B0502020104020203" pitchFamily="34" charset="-79"/>
            </a:endParaRPr>
          </a:p>
          <a:p>
            <a:pPr marL="285750" indent="-285750" algn="just" eaLnBrk="1" hangingPunct="1">
              <a:spcBef>
                <a:spcPct val="0"/>
              </a:spcBef>
            </a:pPr>
            <a:r>
              <a:rPr lang="en-US" altLang="it-IT" sz="1800" b="0" dirty="0">
                <a:latin typeface="Gill Sans" panose="020B0502020104020203" pitchFamily="34" charset="-79"/>
                <a:cs typeface="Gill Sans" panose="020B0502020104020203" pitchFamily="34" charset="-79"/>
              </a:rPr>
              <a:t>When described as a wave, the particle has a probability of existing within the barrier region, and even on the other side of it.</a:t>
            </a:r>
          </a:p>
          <a:p>
            <a:pPr marL="285750" indent="-285750" algn="just" eaLnBrk="1" hangingPunct="1">
              <a:spcBef>
                <a:spcPct val="0"/>
              </a:spcBef>
            </a:pPr>
            <a:endParaRPr lang="en-GB" altLang="it-IT" sz="1800" b="0" dirty="0">
              <a:latin typeface="Gill Sans" panose="020B0502020104020203" pitchFamily="34" charset="-79"/>
              <a:cs typeface="Gill Sans" panose="020B0502020104020203" pitchFamily="34" charset="-79"/>
            </a:endParaRPr>
          </a:p>
        </p:txBody>
      </p:sp>
      <p:pic>
        <p:nvPicPr>
          <p:cNvPr id="95235" name="Picture 6" descr="barr">
            <a:extLst>
              <a:ext uri="{FF2B5EF4-FFF2-40B4-BE49-F238E27FC236}">
                <a16:creationId xmlns:a16="http://schemas.microsoft.com/office/drawing/2014/main" id="{2973A088-2B6C-7940-ADDF-A5B8D81F4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5438" y="1930400"/>
            <a:ext cx="3459162"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079F53F7-C04F-144E-BAA3-2F3D146BDDC1}"/>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Reaction rate in stars</a:t>
            </a:r>
          </a:p>
        </p:txBody>
      </p:sp>
      <mc:AlternateContent xmlns:mc="http://schemas.openxmlformats.org/markup-compatibility/2006" xmlns:a14="http://schemas.microsoft.com/office/drawing/2010/main">
        <mc:Choice Requires="a14">
          <p:sp>
            <p:nvSpPr>
              <p:cNvPr id="96258" name="CasellaDiTesto 1">
                <a:extLst>
                  <a:ext uri="{FF2B5EF4-FFF2-40B4-BE49-F238E27FC236}">
                    <a16:creationId xmlns:a16="http://schemas.microsoft.com/office/drawing/2014/main" id="{9E864778-9F5F-C241-A847-DA2BB5D209BE}"/>
                  </a:ext>
                </a:extLst>
              </p:cNvPr>
              <p:cNvSpPr txBox="1">
                <a:spLocks noChangeArrowheads="1"/>
              </p:cNvSpPr>
              <p:nvPr/>
            </p:nvSpPr>
            <p:spPr bwMode="auto">
              <a:xfrm>
                <a:off x="0" y="1024636"/>
                <a:ext cx="9321865" cy="54200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Suppose a nucleus having charge Z</a:t>
                </a:r>
                <a:r>
                  <a:rPr lang="en-US" altLang="it-IT" sz="2000" b="0" baseline="-25000" dirty="0">
                    <a:latin typeface="Gill Sans" panose="020B0502020104020203" pitchFamily="34" charset="-79"/>
                    <a:cs typeface="Gill Sans" panose="020B0502020104020203" pitchFamily="34" charset="-79"/>
                  </a:rPr>
                  <a:t>1</a:t>
                </a:r>
                <a:r>
                  <a:rPr lang="en-US" altLang="it-IT" sz="2000" b="0" dirty="0">
                    <a:latin typeface="Gill Sans" panose="020B0502020104020203" pitchFamily="34" charset="-79"/>
                    <a:cs typeface="Gill Sans" panose="020B0502020104020203" pitchFamily="34" charset="-79"/>
                  </a:rPr>
                  <a:t>e can react with a nucleus having charge</a:t>
                </a: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Z</a:t>
                </a:r>
                <a:r>
                  <a:rPr lang="en-US" altLang="it-IT" sz="2000" b="0" baseline="-25000" dirty="0">
                    <a:latin typeface="Gill Sans" panose="020B0502020104020203" pitchFamily="34" charset="-79"/>
                    <a:cs typeface="Gill Sans" panose="020B0502020104020203" pitchFamily="34" charset="-79"/>
                  </a:rPr>
                  <a:t>2</a:t>
                </a:r>
                <a:r>
                  <a:rPr lang="en-US" altLang="it-IT" sz="2000" b="0" dirty="0">
                    <a:latin typeface="Gill Sans" panose="020B0502020104020203" pitchFamily="34" charset="-79"/>
                    <a:cs typeface="Gill Sans" panose="020B0502020104020203" pitchFamily="34" charset="-79"/>
                  </a:rPr>
                  <a:t>e, their number densities per unit volume being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𝑛</m:t>
                    </m:r>
                    <m:r>
                      <a:rPr lang="en-US" altLang="it-IT" sz="2000" b="0" i="1" baseline="-25000" dirty="0">
                        <a:latin typeface="Cambria Math" panose="02040503050406030204" pitchFamily="18" charset="0"/>
                        <a:cs typeface="Gill Sans" panose="020B0502020104020203" pitchFamily="34" charset="-79"/>
                      </a:rPr>
                      <m:t>1</m:t>
                    </m:r>
                  </m:oMath>
                </a14:m>
                <a:r>
                  <a:rPr lang="en-US" altLang="it-IT" sz="2000" b="0" dirty="0">
                    <a:latin typeface="Gill Sans" panose="020B0502020104020203" pitchFamily="34" charset="-79"/>
                    <a:cs typeface="Gill Sans" panose="020B0502020104020203" pitchFamily="34" charset="-79"/>
                  </a:rPr>
                  <a:t> and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𝑛</m:t>
                    </m:r>
                    <m:r>
                      <a:rPr lang="en-US" altLang="it-IT" sz="2000" b="0" i="1" baseline="-25000" dirty="0">
                        <a:latin typeface="Cambria Math" panose="02040503050406030204" pitchFamily="18" charset="0"/>
                        <a:cs typeface="Gill Sans" panose="020B0502020104020203" pitchFamily="34" charset="-79"/>
                      </a:rPr>
                      <m:t>2</m:t>
                    </m:r>
                  </m:oMath>
                </a14:m>
                <a:r>
                  <a:rPr lang="en-US" altLang="it-IT" sz="2000" b="0" dirty="0">
                    <a:latin typeface="Gill Sans" panose="020B0502020104020203" pitchFamily="34" charset="-79"/>
                    <a:cs typeface="Gill Sans" panose="020B0502020104020203" pitchFamily="34" charset="-79"/>
                  </a:rPr>
                  <a:t>. The reaction rate is:</a:t>
                </a: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In the central region of stars we can consider that matter is in TE and then </a:t>
                </a: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both types of nuclei have a Maxwellian velocity distribution. Then</a:t>
                </a: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the probability of the relative velocity between a pair being</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 </m:t>
                    </m:r>
                    <m:r>
                      <a:rPr lang="en-US" altLang="it-IT" sz="2000" b="0" i="1" dirty="0" smtClean="0">
                        <a:latin typeface="Cambria Math" panose="02040503050406030204" pitchFamily="18" charset="0"/>
                        <a:cs typeface="Gill Sans" panose="020B0502020104020203" pitchFamily="34" charset="-79"/>
                      </a:rPr>
                      <m:t>𝑣</m:t>
                    </m:r>
                    <m:r>
                      <a:rPr lang="en-US" altLang="it-IT" sz="2000" b="0" i="1" dirty="0" smtClean="0">
                        <a:latin typeface="Cambria Math" panose="02040503050406030204" pitchFamily="18" charset="0"/>
                        <a:cs typeface="Gill Sans" panose="020B0502020104020203" pitchFamily="34" charset="-79"/>
                      </a:rPr>
                      <m:t>  </m:t>
                    </m:r>
                  </m:oMath>
                </a14:m>
                <a:r>
                  <a:rPr lang="en-US" altLang="it-IT" sz="2000" b="0" dirty="0">
                    <a:latin typeface="Gill Sans" panose="020B0502020104020203" pitchFamily="34" charset="-79"/>
                    <a:cs typeface="Gill Sans" panose="020B0502020104020203" pitchFamily="34" charset="-79"/>
                  </a:rPr>
                  <a:t>is also </a:t>
                </a: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a Maxwellian distribution</a:t>
                </a: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where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𝑚</m:t>
                    </m:r>
                  </m:oMath>
                </a14:m>
                <a:r>
                  <a:rPr lang="en-US" altLang="it-IT" sz="2000" b="0" dirty="0">
                    <a:latin typeface="Gill Sans" panose="020B0502020104020203" pitchFamily="34" charset="-79"/>
                    <a:cs typeface="Gill Sans" panose="020B0502020104020203" pitchFamily="34" charset="-79"/>
                  </a:rPr>
                  <a:t> is the reduced mass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𝑚</m:t>
                    </m:r>
                    <m:r>
                      <a:rPr lang="en-US" altLang="it-IT" sz="2000" b="0" i="1" baseline="-25000" dirty="0">
                        <a:latin typeface="Cambria Math" panose="02040503050406030204" pitchFamily="18" charset="0"/>
                        <a:cs typeface="Gill Sans" panose="020B0502020104020203" pitchFamily="34" charset="-79"/>
                      </a:rPr>
                      <m:t>1</m:t>
                    </m:r>
                    <m:r>
                      <a:rPr lang="en-US" altLang="it-IT" sz="2000" b="0" i="1" dirty="0">
                        <a:latin typeface="Cambria Math" panose="02040503050406030204" pitchFamily="18" charset="0"/>
                        <a:cs typeface="Gill Sans" panose="020B0502020104020203" pitchFamily="34" charset="-79"/>
                      </a:rPr>
                      <m:t>𝑚</m:t>
                    </m:r>
                    <m:r>
                      <a:rPr lang="en-US" altLang="it-IT" sz="2000" b="0" i="1" baseline="-25000" dirty="0">
                        <a:latin typeface="Cambria Math" panose="02040503050406030204" pitchFamily="18" charset="0"/>
                        <a:cs typeface="Gill Sans" panose="020B0502020104020203" pitchFamily="34" charset="-79"/>
                      </a:rPr>
                      <m:t>2</m:t>
                    </m:r>
                    <m:r>
                      <a:rPr lang="en-US" altLang="it-IT" sz="2000" b="0" i="1" dirty="0">
                        <a:latin typeface="Cambria Math" panose="02040503050406030204" pitchFamily="18" charset="0"/>
                        <a:cs typeface="Gill Sans" panose="020B0502020104020203" pitchFamily="34" charset="-79"/>
                      </a:rPr>
                      <m:t>/(</m:t>
                    </m:r>
                    <m:r>
                      <a:rPr lang="en-US" altLang="it-IT" sz="2000" b="0" i="1" dirty="0">
                        <a:latin typeface="Cambria Math" panose="02040503050406030204" pitchFamily="18" charset="0"/>
                        <a:cs typeface="Gill Sans" panose="020B0502020104020203" pitchFamily="34" charset="-79"/>
                      </a:rPr>
                      <m:t>𝑚</m:t>
                    </m:r>
                    <m:r>
                      <a:rPr lang="en-US" altLang="it-IT" sz="2000" b="0" i="1" baseline="-25000" dirty="0">
                        <a:latin typeface="Cambria Math" panose="02040503050406030204" pitchFamily="18" charset="0"/>
                        <a:cs typeface="Gill Sans" panose="020B0502020104020203" pitchFamily="34" charset="-79"/>
                      </a:rPr>
                      <m:t>1</m:t>
                    </m:r>
                    <m:r>
                      <a:rPr lang="en-US" altLang="it-IT" sz="2000" b="0" i="1" dirty="0">
                        <a:latin typeface="Cambria Math" panose="02040503050406030204" pitchFamily="18" charset="0"/>
                        <a:cs typeface="Gill Sans" panose="020B0502020104020203" pitchFamily="34" charset="-79"/>
                      </a:rPr>
                      <m:t> + </m:t>
                    </m:r>
                    <m:r>
                      <a:rPr lang="en-US" altLang="it-IT" sz="2000" b="0" i="1" dirty="0">
                        <a:latin typeface="Cambria Math" panose="02040503050406030204" pitchFamily="18" charset="0"/>
                        <a:cs typeface="Gill Sans" panose="020B0502020104020203" pitchFamily="34" charset="-79"/>
                      </a:rPr>
                      <m:t>𝑚</m:t>
                    </m:r>
                    <m:r>
                      <a:rPr lang="en-US" altLang="it-IT" sz="2000" b="0" i="1" baseline="-25000" dirty="0">
                        <a:latin typeface="Cambria Math" panose="02040503050406030204" pitchFamily="18" charset="0"/>
                        <a:cs typeface="Gill Sans" panose="020B0502020104020203" pitchFamily="34" charset="-79"/>
                      </a:rPr>
                      <m:t>2</m:t>
                    </m:r>
                    <m:r>
                      <a:rPr lang="en-US" altLang="it-IT" sz="2000" b="0" i="1" dirty="0">
                        <a:latin typeface="Cambria Math" panose="02040503050406030204" pitchFamily="18" charset="0"/>
                        <a:cs typeface="Gill Sans" panose="020B0502020104020203" pitchFamily="34" charset="-79"/>
                      </a:rPr>
                      <m:t>). </m:t>
                    </m:r>
                  </m:oMath>
                </a14:m>
                <a:r>
                  <a:rPr lang="en-US" altLang="it-IT" sz="2000" b="0" dirty="0">
                    <a:latin typeface="Gill Sans" panose="020B0502020104020203" pitchFamily="34" charset="-79"/>
                    <a:cs typeface="Gill Sans" panose="020B0502020104020203" pitchFamily="34" charset="-79"/>
                  </a:rPr>
                  <a:t>In terms of the kinetic energy</a:t>
                </a:r>
              </a:p>
              <a:p>
                <a:pPr algn="just" eaLnBrk="1" hangingPunct="1">
                  <a:spcBef>
                    <a:spcPct val="0"/>
                  </a:spcBef>
                  <a:buFontTx/>
                  <a:buNone/>
                </a:pP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𝐸</m:t>
                    </m:r>
                    <m:r>
                      <a:rPr lang="en-US" altLang="it-IT" sz="2000" b="0" i="1" dirty="0" smtClean="0">
                        <a:latin typeface="Cambria Math" panose="02040503050406030204" pitchFamily="18" charset="0"/>
                        <a:cs typeface="Gill Sans" panose="020B0502020104020203" pitchFamily="34" charset="-79"/>
                      </a:rPr>
                      <m:t>= ½ </m:t>
                    </m:r>
                    <m:r>
                      <a:rPr lang="en-US" altLang="it-IT" sz="2000" b="0" i="1" dirty="0" smtClean="0">
                        <a:latin typeface="Cambria Math" panose="02040503050406030204" pitchFamily="18" charset="0"/>
                        <a:cs typeface="Gill Sans" panose="020B0502020104020203" pitchFamily="34" charset="-79"/>
                      </a:rPr>
                      <m:t>𝑚𝑣</m:t>
                    </m:r>
                    <m:r>
                      <a:rPr lang="en-US" altLang="it-IT" sz="2000" b="0" i="1" baseline="30000" dirty="0">
                        <a:latin typeface="Cambria Math" panose="02040503050406030204" pitchFamily="18" charset="0"/>
                        <a:cs typeface="Gill Sans" panose="020B0502020104020203" pitchFamily="34" charset="-79"/>
                      </a:rPr>
                      <m:t>2</m:t>
                    </m:r>
                  </m:oMath>
                </a14:m>
                <a:r>
                  <a:rPr lang="en-US" altLang="it-IT" sz="2000" b="0" baseline="30000" dirty="0">
                    <a:latin typeface="Gill Sans" panose="020B0502020104020203" pitchFamily="34" charset="-79"/>
                    <a:cs typeface="Gill Sans" panose="020B0502020104020203" pitchFamily="34" charset="-79"/>
                  </a:rPr>
                  <a:t>:</a:t>
                </a:r>
              </a:p>
              <a:p>
                <a:pPr algn="just" eaLnBrk="1" hangingPunct="1">
                  <a:spcBef>
                    <a:spcPct val="0"/>
                  </a:spcBef>
                  <a:buFontTx/>
                  <a:buNone/>
                </a:pPr>
                <a:endParaRPr lang="en-US" altLang="it-IT" sz="2000" b="0" baseline="3000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baseline="3000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latin typeface="Gill Sans" panose="020B0502020104020203" pitchFamily="34" charset="-79"/>
                    <a:cs typeface="Gill Sans" panose="020B0502020104020203" pitchFamily="34" charset="-79"/>
                  </a:rPr>
                  <a:t>Therefore:</a:t>
                </a:r>
              </a:p>
            </p:txBody>
          </p:sp>
        </mc:Choice>
        <mc:Fallback xmlns="">
          <p:sp>
            <p:nvSpPr>
              <p:cNvPr id="96258" name="CasellaDiTesto 1">
                <a:extLst>
                  <a:ext uri="{FF2B5EF4-FFF2-40B4-BE49-F238E27FC236}">
                    <a16:creationId xmlns:a16="http://schemas.microsoft.com/office/drawing/2014/main" id="{9E864778-9F5F-C241-A847-DA2BB5D209BE}"/>
                  </a:ext>
                </a:extLst>
              </p:cNvPr>
              <p:cNvSpPr txBox="1">
                <a:spLocks noRot="1" noChangeAspect="1" noMove="1" noResize="1" noEditPoints="1" noAdjustHandles="1" noChangeArrowheads="1" noChangeShapeType="1" noTextEdit="1"/>
              </p:cNvSpPr>
              <p:nvPr/>
            </p:nvSpPr>
            <p:spPr bwMode="auto">
              <a:xfrm>
                <a:off x="0" y="1024636"/>
                <a:ext cx="9321865" cy="5420010"/>
              </a:xfrm>
              <a:prstGeom prst="rect">
                <a:avLst/>
              </a:prstGeom>
              <a:blipFill>
                <a:blip r:embed="rId2"/>
                <a:stretch>
                  <a:fillRect l="-654" t="-450" b="-11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6259" name="Immagine 3">
            <a:extLst>
              <a:ext uri="{FF2B5EF4-FFF2-40B4-BE49-F238E27FC236}">
                <a16:creationId xmlns:a16="http://schemas.microsoft.com/office/drawing/2014/main" id="{44EC7CB3-C471-8041-A21B-35C6082745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000" y="1790700"/>
            <a:ext cx="17653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0" name="Immagine 4">
            <a:extLst>
              <a:ext uri="{FF2B5EF4-FFF2-40B4-BE49-F238E27FC236}">
                <a16:creationId xmlns:a16="http://schemas.microsoft.com/office/drawing/2014/main" id="{9487A64E-2F9F-3847-B28A-548D316D025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3606800"/>
            <a:ext cx="5727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1" name="Immagine 5">
            <a:extLst>
              <a:ext uri="{FF2B5EF4-FFF2-40B4-BE49-F238E27FC236}">
                <a16:creationId xmlns:a16="http://schemas.microsoft.com/office/drawing/2014/main" id="{81DB8584-E8B8-414B-97BC-0C1A8530492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66900" y="5257800"/>
            <a:ext cx="5232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F50D3160-492F-364E-841F-A24CAA944466}"/>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Reaction rate in stars</a:t>
            </a:r>
          </a:p>
        </p:txBody>
      </p:sp>
      <mc:AlternateContent xmlns:mc="http://schemas.openxmlformats.org/markup-compatibility/2006" xmlns:a14="http://schemas.microsoft.com/office/drawing/2010/main">
        <mc:Choice Requires="a14">
          <p:sp>
            <p:nvSpPr>
              <p:cNvPr id="97282" name="CasellaDiTesto 1">
                <a:extLst>
                  <a:ext uri="{FF2B5EF4-FFF2-40B4-BE49-F238E27FC236}">
                    <a16:creationId xmlns:a16="http://schemas.microsoft.com/office/drawing/2014/main" id="{BD856006-9D95-5844-8253-0B215AB42487}"/>
                  </a:ext>
                </a:extLst>
              </p:cNvPr>
              <p:cNvSpPr txBox="1">
                <a:spLocks noChangeArrowheads="1"/>
              </p:cNvSpPr>
              <p:nvPr/>
            </p:nvSpPr>
            <p:spPr bwMode="auto">
              <a:xfrm>
                <a:off x="266700" y="1003300"/>
                <a:ext cx="8623300" cy="55292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eaLnBrk="1" hangingPunct="1">
                  <a:spcBef>
                    <a:spcPct val="0"/>
                  </a:spcBef>
                  <a:buFontTx/>
                  <a:buNone/>
                </a:pPr>
                <a:r>
                  <a:rPr lang="en-GB" altLang="it-IT" sz="2000" b="0" dirty="0">
                    <a:latin typeface="Gill Sans" panose="020B0502020104020203" pitchFamily="34" charset="-79"/>
                    <a:cs typeface="Gill Sans" panose="020B0502020104020203" pitchFamily="34" charset="-79"/>
                  </a:rPr>
                  <a:t>We need only </a:t>
                </a:r>
                <a14:m>
                  <m:oMath xmlns:m="http://schemas.openxmlformats.org/officeDocument/2006/math">
                    <m:r>
                      <a:rPr lang="en-GB" altLang="it-IT" sz="2000" b="0" i="1" smtClean="0">
                        <a:latin typeface="Cambria Math" panose="02040503050406030204" pitchFamily="18" charset="0"/>
                        <a:cs typeface="Gill Sans" panose="020B0502020104020203" pitchFamily="34" charset="-79"/>
                      </a:rPr>
                      <m:t>𝜎</m:t>
                    </m:r>
                    <m:r>
                      <a:rPr lang="en-GB" altLang="it-IT" sz="2000" b="0" i="1" smtClean="0">
                        <a:latin typeface="Cambria Math" panose="02040503050406030204" pitchFamily="18" charset="0"/>
                        <a:cs typeface="Gill Sans" panose="020B0502020104020203" pitchFamily="34" charset="-79"/>
                      </a:rPr>
                      <m:t>(</m:t>
                    </m:r>
                    <m:r>
                      <a:rPr lang="en-GB" altLang="it-IT" sz="2000" b="0" i="1" smtClean="0">
                        <a:latin typeface="Cambria Math" panose="02040503050406030204" pitchFamily="18" charset="0"/>
                        <a:cs typeface="Gill Sans" panose="020B0502020104020203" pitchFamily="34" charset="-79"/>
                      </a:rPr>
                      <m:t>𝐸</m:t>
                    </m:r>
                    <m:r>
                      <a:rPr lang="en-GB" altLang="it-IT" sz="2000" b="0" i="1" smtClean="0">
                        <a:latin typeface="Cambria Math" panose="02040503050406030204" pitchFamily="18" charset="0"/>
                        <a:cs typeface="Gill Sans" panose="020B0502020104020203" pitchFamily="34" charset="-79"/>
                      </a:rPr>
                      <m:t>)</m:t>
                    </m:r>
                  </m:oMath>
                </a14:m>
                <a:r>
                  <a:rPr lang="en-GB" altLang="it-IT" sz="2000" b="0" dirty="0">
                    <a:latin typeface="Gill Sans" panose="020B0502020104020203" pitchFamily="34" charset="-79"/>
                    <a:cs typeface="Gill Sans" panose="020B0502020104020203" pitchFamily="34" charset="-79"/>
                  </a:rPr>
                  <a:t> to evaluate the reaction rate. To derive </a:t>
                </a:r>
                <a14:m>
                  <m:oMath xmlns:m="http://schemas.openxmlformats.org/officeDocument/2006/math">
                    <m:r>
                      <a:rPr lang="en-GB" altLang="it-IT" sz="2000" b="0" i="1" smtClean="0">
                        <a:latin typeface="Cambria Math" panose="02040503050406030204" pitchFamily="18" charset="0"/>
                        <a:cs typeface="Gill Sans" panose="020B0502020104020203" pitchFamily="34" charset="-79"/>
                      </a:rPr>
                      <m:t>𝜎</m:t>
                    </m:r>
                    <m:r>
                      <a:rPr lang="en-GB" altLang="it-IT" sz="2000" b="0" i="1" smtClean="0">
                        <a:latin typeface="Cambria Math" panose="02040503050406030204" pitchFamily="18" charset="0"/>
                        <a:cs typeface="Gill Sans" panose="020B0502020104020203" pitchFamily="34" charset="-79"/>
                      </a:rPr>
                      <m:t>(</m:t>
                    </m:r>
                    <m:r>
                      <a:rPr lang="en-GB" altLang="it-IT" sz="2000" b="0" i="1" smtClean="0">
                        <a:latin typeface="Cambria Math" panose="02040503050406030204" pitchFamily="18" charset="0"/>
                        <a:cs typeface="Gill Sans" panose="020B0502020104020203" pitchFamily="34" charset="-79"/>
                      </a:rPr>
                      <m:t>𝐸</m:t>
                    </m:r>
                  </m:oMath>
                </a14:m>
                <a:r>
                  <a:rPr lang="en-GB" altLang="it-IT" sz="2000" b="0" dirty="0">
                    <a:cs typeface="Gill Sans" panose="020B0502020104020203" pitchFamily="34" charset="-79"/>
                  </a:rPr>
                  <a:t>)</a:t>
                </a:r>
                <a:r>
                  <a:rPr lang="en-GB" altLang="it-IT" sz="2000" b="0" dirty="0">
                    <a:latin typeface="Gill Sans" panose="020B0502020104020203" pitchFamily="34" charset="-79"/>
                    <a:cs typeface="Gill Sans" panose="020B0502020104020203" pitchFamily="34" charset="-79"/>
                  </a:rPr>
                  <a:t>  we recall that the typical particle energy in a stellar interior is much less than the height of the nuclear potential barrier.  Hence the cross-section </a:t>
                </a:r>
                <a14:m>
                  <m:oMath xmlns:m="http://schemas.openxmlformats.org/officeDocument/2006/math">
                    <m:r>
                      <a:rPr lang="en-GB" altLang="it-IT" sz="2000" b="0" i="1" smtClean="0">
                        <a:latin typeface="Cambria Math" panose="02040503050406030204" pitchFamily="18" charset="0"/>
                        <a:cs typeface="Gill Sans" panose="020B0502020104020203" pitchFamily="34" charset="-79"/>
                      </a:rPr>
                      <m:t>𝜎</m:t>
                    </m:r>
                    <m:r>
                      <a:rPr lang="en-GB" altLang="it-IT" sz="2000" b="0" i="1" smtClean="0">
                        <a:latin typeface="Cambria Math" panose="02040503050406030204" pitchFamily="18" charset="0"/>
                        <a:cs typeface="Gill Sans" panose="020B0502020104020203" pitchFamily="34" charset="-79"/>
                      </a:rPr>
                      <m:t>(</m:t>
                    </m:r>
                    <m:r>
                      <a:rPr lang="en-GB" altLang="it-IT" sz="2000" b="0" i="1" smtClean="0">
                        <a:latin typeface="Cambria Math" panose="02040503050406030204" pitchFamily="18" charset="0"/>
                        <a:cs typeface="Gill Sans" panose="020B0502020104020203" pitchFamily="34" charset="-79"/>
                      </a:rPr>
                      <m:t>𝐸</m:t>
                    </m:r>
                    <m:r>
                      <a:rPr lang="en-GB" altLang="it-IT" sz="2000" b="0" i="1" smtClean="0">
                        <a:latin typeface="Cambria Math" panose="02040503050406030204" pitchFamily="18" charset="0"/>
                        <a:cs typeface="Gill Sans" panose="020B0502020104020203" pitchFamily="34" charset="-79"/>
                      </a:rPr>
                      <m:t>) </m:t>
                    </m:r>
                  </m:oMath>
                </a14:m>
                <a:r>
                  <a:rPr lang="en-GB" altLang="it-IT" sz="2000" b="0" dirty="0">
                    <a:latin typeface="Gill Sans" panose="020B0502020104020203" pitchFamily="34" charset="-79"/>
                    <a:cs typeface="Gill Sans" panose="020B0502020104020203" pitchFamily="34" charset="-79"/>
                  </a:rPr>
                  <a:t>has to depend on the probability of </a:t>
                </a:r>
                <a:r>
                  <a:rPr lang="en-GB" altLang="it-IT" sz="2000" b="0" dirty="0" err="1">
                    <a:latin typeface="Gill Sans" panose="020B0502020104020203" pitchFamily="34" charset="-79"/>
                    <a:cs typeface="Gill Sans" panose="020B0502020104020203" pitchFamily="34" charset="-79"/>
                  </a:rPr>
                  <a:t>tunneling</a:t>
                </a:r>
                <a:r>
                  <a:rPr lang="en-GB" altLang="it-IT" sz="2000" b="0" dirty="0">
                    <a:latin typeface="Gill Sans" panose="020B0502020104020203" pitchFamily="34" charset="-79"/>
                    <a:cs typeface="Gill Sans" panose="020B0502020104020203" pitchFamily="34" charset="-79"/>
                  </a:rPr>
                  <a:t> through this potential barrier given by (for nuclei approaching with energy </a:t>
                </a:r>
                <a14:m>
                  <m:oMath xmlns:m="http://schemas.openxmlformats.org/officeDocument/2006/math">
                    <m:r>
                      <a:rPr lang="en-GB" altLang="it-IT" sz="2000" b="0" i="1" dirty="0" smtClean="0">
                        <a:latin typeface="Cambria Math" panose="02040503050406030204" pitchFamily="18" charset="0"/>
                        <a:cs typeface="Gill Sans" panose="020B0502020104020203" pitchFamily="34" charset="-79"/>
                      </a:rPr>
                      <m:t>𝐸</m:t>
                    </m:r>
                  </m:oMath>
                </a14:m>
                <a:r>
                  <a:rPr lang="en-GB" altLang="it-IT" sz="2000" b="0" dirty="0">
                    <a:latin typeface="Gill Sans" panose="020B0502020104020203" pitchFamily="34" charset="-79"/>
                    <a:cs typeface="Gill Sans" panose="020B0502020104020203" pitchFamily="34" charset="-79"/>
                  </a:rPr>
                  <a:t>):</a:t>
                </a: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baseline="30000" dirty="0">
                  <a:latin typeface="Gill Sans" panose="020B0502020104020203" pitchFamily="34" charset="-79"/>
                  <a:cs typeface="Gill Sans" panose="020B0502020104020203" pitchFamily="34" charset="-79"/>
                </a:endParaRPr>
              </a:p>
              <a:p>
                <a:pPr algn="just" eaLnBrk="1" hangingPunct="1">
                  <a:spcBef>
                    <a:spcPct val="0"/>
                  </a:spcBef>
                  <a:buFontTx/>
                  <a:buNone/>
                </a:pPr>
                <a:r>
                  <a:rPr lang="en-GB" altLang="it-IT" sz="2000" b="0" dirty="0">
                    <a:latin typeface="Gill Sans" panose="020B0502020104020203" pitchFamily="34" charset="-79"/>
                    <a:cs typeface="Gill Sans" panose="020B0502020104020203" pitchFamily="34" charset="-79"/>
                  </a:rPr>
                  <a:t>It is found that:</a:t>
                </a: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a:p>
                <a:pPr algn="just" eaLnBrk="1" hangingPunct="1">
                  <a:spcBef>
                    <a:spcPct val="0"/>
                  </a:spcBef>
                  <a:buFontTx/>
                  <a:buNone/>
                </a:pPr>
                <a:r>
                  <a:rPr lang="en-GB" altLang="it-IT" sz="2000" b="0" dirty="0">
                    <a:latin typeface="Gill Sans" panose="020B0502020104020203" pitchFamily="34" charset="-79"/>
                    <a:cs typeface="Gill Sans" panose="020B0502020104020203" pitchFamily="34" charset="-79"/>
                  </a:rPr>
                  <a:t>where </a:t>
                </a:r>
                <a14:m>
                  <m:oMath xmlns:m="http://schemas.openxmlformats.org/officeDocument/2006/math">
                    <m:r>
                      <a:rPr lang="en-GB" altLang="it-IT" sz="2000" b="0" i="1" dirty="0" smtClean="0">
                        <a:latin typeface="Cambria Math" panose="02040503050406030204" pitchFamily="18" charset="0"/>
                        <a:cs typeface="Gill Sans" panose="020B0502020104020203" pitchFamily="34" charset="-79"/>
                      </a:rPr>
                      <m:t>𝑆</m:t>
                    </m:r>
                    <m:r>
                      <a:rPr lang="en-GB" altLang="it-IT" sz="2000" b="0" i="1" dirty="0" smtClean="0">
                        <a:latin typeface="Cambria Math" panose="02040503050406030204" pitchFamily="18" charset="0"/>
                        <a:cs typeface="Gill Sans" panose="020B0502020104020203" pitchFamily="34" charset="-79"/>
                      </a:rPr>
                      <m:t>(</m:t>
                    </m:r>
                    <m:r>
                      <a:rPr lang="en-GB" altLang="it-IT" sz="2000" b="0" i="1" dirty="0" smtClean="0">
                        <a:latin typeface="Cambria Math" panose="02040503050406030204" pitchFamily="18" charset="0"/>
                        <a:cs typeface="Gill Sans" panose="020B0502020104020203" pitchFamily="34" charset="-79"/>
                      </a:rPr>
                      <m:t>𝐸</m:t>
                    </m:r>
                    <m:r>
                      <a:rPr lang="en-GB" altLang="it-IT" sz="2000" b="0" i="1" dirty="0" smtClean="0">
                        <a:latin typeface="Cambria Math" panose="02040503050406030204" pitchFamily="18" charset="0"/>
                        <a:cs typeface="Gill Sans" panose="020B0502020104020203" pitchFamily="34" charset="-79"/>
                      </a:rPr>
                      <m:t>)</m:t>
                    </m:r>
                  </m:oMath>
                </a14:m>
                <a:r>
                  <a:rPr lang="en-GB" altLang="it-IT" sz="2000" b="0" dirty="0">
                    <a:latin typeface="Gill Sans" panose="020B0502020104020203" pitchFamily="34" charset="-79"/>
                    <a:cs typeface="Gill Sans" panose="020B0502020104020203" pitchFamily="34" charset="-79"/>
                  </a:rPr>
                  <a:t> is a slowly varying function of E. </a:t>
                </a:r>
              </a:p>
              <a:p>
                <a:pPr algn="just" eaLnBrk="1" hangingPunct="1">
                  <a:spcBef>
                    <a:spcPct val="0"/>
                  </a:spcBef>
                  <a:buFontTx/>
                  <a:buNone/>
                </a:pPr>
                <a:endParaRPr lang="en-GB" altLang="it-IT" sz="2000" b="0" dirty="0">
                  <a:latin typeface="Gill Sans" panose="020B0502020104020203" pitchFamily="34" charset="-79"/>
                  <a:cs typeface="Gill Sans" panose="020B0502020104020203" pitchFamily="34" charset="-79"/>
                </a:endParaRPr>
              </a:p>
            </p:txBody>
          </p:sp>
        </mc:Choice>
        <mc:Fallback xmlns="">
          <p:sp>
            <p:nvSpPr>
              <p:cNvPr id="97282" name="CasellaDiTesto 1">
                <a:extLst>
                  <a:ext uri="{FF2B5EF4-FFF2-40B4-BE49-F238E27FC236}">
                    <a16:creationId xmlns:a16="http://schemas.microsoft.com/office/drawing/2014/main" id="{BD856006-9D95-5844-8253-0B215AB42487}"/>
                  </a:ext>
                </a:extLst>
              </p:cNvPr>
              <p:cNvSpPr txBox="1">
                <a:spLocks noRot="1" noChangeAspect="1" noMove="1" noResize="1" noEditPoints="1" noAdjustHandles="1" noChangeArrowheads="1" noChangeShapeType="1" noTextEdit="1"/>
              </p:cNvSpPr>
              <p:nvPr/>
            </p:nvSpPr>
            <p:spPr bwMode="auto">
              <a:xfrm>
                <a:off x="266700" y="1003300"/>
                <a:ext cx="8623300" cy="5529263"/>
              </a:xfrm>
              <a:prstGeom prst="rect">
                <a:avLst/>
              </a:prstGeom>
              <a:blipFill>
                <a:blip r:embed="rId2"/>
                <a:stretch>
                  <a:fillRect l="-7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pic>
        <p:nvPicPr>
          <p:cNvPr id="97283" name="Immagine 2">
            <a:extLst>
              <a:ext uri="{FF2B5EF4-FFF2-40B4-BE49-F238E27FC236}">
                <a16:creationId xmlns:a16="http://schemas.microsoft.com/office/drawing/2014/main" id="{9DB04FAE-0DA3-4142-8DB5-4734CEE93D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05100" y="876300"/>
            <a:ext cx="36195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4" name="Immagine 6">
            <a:extLst>
              <a:ext uri="{FF2B5EF4-FFF2-40B4-BE49-F238E27FC236}">
                <a16:creationId xmlns:a16="http://schemas.microsoft.com/office/drawing/2014/main" id="{6B6AA069-19C3-F546-B149-CA8E393EC8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59000" y="3517900"/>
            <a:ext cx="44196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Immagine 7">
            <a:extLst>
              <a:ext uri="{FF2B5EF4-FFF2-40B4-BE49-F238E27FC236}">
                <a16:creationId xmlns:a16="http://schemas.microsoft.com/office/drawing/2014/main" id="{B78BD6BD-9E07-8847-BFFE-861CB839BEA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12963" y="4843463"/>
            <a:ext cx="282257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Immagine 8">
            <a:extLst>
              <a:ext uri="{FF2B5EF4-FFF2-40B4-BE49-F238E27FC236}">
                <a16:creationId xmlns:a16="http://schemas.microsoft.com/office/drawing/2014/main" id="{EFAEB1C8-9A0F-CE4D-8A9D-B74FE412C48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583238" y="4941888"/>
            <a:ext cx="26130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FCB49732-EA63-FB4F-95E4-E77D44391010}"/>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Reaction rate in stars</a:t>
            </a:r>
          </a:p>
        </p:txBody>
      </p:sp>
      <mc:AlternateContent xmlns:mc="http://schemas.openxmlformats.org/markup-compatibility/2006" xmlns:a14="http://schemas.microsoft.com/office/drawing/2010/main">
        <mc:Choice Requires="a14">
          <p:sp>
            <p:nvSpPr>
              <p:cNvPr id="98306" name="CasellaDiTesto 9">
                <a:extLst>
                  <a:ext uri="{FF2B5EF4-FFF2-40B4-BE49-F238E27FC236}">
                    <a16:creationId xmlns:a16="http://schemas.microsoft.com/office/drawing/2014/main" id="{0D2B2CB8-7641-4145-829D-5FCFBE2CE9E5}"/>
                  </a:ext>
                </a:extLst>
              </p:cNvPr>
              <p:cNvSpPr txBox="1">
                <a:spLocks noChangeArrowheads="1"/>
              </p:cNvSpPr>
              <p:nvPr/>
            </p:nvSpPr>
            <p:spPr bwMode="auto">
              <a:xfrm>
                <a:off x="266700" y="1003300"/>
                <a:ext cx="8623300" cy="13239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𝑆</m:t>
                    </m:r>
                    <m:r>
                      <a:rPr lang="en-US" altLang="it-IT" sz="2000" b="0" i="1" dirty="0" smtClean="0">
                        <a:latin typeface="Cambria Math" panose="02040503050406030204" pitchFamily="18" charset="0"/>
                        <a:cs typeface="Gill Sans" panose="020B0502020104020203" pitchFamily="34" charset="-79"/>
                      </a:rPr>
                      <m:t>(</m:t>
                    </m:r>
                    <m:r>
                      <a:rPr lang="en-US" altLang="it-IT" sz="2000" b="0" i="1" dirty="0" smtClean="0">
                        <a:latin typeface="Cambria Math" panose="02040503050406030204" pitchFamily="18" charset="0"/>
                        <a:cs typeface="Gill Sans" panose="020B0502020104020203" pitchFamily="34" charset="-79"/>
                      </a:rPr>
                      <m:t>𝐸</m:t>
                    </m:r>
                    <m:r>
                      <a:rPr lang="en-US" altLang="it-IT" sz="2000" b="0" i="1" dirty="0" smtClean="0">
                        <a:latin typeface="Cambria Math" panose="02040503050406030204" pitchFamily="18" charset="0"/>
                        <a:cs typeface="Gill Sans" panose="020B0502020104020203" pitchFamily="34" charset="-79"/>
                      </a:rPr>
                      <m:t>)</m:t>
                    </m:r>
                  </m:oMath>
                </a14:m>
                <a:r>
                  <a:rPr lang="en-US" altLang="it-IT" sz="2000" b="0" dirty="0">
                    <a:latin typeface="Gill Sans" panose="020B0502020104020203" pitchFamily="34" charset="-79"/>
                    <a:cs typeface="Gill Sans" panose="020B0502020104020203" pitchFamily="34" charset="-79"/>
                  </a:rPr>
                  <a:t> is a slowly varying function of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𝐸</m:t>
                    </m:r>
                  </m:oMath>
                </a14:m>
                <a:r>
                  <a:rPr lang="en-US" altLang="it-IT" sz="2000" b="0" dirty="0">
                    <a:latin typeface="Gill Sans" panose="020B0502020104020203" pitchFamily="34" charset="-79"/>
                    <a:cs typeface="Gill Sans" panose="020B0502020104020203" pitchFamily="34" charset="-79"/>
                  </a:rPr>
                  <a:t> and is determined experimentally. Indeed the determination of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𝑆</m:t>
                    </m:r>
                    <m:r>
                      <a:rPr lang="en-US" altLang="it-IT" sz="2000" b="0" i="1" dirty="0" smtClean="0">
                        <a:latin typeface="Cambria Math" panose="02040503050406030204" pitchFamily="18" charset="0"/>
                        <a:cs typeface="Gill Sans" panose="020B0502020104020203" pitchFamily="34" charset="-79"/>
                      </a:rPr>
                      <m:t>(</m:t>
                    </m:r>
                    <m:r>
                      <a:rPr lang="en-US" altLang="it-IT" sz="2000" b="0" i="1" dirty="0" smtClean="0">
                        <a:latin typeface="Cambria Math" panose="02040503050406030204" pitchFamily="18" charset="0"/>
                        <a:cs typeface="Gill Sans" panose="020B0502020104020203" pitchFamily="34" charset="-79"/>
                      </a:rPr>
                      <m:t>𝐸</m:t>
                    </m:r>
                    <m:r>
                      <a:rPr lang="en-US" altLang="it-IT" sz="2000" b="0" i="1" dirty="0" smtClean="0">
                        <a:latin typeface="Cambria Math" panose="02040503050406030204" pitchFamily="18" charset="0"/>
                        <a:cs typeface="Gill Sans" panose="020B0502020104020203" pitchFamily="34" charset="-79"/>
                      </a:rPr>
                      <m:t>)</m:t>
                    </m:r>
                  </m:oMath>
                </a14:m>
                <a:r>
                  <a:rPr lang="en-US" altLang="it-IT" sz="2000" b="0" dirty="0">
                    <a:latin typeface="Gill Sans" panose="020B0502020104020203" pitchFamily="34" charset="-79"/>
                    <a:cs typeface="Gill Sans" panose="020B0502020104020203" pitchFamily="34" charset="-79"/>
                  </a:rPr>
                  <a:t>  is a problem of major interest for all calculations in astrophysical and cosmological nucleosynthesis. </a:t>
                </a:r>
              </a:p>
              <a:p>
                <a:pPr algn="just"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p:txBody>
          </p:sp>
        </mc:Choice>
        <mc:Fallback xmlns="">
          <p:sp>
            <p:nvSpPr>
              <p:cNvPr id="98306" name="CasellaDiTesto 9">
                <a:extLst>
                  <a:ext uri="{FF2B5EF4-FFF2-40B4-BE49-F238E27FC236}">
                    <a16:creationId xmlns:a16="http://schemas.microsoft.com/office/drawing/2014/main" id="{0D2B2CB8-7641-4145-829D-5FCFBE2CE9E5}"/>
                  </a:ext>
                </a:extLst>
              </p:cNvPr>
              <p:cNvSpPr txBox="1">
                <a:spLocks noRot="1" noChangeAspect="1" noMove="1" noResize="1" noEditPoints="1" noAdjustHandles="1" noChangeArrowheads="1" noChangeShapeType="1" noTextEdit="1"/>
              </p:cNvSpPr>
              <p:nvPr/>
            </p:nvSpPr>
            <p:spPr bwMode="auto">
              <a:xfrm>
                <a:off x="266700" y="1003300"/>
                <a:ext cx="8623300" cy="1323975"/>
              </a:xfrm>
              <a:prstGeom prst="rect">
                <a:avLst/>
              </a:prstGeom>
              <a:blipFill>
                <a:blip r:embed="rId2"/>
                <a:stretch>
                  <a:fillRect l="-735" t="-19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pic>
        <p:nvPicPr>
          <p:cNvPr id="98307" name="Immagine 3">
            <a:extLst>
              <a:ext uri="{FF2B5EF4-FFF2-40B4-BE49-F238E27FC236}">
                <a16:creationId xmlns:a16="http://schemas.microsoft.com/office/drawing/2014/main" id="{F0383B4C-93E0-BD41-A7F7-C5D7892984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184400"/>
            <a:ext cx="488950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98308" name="Rettangolo 4">
                <a:extLst>
                  <a:ext uri="{FF2B5EF4-FFF2-40B4-BE49-F238E27FC236}">
                    <a16:creationId xmlns:a16="http://schemas.microsoft.com/office/drawing/2014/main" id="{25E70D8C-070E-5944-A33A-5701E317D35A}"/>
                  </a:ext>
                </a:extLst>
              </p:cNvPr>
              <p:cNvSpPr>
                <a:spLocks noChangeArrowheads="1"/>
              </p:cNvSpPr>
              <p:nvPr/>
            </p:nvSpPr>
            <p:spPr bwMode="auto">
              <a:xfrm>
                <a:off x="419100" y="5575300"/>
                <a:ext cx="7569200" cy="7080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Cross-section and S(E) for </a:t>
                </a:r>
                <a14:m>
                  <m:oMath xmlns:m="http://schemas.openxmlformats.org/officeDocument/2006/math">
                    <m:r>
                      <a:rPr lang="en-US" altLang="it-IT" sz="2000" b="0" i="1" baseline="30000" dirty="0" smtClean="0">
                        <a:latin typeface="Cambria Math" panose="02040503050406030204" pitchFamily="18" charset="0"/>
                        <a:cs typeface="Gill Sans" panose="020B0502020104020203" pitchFamily="34" charset="-79"/>
                      </a:rPr>
                      <m:t>3</m:t>
                    </m:r>
                    <m:r>
                      <a:rPr lang="en-US" altLang="it-IT" sz="2000" b="0" i="1" dirty="0">
                        <a:latin typeface="Cambria Math" panose="02040503050406030204" pitchFamily="18" charset="0"/>
                        <a:cs typeface="Gill Sans" panose="020B0502020104020203" pitchFamily="34" charset="-79"/>
                      </a:rPr>
                      <m:t>𝐻𝑒</m:t>
                    </m:r>
                    <m:r>
                      <a:rPr lang="en-US" altLang="it-IT" sz="2000" b="0" i="1" dirty="0">
                        <a:latin typeface="Cambria Math" panose="02040503050406030204" pitchFamily="18" charset="0"/>
                        <a:cs typeface="Gill Sans" panose="020B0502020104020203" pitchFamily="34" charset="-79"/>
                      </a:rPr>
                      <m:t> + 3</m:t>
                    </m:r>
                    <m:r>
                      <a:rPr lang="en-US" altLang="it-IT" sz="2000" b="0" i="1" dirty="0">
                        <a:latin typeface="Cambria Math" panose="02040503050406030204" pitchFamily="18" charset="0"/>
                        <a:cs typeface="Gill Sans" panose="020B0502020104020203" pitchFamily="34" charset="-79"/>
                      </a:rPr>
                      <m:t>𝐻𝑒</m:t>
                    </m:r>
                    <m:r>
                      <a:rPr lang="en-US" altLang="it-IT" sz="2000" b="0" i="1" dirty="0">
                        <a:latin typeface="Cambria Math" panose="02040503050406030204" pitchFamily="18" charset="0"/>
                        <a:cs typeface="Gill Sans" panose="020B0502020104020203" pitchFamily="34" charset="-79"/>
                      </a:rPr>
                      <m:t> →4</m:t>
                    </m:r>
                    <m:r>
                      <a:rPr lang="en-US" altLang="it-IT" sz="2000" b="0" i="1" dirty="0">
                        <a:latin typeface="Cambria Math" panose="02040503050406030204" pitchFamily="18" charset="0"/>
                        <a:cs typeface="Gill Sans" panose="020B0502020104020203" pitchFamily="34" charset="-79"/>
                      </a:rPr>
                      <m:t>𝐻𝑒</m:t>
                    </m:r>
                    <m:r>
                      <a:rPr lang="en-US" altLang="it-IT" sz="2000" b="0" i="1" dirty="0">
                        <a:latin typeface="Cambria Math" panose="02040503050406030204" pitchFamily="18" charset="0"/>
                        <a:cs typeface="Gill Sans" panose="020B0502020104020203" pitchFamily="34" charset="-79"/>
                      </a:rPr>
                      <m:t>+</m:t>
                    </m:r>
                    <m:r>
                      <a:rPr lang="en-US" altLang="it-IT" sz="2000" b="0" i="1" dirty="0">
                        <a:latin typeface="Cambria Math" panose="02040503050406030204" pitchFamily="18" charset="0"/>
                        <a:cs typeface="Gill Sans" panose="020B0502020104020203" pitchFamily="34" charset="-79"/>
                      </a:rPr>
                      <m:t>𝑝</m:t>
                    </m:r>
                    <m:r>
                      <a:rPr lang="en-US" altLang="it-IT" sz="2000" b="0" i="1" dirty="0">
                        <a:latin typeface="Cambria Math" panose="02040503050406030204" pitchFamily="18" charset="0"/>
                        <a:cs typeface="Gill Sans" panose="020B0502020104020203" pitchFamily="34" charset="-79"/>
                      </a:rPr>
                      <m:t>+</m:t>
                    </m:r>
                    <m:r>
                      <a:rPr lang="en-US" altLang="it-IT" sz="2000" b="0" i="1" dirty="0">
                        <a:latin typeface="Cambria Math" panose="02040503050406030204" pitchFamily="18" charset="0"/>
                        <a:cs typeface="Gill Sans" panose="020B0502020104020203" pitchFamily="34" charset="-79"/>
                      </a:rPr>
                      <m:t>𝑝</m:t>
                    </m:r>
                  </m:oMath>
                </a14:m>
                <a:r>
                  <a:rPr lang="en-US" altLang="it-IT" sz="2000" b="0" dirty="0">
                    <a:latin typeface="Gill Sans" panose="020B0502020104020203" pitchFamily="34" charset="-79"/>
                    <a:cs typeface="Gill Sans" panose="020B0502020104020203" pitchFamily="34" charset="-79"/>
                  </a:rPr>
                  <a:t>, as measured by the </a:t>
                </a:r>
                <a:r>
                  <a:rPr lang="en-US" altLang="it-IT" sz="2000" b="0" i="1" dirty="0">
                    <a:latin typeface="Gill Sans" panose="020B0502020104020203" pitchFamily="34" charset="-79"/>
                    <a:cs typeface="Gill Sans" panose="020B0502020104020203" pitchFamily="34" charset="-79"/>
                  </a:rPr>
                  <a:t>LUNA</a:t>
                </a:r>
                <a:r>
                  <a:rPr lang="en-US" altLang="it-IT" sz="2000" b="0" dirty="0">
                    <a:latin typeface="Gill Sans" panose="020B0502020104020203" pitchFamily="34" charset="-79"/>
                    <a:cs typeface="Gill Sans" panose="020B0502020104020203" pitchFamily="34" charset="-79"/>
                  </a:rPr>
                  <a:t> underground accelerator facility (INFN-Gran </a:t>
                </a:r>
                <a:r>
                  <a:rPr lang="en-US" altLang="it-IT" sz="2000" b="0" dirty="0" err="1">
                    <a:latin typeface="Gill Sans" panose="020B0502020104020203" pitchFamily="34" charset="-79"/>
                    <a:cs typeface="Gill Sans" panose="020B0502020104020203" pitchFamily="34" charset="-79"/>
                  </a:rPr>
                  <a:t>Sasso</a:t>
                </a:r>
                <a:r>
                  <a:rPr lang="en-US" altLang="it-IT" sz="2000" b="0" dirty="0">
                    <a:latin typeface="Gill Sans" panose="020B0502020104020203" pitchFamily="34" charset="-79"/>
                    <a:cs typeface="Gill Sans" panose="020B0502020104020203" pitchFamily="34" charset="-79"/>
                  </a:rPr>
                  <a:t>)</a:t>
                </a:r>
              </a:p>
            </p:txBody>
          </p:sp>
        </mc:Choice>
        <mc:Fallback xmlns="">
          <p:sp>
            <p:nvSpPr>
              <p:cNvPr id="98308" name="Rettangolo 4">
                <a:extLst>
                  <a:ext uri="{FF2B5EF4-FFF2-40B4-BE49-F238E27FC236}">
                    <a16:creationId xmlns:a16="http://schemas.microsoft.com/office/drawing/2014/main" id="{25E70D8C-070E-5944-A33A-5701E317D35A}"/>
                  </a:ext>
                </a:extLst>
              </p:cNvPr>
              <p:cNvSpPr>
                <a:spLocks noRot="1" noChangeAspect="1" noMove="1" noResize="1" noEditPoints="1" noAdjustHandles="1" noChangeArrowheads="1" noChangeShapeType="1" noTextEdit="1"/>
              </p:cNvSpPr>
              <p:nvPr/>
            </p:nvSpPr>
            <p:spPr bwMode="auto">
              <a:xfrm>
                <a:off x="419100" y="5575300"/>
                <a:ext cx="7569200" cy="708025"/>
              </a:xfrm>
              <a:prstGeom prst="rect">
                <a:avLst/>
              </a:prstGeom>
              <a:blipFill>
                <a:blip r:embed="rId4"/>
                <a:stretch>
                  <a:fillRect l="-838" t="-3509" b="-140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47AB358A-E790-F341-ABE5-D9FCE567DEC7}"/>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b="0">
                <a:solidFill>
                  <a:srgbClr val="FF3300"/>
                </a:solidFill>
                <a:latin typeface="Gill Sans" panose="020B0502020104020203" pitchFamily="34" charset="-79"/>
                <a:cs typeface="Gill Sans" panose="020B0502020104020203" pitchFamily="34" charset="-79"/>
              </a:rPr>
              <a:t>Nuclear Reaction: Reaction rate in stars</a:t>
            </a:r>
          </a:p>
        </p:txBody>
      </p:sp>
      <p:pic>
        <p:nvPicPr>
          <p:cNvPr id="99330" name="Immagine 2">
            <a:extLst>
              <a:ext uri="{FF2B5EF4-FFF2-40B4-BE49-F238E27FC236}">
                <a16:creationId xmlns:a16="http://schemas.microsoft.com/office/drawing/2014/main" id="{8E184CCD-0690-C945-A97B-418B41B286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7600" y="1714500"/>
            <a:ext cx="64262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99331" name="CasellaDiTesto 3">
                <a:extLst>
                  <a:ext uri="{FF2B5EF4-FFF2-40B4-BE49-F238E27FC236}">
                    <a16:creationId xmlns:a16="http://schemas.microsoft.com/office/drawing/2014/main" id="{FC42CD49-CEA8-194A-A436-92D793DBA777}"/>
                  </a:ext>
                </a:extLst>
              </p:cNvPr>
              <p:cNvSpPr txBox="1">
                <a:spLocks noChangeArrowheads="1"/>
              </p:cNvSpPr>
              <p:nvPr/>
            </p:nvSpPr>
            <p:spPr bwMode="auto">
              <a:xfrm>
                <a:off x="622300" y="1028700"/>
                <a:ext cx="7607300" cy="54271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The final results is:</a:t>
                </a: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Where:</a:t>
                </a:r>
              </a:p>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                         decreases rapidly with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𝐸</m:t>
                    </m:r>
                  </m:oMath>
                </a14:m>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                         increase rapidly with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𝐸</m:t>
                    </m:r>
                  </m:oMath>
                </a14:m>
                <a:r>
                  <a:rPr lang="en-US" altLang="it-IT" sz="2000" b="0" dirty="0">
                    <a:latin typeface="Gill Sans" panose="020B0502020104020203" pitchFamily="34" charset="-79"/>
                    <a:cs typeface="Gill Sans" panose="020B0502020104020203" pitchFamily="34" charset="-79"/>
                  </a:rPr>
                  <a:t>. </a:t>
                </a: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a:p>
                <a:pPr eaLnBrk="1" hangingPunct="1">
                  <a:spcBef>
                    <a:spcPct val="0"/>
                  </a:spcBef>
                  <a:buFontTx/>
                  <a:buNone/>
                </a:pPr>
                <a:r>
                  <a:rPr lang="en-US" altLang="it-IT" sz="2000" b="0" dirty="0">
                    <a:latin typeface="Gill Sans" panose="020B0502020104020203" pitchFamily="34" charset="-79"/>
                    <a:cs typeface="Gill Sans" panose="020B0502020104020203" pitchFamily="34" charset="-79"/>
                  </a:rPr>
                  <a:t>Their product has an appreciable value only for a narrow range of energy around </a:t>
                </a:r>
                <a14:m>
                  <m:oMath xmlns:m="http://schemas.openxmlformats.org/officeDocument/2006/math">
                    <m:r>
                      <a:rPr lang="en-US" altLang="it-IT" sz="2000" b="0" i="1" dirty="0" smtClean="0">
                        <a:latin typeface="Cambria Math" panose="02040503050406030204" pitchFamily="18" charset="0"/>
                        <a:cs typeface="Gill Sans" panose="020B0502020104020203" pitchFamily="34" charset="-79"/>
                      </a:rPr>
                      <m:t>𝐸</m:t>
                    </m:r>
                    <m:r>
                      <a:rPr lang="en-US" altLang="it-IT" sz="2000" b="0" i="1" baseline="-25000" dirty="0">
                        <a:latin typeface="Cambria Math" panose="02040503050406030204" pitchFamily="18" charset="0"/>
                        <a:cs typeface="Gill Sans" panose="020B0502020104020203" pitchFamily="34" charset="-79"/>
                      </a:rPr>
                      <m:t>0</m:t>
                    </m:r>
                  </m:oMath>
                </a14:m>
                <a:r>
                  <a:rPr lang="en-US" altLang="it-IT" sz="2000" b="0" dirty="0">
                    <a:latin typeface="Gill Sans" panose="020B0502020104020203" pitchFamily="34" charset="-79"/>
                    <a:cs typeface="Gill Sans" panose="020B0502020104020203" pitchFamily="34" charset="-79"/>
                  </a:rPr>
                  <a:t> – </a:t>
                </a:r>
                <a:r>
                  <a:rPr lang="en-US" altLang="it-IT" sz="2000" b="0" dirty="0">
                    <a:solidFill>
                      <a:srgbClr val="FF0000"/>
                    </a:solidFill>
                    <a:latin typeface="Gill Sans" panose="020B0502020104020203" pitchFamily="34" charset="-79"/>
                    <a:cs typeface="Gill Sans" panose="020B0502020104020203" pitchFamily="34" charset="-79"/>
                  </a:rPr>
                  <a:t>The Gamow Energy</a:t>
                </a:r>
                <a:r>
                  <a:rPr lang="en-US" altLang="it-IT" sz="2000" b="0" dirty="0">
                    <a:latin typeface="Gill Sans" panose="020B0502020104020203" pitchFamily="34" charset="-79"/>
                    <a:cs typeface="Gill Sans" panose="020B0502020104020203" pitchFamily="34" charset="-79"/>
                  </a:rPr>
                  <a:t>.</a:t>
                </a:r>
              </a:p>
              <a:p>
                <a:pPr eaLnBrk="1" hangingPunct="1">
                  <a:spcBef>
                    <a:spcPct val="0"/>
                  </a:spcBef>
                  <a:buFontTx/>
                  <a:buNone/>
                </a:pPr>
                <a:endParaRPr lang="en-US" altLang="it-IT" sz="2000" b="0" baseline="-2500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baseline="-2500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baseline="-2500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baseline="-2500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baseline="-25000" dirty="0">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2000" b="0" dirty="0">
                  <a:latin typeface="Gill Sans" panose="020B0502020104020203" pitchFamily="34" charset="-79"/>
                  <a:cs typeface="Gill Sans" panose="020B0502020104020203" pitchFamily="34" charset="-79"/>
                </a:endParaRPr>
              </a:p>
            </p:txBody>
          </p:sp>
        </mc:Choice>
        <mc:Fallback xmlns="">
          <p:sp>
            <p:nvSpPr>
              <p:cNvPr id="99331" name="CasellaDiTesto 3">
                <a:extLst>
                  <a:ext uri="{FF2B5EF4-FFF2-40B4-BE49-F238E27FC236}">
                    <a16:creationId xmlns:a16="http://schemas.microsoft.com/office/drawing/2014/main" id="{FC42CD49-CEA8-194A-A436-92D793DBA777}"/>
                  </a:ext>
                </a:extLst>
              </p:cNvPr>
              <p:cNvSpPr txBox="1">
                <a:spLocks noRot="1" noChangeAspect="1" noMove="1" noResize="1" noEditPoints="1" noAdjustHandles="1" noChangeArrowheads="1" noChangeShapeType="1" noTextEdit="1"/>
              </p:cNvSpPr>
              <p:nvPr/>
            </p:nvSpPr>
            <p:spPr bwMode="auto">
              <a:xfrm>
                <a:off x="622300" y="1028700"/>
                <a:ext cx="7607300" cy="5427127"/>
              </a:xfrm>
              <a:prstGeom prst="rect">
                <a:avLst/>
              </a:prstGeom>
              <a:blipFill>
                <a:blip r:embed="rId3"/>
                <a:stretch>
                  <a:fillRect l="-801" t="-562" r="-8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9332" name="Immagine 4">
            <a:extLst>
              <a:ext uri="{FF2B5EF4-FFF2-40B4-BE49-F238E27FC236}">
                <a16:creationId xmlns:a16="http://schemas.microsoft.com/office/drawing/2014/main" id="{1E0968CB-F40E-E84A-B5ED-D571E31E000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238500"/>
            <a:ext cx="1701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3" name="Immagine 5">
            <a:extLst>
              <a:ext uri="{FF2B5EF4-FFF2-40B4-BE49-F238E27FC236}">
                <a16:creationId xmlns:a16="http://schemas.microsoft.com/office/drawing/2014/main" id="{C878BD01-9842-9743-B96F-278F7420A5F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797300"/>
            <a:ext cx="15875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Immagine 7">
            <a:extLst>
              <a:ext uri="{FF2B5EF4-FFF2-40B4-BE49-F238E27FC236}">
                <a16:creationId xmlns:a16="http://schemas.microsoft.com/office/drawing/2014/main" id="{20C5EBBA-F2F7-7B41-8187-F4286C57E99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022600" y="5168900"/>
            <a:ext cx="238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CD020E40-E5DF-CB41-BB00-41B68508F54A}"/>
              </a:ext>
            </a:extLst>
          </p:cNvPr>
          <p:cNvSpPr txBox="1">
            <a:spLocks noChangeArrowheads="1"/>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1800">
                <a:solidFill>
                  <a:srgbClr val="FF3300"/>
                </a:solidFill>
                <a:latin typeface="Tahoma" panose="020B0604030504040204" pitchFamily="34" charset="0"/>
              </a:rPr>
              <a:t>Nuclear Reaction: The Gamow peak</a:t>
            </a:r>
          </a:p>
        </p:txBody>
      </p:sp>
      <p:pic>
        <p:nvPicPr>
          <p:cNvPr id="100354" name="Immagine 6">
            <a:extLst>
              <a:ext uri="{FF2B5EF4-FFF2-40B4-BE49-F238E27FC236}">
                <a16:creationId xmlns:a16="http://schemas.microsoft.com/office/drawing/2014/main" id="{0FE5CDD0-E8EF-1A43-B515-1534E3D7F7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5200" y="614680"/>
            <a:ext cx="70231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01901B7-B0A6-FEBE-9C3A-AFC2E92422C1}"/>
              </a:ext>
            </a:extLst>
          </p:cNvPr>
          <p:cNvSpPr txBox="1"/>
          <p:nvPr/>
        </p:nvSpPr>
        <p:spPr>
          <a:xfrm>
            <a:off x="804672" y="5842337"/>
            <a:ext cx="7882128" cy="1015663"/>
          </a:xfrm>
          <a:prstGeom prst="rect">
            <a:avLst/>
          </a:prstGeom>
          <a:noFill/>
        </p:spPr>
        <p:txBody>
          <a:bodyPr wrap="square">
            <a:spAutoFit/>
          </a:bodyPr>
          <a:lstStyle/>
          <a:p>
            <a:pPr eaLnBrk="1" hangingPunct="1">
              <a:spcBef>
                <a:spcPct val="0"/>
              </a:spcBef>
              <a:buFontTx/>
              <a:buNone/>
            </a:pPr>
            <a:r>
              <a:rPr lang="en-US" sz="2000" b="0" dirty="0"/>
              <a:t>Most fusion reactions take place between particles with relative energies lying within the Gamow peak. The area under the Gamow peak determines the reaction rate.</a:t>
            </a:r>
            <a:endParaRPr lang="en-US" altLang="it-IT" sz="2000" b="0" baseline="-25000" dirty="0">
              <a:latin typeface="Gill Sans" panose="020B0502020104020203" pitchFamily="34" charset="-79"/>
              <a:cs typeface="Gill Sans" panose="020B0502020104020203" pitchFamily="34" charset="-79"/>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440347CE-C4DB-1343-B26E-621C83D563C4}"/>
              </a:ext>
            </a:extLst>
          </p:cNvPr>
          <p:cNvSpPr>
            <a:spLocks noGrp="1" noChangeArrowheads="1"/>
          </p:cNvSpPr>
          <p:nvPr>
            <p:ph type="title"/>
          </p:nvPr>
        </p:nvSpPr>
        <p:spPr/>
        <p:txBody>
          <a:bodyPr/>
          <a:lstStyle/>
          <a:p>
            <a:pPr eaLnBrk="1" hangingPunct="1"/>
            <a:r>
              <a:rPr lang="en-US" altLang="it-IT" sz="1800">
                <a:ea typeface="ＭＳ Ｐゴシック" panose="020B0600070205080204" pitchFamily="34" charset="-128"/>
              </a:rPr>
              <a:t>Le Reazioni Nucleari possibili: Proton-proton chain (PPI)</a:t>
            </a:r>
          </a:p>
        </p:txBody>
      </p:sp>
      <p:graphicFrame>
        <p:nvGraphicFramePr>
          <p:cNvPr id="104450" name="Object 2">
            <a:extLst>
              <a:ext uri="{FF2B5EF4-FFF2-40B4-BE49-F238E27FC236}">
                <a16:creationId xmlns:a16="http://schemas.microsoft.com/office/drawing/2014/main" id="{6DA68DE8-28AA-CB4B-B545-9CF1E806819F}"/>
              </a:ext>
            </a:extLst>
          </p:cNvPr>
          <p:cNvGraphicFramePr>
            <a:graphicFrameLocks noGrp="1" noChangeAspect="1"/>
          </p:cNvGraphicFramePr>
          <p:nvPr>
            <p:ph type="body" idx="1"/>
          </p:nvPr>
        </p:nvGraphicFramePr>
        <p:xfrm>
          <a:off x="357188" y="1943100"/>
          <a:ext cx="2465387" cy="2087563"/>
        </p:xfrm>
        <a:graphic>
          <a:graphicData uri="http://schemas.openxmlformats.org/presentationml/2006/ole">
            <mc:AlternateContent xmlns:mc="http://schemas.openxmlformats.org/markup-compatibility/2006">
              <mc:Choice xmlns:v="urn:schemas-microsoft-com:vml" Requires="v">
                <p:oleObj name="Equation" r:id="rId2" imgW="1409700" imgH="1193800" progId="Equation.3">
                  <p:embed/>
                </p:oleObj>
              </mc:Choice>
              <mc:Fallback>
                <p:oleObj name="Equation" r:id="rId2" imgW="1409700" imgH="1193800" progId="Equation.3">
                  <p:embed/>
                  <p:pic>
                    <p:nvPicPr>
                      <p:cNvPr id="104450" name="Object 2">
                        <a:extLst>
                          <a:ext uri="{FF2B5EF4-FFF2-40B4-BE49-F238E27FC236}">
                            <a16:creationId xmlns:a16="http://schemas.microsoft.com/office/drawing/2014/main" id="{6DA68DE8-28AA-CB4B-B545-9CF1E8068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943100"/>
                        <a:ext cx="2465387" cy="208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4451" name="Object 3">
            <a:extLst>
              <a:ext uri="{FF2B5EF4-FFF2-40B4-BE49-F238E27FC236}">
                <a16:creationId xmlns:a16="http://schemas.microsoft.com/office/drawing/2014/main" id="{0F66689B-6879-0C46-924C-DC3814773069}"/>
              </a:ext>
            </a:extLst>
          </p:cNvPr>
          <p:cNvGraphicFramePr>
            <a:graphicFrameLocks noChangeAspect="1"/>
          </p:cNvGraphicFramePr>
          <p:nvPr/>
        </p:nvGraphicFramePr>
        <p:xfrm>
          <a:off x="2749550" y="825500"/>
          <a:ext cx="2976563" cy="422275"/>
        </p:xfrm>
        <a:graphic>
          <a:graphicData uri="http://schemas.openxmlformats.org/presentationml/2006/ole">
            <mc:AlternateContent xmlns:mc="http://schemas.openxmlformats.org/markup-compatibility/2006">
              <mc:Choice xmlns:v="urn:schemas-microsoft-com:vml" Requires="v">
                <p:oleObj name="Equation" r:id="rId4" imgW="1701800" imgH="241300" progId="Equation.3">
                  <p:embed/>
                </p:oleObj>
              </mc:Choice>
              <mc:Fallback>
                <p:oleObj name="Equation" r:id="rId4" imgW="1701800" imgH="241300" progId="Equation.3">
                  <p:embed/>
                  <p:pic>
                    <p:nvPicPr>
                      <p:cNvPr id="104451" name="Object 3">
                        <a:extLst>
                          <a:ext uri="{FF2B5EF4-FFF2-40B4-BE49-F238E27FC236}">
                            <a16:creationId xmlns:a16="http://schemas.microsoft.com/office/drawing/2014/main" id="{0F66689B-6879-0C46-924C-DC38147730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9550" y="825500"/>
                        <a:ext cx="2976563"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4452" name="Object 4">
            <a:extLst>
              <a:ext uri="{FF2B5EF4-FFF2-40B4-BE49-F238E27FC236}">
                <a16:creationId xmlns:a16="http://schemas.microsoft.com/office/drawing/2014/main" id="{C3E5A97A-7032-D14D-9A0E-E6447DE4DA23}"/>
              </a:ext>
            </a:extLst>
          </p:cNvPr>
          <p:cNvGraphicFramePr>
            <a:graphicFrameLocks noChangeAspect="1"/>
          </p:cNvGraphicFramePr>
          <p:nvPr/>
        </p:nvGraphicFramePr>
        <p:xfrm>
          <a:off x="2824163" y="5418138"/>
          <a:ext cx="2997200" cy="358775"/>
        </p:xfrm>
        <a:graphic>
          <a:graphicData uri="http://schemas.openxmlformats.org/presentationml/2006/ole">
            <mc:AlternateContent xmlns:mc="http://schemas.openxmlformats.org/markup-compatibility/2006">
              <mc:Choice xmlns:v="urn:schemas-microsoft-com:vml" Requires="v">
                <p:oleObj name="Equation" r:id="rId6" imgW="1714500" imgH="203200" progId="Equation.3">
                  <p:embed/>
                </p:oleObj>
              </mc:Choice>
              <mc:Fallback>
                <p:oleObj name="Equation" r:id="rId6" imgW="1714500" imgH="203200" progId="Equation.3">
                  <p:embed/>
                  <p:pic>
                    <p:nvPicPr>
                      <p:cNvPr id="104452" name="Object 4">
                        <a:extLst>
                          <a:ext uri="{FF2B5EF4-FFF2-40B4-BE49-F238E27FC236}">
                            <a16:creationId xmlns:a16="http://schemas.microsoft.com/office/drawing/2014/main" id="{C3E5A97A-7032-D14D-9A0E-E6447DE4DA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4163" y="5418138"/>
                        <a:ext cx="299720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04453" name="Picture 9" descr="pp-chain">
            <a:extLst>
              <a:ext uri="{FF2B5EF4-FFF2-40B4-BE49-F238E27FC236}">
                <a16:creationId xmlns:a16="http://schemas.microsoft.com/office/drawing/2014/main" id="{6F6E85BE-D56E-F647-847E-60C7F6DD35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3125" y="1482725"/>
            <a:ext cx="53340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4" name="Text Box 10">
            <a:extLst>
              <a:ext uri="{FF2B5EF4-FFF2-40B4-BE49-F238E27FC236}">
                <a16:creationId xmlns:a16="http://schemas.microsoft.com/office/drawing/2014/main" id="{57B7FDC1-E0B9-1A4F-96EB-1CC2DE7683AC}"/>
              </a:ext>
            </a:extLst>
          </p:cNvPr>
          <p:cNvSpPr txBox="1">
            <a:spLocks noChangeArrowheads="1"/>
          </p:cNvSpPr>
          <p:nvPr/>
        </p:nvSpPr>
        <p:spPr bwMode="auto">
          <a:xfrm>
            <a:off x="431800" y="4770438"/>
            <a:ext cx="7850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000"/>
              <a:t>Il primo passo della catena è il più lento in quanto si deve avere</a:t>
            </a:r>
          </a:p>
        </p:txBody>
      </p:sp>
      <p:sp>
        <p:nvSpPr>
          <p:cNvPr id="104455" name="Rectangle 11">
            <a:extLst>
              <a:ext uri="{FF2B5EF4-FFF2-40B4-BE49-F238E27FC236}">
                <a16:creationId xmlns:a16="http://schemas.microsoft.com/office/drawing/2014/main" id="{F2A1BD06-BBEA-8F40-AC32-AFB8D6B4C6A5}"/>
              </a:ext>
            </a:extLst>
          </p:cNvPr>
          <p:cNvSpPr>
            <a:spLocks noChangeArrowheads="1"/>
          </p:cNvSpPr>
          <p:nvPr/>
        </p:nvSpPr>
        <p:spPr bwMode="auto">
          <a:xfrm>
            <a:off x="736600" y="6127750"/>
            <a:ext cx="6099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Nel Sole questo processo è quello più attivo  (69%).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5B5CB1A5-9F44-F045-9A8F-8449FC0CE68F}"/>
              </a:ext>
            </a:extLst>
          </p:cNvPr>
          <p:cNvSpPr>
            <a:spLocks noGrp="1" noChangeArrowheads="1"/>
          </p:cNvSpPr>
          <p:nvPr>
            <p:ph type="title"/>
          </p:nvPr>
        </p:nvSpPr>
        <p:spPr/>
        <p:txBody>
          <a:bodyPr/>
          <a:lstStyle/>
          <a:p>
            <a:pPr eaLnBrk="1" hangingPunct="1"/>
            <a:r>
              <a:rPr lang="en-US" altLang="it-IT" sz="1800">
                <a:ea typeface="ＭＳ Ｐゴシック" panose="020B0600070205080204" pitchFamily="34" charset="-128"/>
              </a:rPr>
              <a:t>Le Reazioni Nucleari possibili: Proton-proton chain (PPII &amp; PPIII)</a:t>
            </a:r>
          </a:p>
        </p:txBody>
      </p:sp>
      <p:graphicFrame>
        <p:nvGraphicFramePr>
          <p:cNvPr id="105474" name="Object 2">
            <a:extLst>
              <a:ext uri="{FF2B5EF4-FFF2-40B4-BE49-F238E27FC236}">
                <a16:creationId xmlns:a16="http://schemas.microsoft.com/office/drawing/2014/main" id="{15ED3E15-2BB4-8F47-9A20-2F27B03B4684}"/>
              </a:ext>
            </a:extLst>
          </p:cNvPr>
          <p:cNvGraphicFramePr>
            <a:graphicFrameLocks noGrp="1" noChangeAspect="1"/>
          </p:cNvGraphicFramePr>
          <p:nvPr>
            <p:ph type="body" idx="1"/>
            <p:extLst>
              <p:ext uri="{D42A27DB-BD31-4B8C-83A1-F6EECF244321}">
                <p14:modId xmlns:p14="http://schemas.microsoft.com/office/powerpoint/2010/main" val="327218741"/>
              </p:ext>
            </p:extLst>
          </p:nvPr>
        </p:nvGraphicFramePr>
        <p:xfrm>
          <a:off x="1444625" y="1659839"/>
          <a:ext cx="2770510" cy="1313765"/>
        </p:xfrm>
        <a:graphic>
          <a:graphicData uri="http://schemas.openxmlformats.org/presentationml/2006/ole">
            <mc:AlternateContent xmlns:mc="http://schemas.openxmlformats.org/markup-compatibility/2006">
              <mc:Choice xmlns:v="urn:schemas-microsoft-com:vml" Requires="v">
                <p:oleObj name="Equation" r:id="rId2" imgW="1244600" imgH="736600" progId="Equation.3">
                  <p:embed/>
                </p:oleObj>
              </mc:Choice>
              <mc:Fallback>
                <p:oleObj name="Equation" r:id="rId2" imgW="1244600" imgH="736600" progId="Equation.3">
                  <p:embed/>
                  <p:pic>
                    <p:nvPicPr>
                      <p:cNvPr id="105474" name="Object 2">
                        <a:extLst>
                          <a:ext uri="{FF2B5EF4-FFF2-40B4-BE49-F238E27FC236}">
                            <a16:creationId xmlns:a16="http://schemas.microsoft.com/office/drawing/2014/main" id="{15ED3E15-2BB4-8F47-9A20-2F27B03B46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625" y="1659839"/>
                        <a:ext cx="2770510" cy="1313765"/>
                      </a:xfrm>
                      <a:prstGeom prst="rect">
                        <a:avLst/>
                      </a:prstGeom>
                      <a:noFill/>
                      <a:ln>
                        <a:noFill/>
                      </a:ln>
                      <a:effectLst/>
                    </p:spPr>
                  </p:pic>
                </p:oleObj>
              </mc:Fallback>
            </mc:AlternateContent>
          </a:graphicData>
        </a:graphic>
      </p:graphicFrame>
      <p:sp>
        <p:nvSpPr>
          <p:cNvPr id="105475" name="Rectangle 4">
            <a:extLst>
              <a:ext uri="{FF2B5EF4-FFF2-40B4-BE49-F238E27FC236}">
                <a16:creationId xmlns:a16="http://schemas.microsoft.com/office/drawing/2014/main" id="{C8E096F7-6CEC-5B47-93BF-011713830331}"/>
              </a:ext>
            </a:extLst>
          </p:cNvPr>
          <p:cNvSpPr>
            <a:spLocks noChangeArrowheads="1"/>
          </p:cNvSpPr>
          <p:nvPr/>
        </p:nvSpPr>
        <p:spPr bwMode="auto">
          <a:xfrm>
            <a:off x="468313" y="908050"/>
            <a:ext cx="52562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800" b="0"/>
              <a:t>PPII</a:t>
            </a:r>
            <a:endParaRPr lang="en-US" altLang="it-IT" sz="2400" b="0"/>
          </a:p>
        </p:txBody>
      </p:sp>
      <p:graphicFrame>
        <p:nvGraphicFramePr>
          <p:cNvPr id="105476" name="Object 3">
            <a:extLst>
              <a:ext uri="{FF2B5EF4-FFF2-40B4-BE49-F238E27FC236}">
                <a16:creationId xmlns:a16="http://schemas.microsoft.com/office/drawing/2014/main" id="{8DC71290-3720-1D49-95BB-B55AB83ED91C}"/>
              </a:ext>
            </a:extLst>
          </p:cNvPr>
          <p:cNvGraphicFramePr>
            <a:graphicFrameLocks noChangeAspect="1"/>
          </p:cNvGraphicFramePr>
          <p:nvPr/>
        </p:nvGraphicFramePr>
        <p:xfrm>
          <a:off x="1444625" y="4619625"/>
          <a:ext cx="3109913" cy="1289050"/>
        </p:xfrm>
        <a:graphic>
          <a:graphicData uri="http://schemas.openxmlformats.org/presentationml/2006/ole">
            <mc:AlternateContent xmlns:mc="http://schemas.openxmlformats.org/markup-compatibility/2006">
              <mc:Choice xmlns:v="urn:schemas-microsoft-com:vml" Requires="v">
                <p:oleObj name="Equation" r:id="rId4" imgW="1778000" imgH="736600" progId="Equation.3">
                  <p:embed/>
                </p:oleObj>
              </mc:Choice>
              <mc:Fallback>
                <p:oleObj name="Equation" r:id="rId4" imgW="1778000" imgH="736600" progId="Equation.3">
                  <p:embed/>
                  <p:pic>
                    <p:nvPicPr>
                      <p:cNvPr id="105476" name="Object 3">
                        <a:extLst>
                          <a:ext uri="{FF2B5EF4-FFF2-40B4-BE49-F238E27FC236}">
                            <a16:creationId xmlns:a16="http://schemas.microsoft.com/office/drawing/2014/main" id="{8DC71290-3720-1D49-95BB-B55AB83ED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625" y="4619625"/>
                        <a:ext cx="3109913"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5477" name="Rectangle 6">
            <a:extLst>
              <a:ext uri="{FF2B5EF4-FFF2-40B4-BE49-F238E27FC236}">
                <a16:creationId xmlns:a16="http://schemas.microsoft.com/office/drawing/2014/main" id="{9FA54E79-4798-1F48-802C-13EDDCBF9C69}"/>
              </a:ext>
            </a:extLst>
          </p:cNvPr>
          <p:cNvSpPr>
            <a:spLocks noChangeArrowheads="1"/>
          </p:cNvSpPr>
          <p:nvPr/>
        </p:nvSpPr>
        <p:spPr bwMode="auto">
          <a:xfrm>
            <a:off x="504825" y="3863975"/>
            <a:ext cx="52562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800" b="0"/>
              <a:t>PPIII</a:t>
            </a:r>
            <a:endParaRPr lang="en-US" altLang="it-IT" sz="2400" b="0"/>
          </a:p>
        </p:txBody>
      </p:sp>
      <p:sp>
        <p:nvSpPr>
          <p:cNvPr id="105478" name="Rectangle 8">
            <a:extLst>
              <a:ext uri="{FF2B5EF4-FFF2-40B4-BE49-F238E27FC236}">
                <a16:creationId xmlns:a16="http://schemas.microsoft.com/office/drawing/2014/main" id="{DE6E5E53-E2B9-104A-A791-3A7FEE5FE016}"/>
              </a:ext>
            </a:extLst>
          </p:cNvPr>
          <p:cNvSpPr>
            <a:spLocks noChangeArrowheads="1"/>
          </p:cNvSpPr>
          <p:nvPr/>
        </p:nvSpPr>
        <p:spPr bwMode="auto">
          <a:xfrm>
            <a:off x="395288" y="3141663"/>
            <a:ext cx="53292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Nel Sole  (31%)</a:t>
            </a:r>
            <a:endParaRPr lang="en-US" altLang="it-IT" sz="1800" b="0"/>
          </a:p>
        </p:txBody>
      </p:sp>
      <p:pic>
        <p:nvPicPr>
          <p:cNvPr id="105479" name="Picture 9" descr="pp-2">
            <a:extLst>
              <a:ext uri="{FF2B5EF4-FFF2-40B4-BE49-F238E27FC236}">
                <a16:creationId xmlns:a16="http://schemas.microsoft.com/office/drawing/2014/main" id="{46DA6C7C-55A9-014D-B29A-0CF5E8E107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3288" y="836613"/>
            <a:ext cx="3160712"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80" name="Picture 10" descr="pp-3">
            <a:extLst>
              <a:ext uri="{FF2B5EF4-FFF2-40B4-BE49-F238E27FC236}">
                <a16:creationId xmlns:a16="http://schemas.microsoft.com/office/drawing/2014/main" id="{8E651495-EC20-9F40-AACC-6072D6BC2C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5350" y="4292600"/>
            <a:ext cx="316865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81" name="Rectangle 11">
            <a:extLst>
              <a:ext uri="{FF2B5EF4-FFF2-40B4-BE49-F238E27FC236}">
                <a16:creationId xmlns:a16="http://schemas.microsoft.com/office/drawing/2014/main" id="{FC5AC2F6-FC33-A448-94A7-C8ECBA96BBFB}"/>
              </a:ext>
            </a:extLst>
          </p:cNvPr>
          <p:cNvSpPr>
            <a:spLocks noChangeArrowheads="1"/>
          </p:cNvSpPr>
          <p:nvPr/>
        </p:nvSpPr>
        <p:spPr bwMode="auto">
          <a:xfrm>
            <a:off x="277813" y="6207125"/>
            <a:ext cx="5329237"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Nel Sole  (0.3%)</a:t>
            </a:r>
            <a:endParaRPr lang="en-US" altLang="it-IT" sz="1800" b="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0184BD5D-B1A6-0C4B-B0B9-CB4139C73FBA}"/>
              </a:ext>
            </a:extLst>
          </p:cNvPr>
          <p:cNvSpPr>
            <a:spLocks noGrp="1" noChangeArrowheads="1"/>
          </p:cNvSpPr>
          <p:nvPr>
            <p:ph type="title"/>
          </p:nvPr>
        </p:nvSpPr>
        <p:spPr/>
        <p:txBody>
          <a:bodyPr/>
          <a:lstStyle/>
          <a:p>
            <a:pPr eaLnBrk="1" hangingPunct="1"/>
            <a:r>
              <a:rPr lang="en-US" altLang="it-IT" sz="1800">
                <a:ea typeface="ＭＳ Ｐゴシック" panose="020B0600070205080204" pitchFamily="34" charset="-128"/>
              </a:rPr>
              <a:t>Catena p-p</a:t>
            </a:r>
          </a:p>
        </p:txBody>
      </p:sp>
      <p:sp>
        <p:nvSpPr>
          <p:cNvPr id="106498" name="Rectangle 3">
            <a:extLst>
              <a:ext uri="{FF2B5EF4-FFF2-40B4-BE49-F238E27FC236}">
                <a16:creationId xmlns:a16="http://schemas.microsoft.com/office/drawing/2014/main" id="{DE627D4E-C4B9-6D47-9A36-7365FF40FA32}"/>
              </a:ext>
            </a:extLst>
          </p:cNvPr>
          <p:cNvSpPr>
            <a:spLocks noGrp="1" noChangeArrowheads="1"/>
          </p:cNvSpPr>
          <p:nvPr>
            <p:ph type="body" idx="1"/>
          </p:nvPr>
        </p:nvSpPr>
        <p:spPr>
          <a:xfrm>
            <a:off x="541338" y="889000"/>
            <a:ext cx="7872412" cy="571500"/>
          </a:xfrm>
        </p:spPr>
        <p:txBody>
          <a:bodyPr/>
          <a:lstStyle/>
          <a:p>
            <a:pPr marL="176213" indent="-176213" eaLnBrk="1" hangingPunct="1">
              <a:lnSpc>
                <a:spcPct val="90000"/>
              </a:lnSpc>
            </a:pPr>
            <a:r>
              <a:rPr lang="en-US" altLang="it-IT" sz="2000">
                <a:latin typeface="Tahoma" panose="020B0604030504040204" pitchFamily="34" charset="0"/>
                <a:ea typeface="ＭＳ Ｐゴシック" panose="020B0600070205080204" pitchFamily="34" charset="-128"/>
              </a:rPr>
              <a:t>La rate di produzione di energia complessiva per tutti e tre I rami della catena PP è:</a:t>
            </a:r>
          </a:p>
        </p:txBody>
      </p:sp>
      <p:graphicFrame>
        <p:nvGraphicFramePr>
          <p:cNvPr id="106499" name="Object 2">
            <a:extLst>
              <a:ext uri="{FF2B5EF4-FFF2-40B4-BE49-F238E27FC236}">
                <a16:creationId xmlns:a16="http://schemas.microsoft.com/office/drawing/2014/main" id="{76540BCB-08DC-C440-8C03-05270DF70B1F}"/>
              </a:ext>
            </a:extLst>
          </p:cNvPr>
          <p:cNvGraphicFramePr>
            <a:graphicFrameLocks noChangeAspect="1"/>
          </p:cNvGraphicFramePr>
          <p:nvPr/>
        </p:nvGraphicFramePr>
        <p:xfrm>
          <a:off x="1593850" y="1773238"/>
          <a:ext cx="6424613" cy="706437"/>
        </p:xfrm>
        <a:graphic>
          <a:graphicData uri="http://schemas.openxmlformats.org/presentationml/2006/ole">
            <mc:AlternateContent xmlns:mc="http://schemas.openxmlformats.org/markup-compatibility/2006">
              <mc:Choice xmlns:v="urn:schemas-microsoft-com:vml" Requires="v">
                <p:oleObj name="Equation" r:id="rId2" imgW="2527300" imgH="279400" progId="Equation.3">
                  <p:embed/>
                </p:oleObj>
              </mc:Choice>
              <mc:Fallback>
                <p:oleObj name="Equation" r:id="rId2" imgW="2527300" imgH="279400" progId="Equation.3">
                  <p:embed/>
                  <p:pic>
                    <p:nvPicPr>
                      <p:cNvPr id="106499" name="Object 2">
                        <a:extLst>
                          <a:ext uri="{FF2B5EF4-FFF2-40B4-BE49-F238E27FC236}">
                            <a16:creationId xmlns:a16="http://schemas.microsoft.com/office/drawing/2014/main" id="{76540BCB-08DC-C440-8C03-05270DF70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850" y="1773238"/>
                        <a:ext cx="6424613"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6500" name="Line 5">
            <a:extLst>
              <a:ext uri="{FF2B5EF4-FFF2-40B4-BE49-F238E27FC236}">
                <a16:creationId xmlns:a16="http://schemas.microsoft.com/office/drawing/2014/main" id="{66B8D83C-1126-C644-A3CF-21D055F94AB4}"/>
              </a:ext>
            </a:extLst>
          </p:cNvPr>
          <p:cNvSpPr>
            <a:spLocks noChangeShapeType="1"/>
          </p:cNvSpPr>
          <p:nvPr/>
        </p:nvSpPr>
        <p:spPr bwMode="auto">
          <a:xfrm>
            <a:off x="5148263" y="2492375"/>
            <a:ext cx="863600" cy="649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aphicFrame>
        <p:nvGraphicFramePr>
          <p:cNvPr id="106501" name="Object 3">
            <a:extLst>
              <a:ext uri="{FF2B5EF4-FFF2-40B4-BE49-F238E27FC236}">
                <a16:creationId xmlns:a16="http://schemas.microsoft.com/office/drawing/2014/main" id="{003820D8-8501-AB47-AFD0-5F6B50C2A9A3}"/>
              </a:ext>
            </a:extLst>
          </p:cNvPr>
          <p:cNvGraphicFramePr>
            <a:graphicFrameLocks noChangeAspect="1"/>
          </p:cNvGraphicFramePr>
          <p:nvPr/>
        </p:nvGraphicFramePr>
        <p:xfrm>
          <a:off x="5651500" y="3213100"/>
          <a:ext cx="1339850" cy="382588"/>
        </p:xfrm>
        <a:graphic>
          <a:graphicData uri="http://schemas.openxmlformats.org/presentationml/2006/ole">
            <mc:AlternateContent xmlns:mc="http://schemas.openxmlformats.org/markup-compatibility/2006">
              <mc:Choice xmlns:v="urn:schemas-microsoft-com:vml" Requires="v">
                <p:oleObj name="Equation" r:id="rId4" imgW="838200" imgH="241300" progId="Equation.3">
                  <p:embed/>
                </p:oleObj>
              </mc:Choice>
              <mc:Fallback>
                <p:oleObj name="Equation" r:id="rId4" imgW="838200" imgH="241300" progId="Equation.3">
                  <p:embed/>
                  <p:pic>
                    <p:nvPicPr>
                      <p:cNvPr id="106501" name="Object 3">
                        <a:extLst>
                          <a:ext uri="{FF2B5EF4-FFF2-40B4-BE49-F238E27FC236}">
                            <a16:creationId xmlns:a16="http://schemas.microsoft.com/office/drawing/2014/main" id="{003820D8-8501-AB47-AFD0-5F6B50C2A9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500" y="3213100"/>
                        <a:ext cx="133985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0358" name="Rectangle 7">
            <a:extLst>
              <a:ext uri="{FF2B5EF4-FFF2-40B4-BE49-F238E27FC236}">
                <a16:creationId xmlns:a16="http://schemas.microsoft.com/office/drawing/2014/main" id="{9E718748-B10C-9547-AF1E-AF657F0683FE}"/>
              </a:ext>
            </a:extLst>
          </p:cNvPr>
          <p:cNvSpPr>
            <a:spLocks noChangeArrowheads="1"/>
          </p:cNvSpPr>
          <p:nvPr/>
        </p:nvSpPr>
        <p:spPr bwMode="auto">
          <a:xfrm>
            <a:off x="722313" y="4084638"/>
            <a:ext cx="7931150" cy="719137"/>
          </a:xfrm>
          <a:prstGeom prst="rect">
            <a:avLst/>
          </a:prstGeom>
          <a:noFill/>
          <a:ln>
            <a:noFill/>
          </a:ln>
          <a:extLst>
            <a:ext uri="{909E8E84-426E-40dd-AFC4-6F175D3DCCD1}"/>
            <a:ext uri="{91240B29-F687-4f45-9708-019B960494DF}"/>
          </a:extLst>
        </p:spPr>
        <p:txBody>
          <a:bodyPr/>
          <a:lstStyle/>
          <a:p>
            <a:pPr marL="342900" indent="-342900" eaLnBrk="1" hangingPunct="1">
              <a:spcBef>
                <a:spcPct val="20000"/>
              </a:spcBef>
              <a:buFontTx/>
              <a:buChar char="•"/>
              <a:defRPr/>
            </a:pPr>
            <a:r>
              <a:rPr lang="en-US" b="0">
                <a:latin typeface="+mj-lt"/>
                <a:ea typeface="ＭＳ Ｐゴシック" charset="0"/>
                <a:cs typeface="ＭＳ Ｐゴシック" charset="0"/>
              </a:rPr>
              <a:t>A T~1.5x10</a:t>
            </a:r>
            <a:r>
              <a:rPr lang="en-US" b="0" baseline="30000">
                <a:latin typeface="+mj-lt"/>
                <a:ea typeface="ＭＳ Ｐゴシック" charset="0"/>
                <a:cs typeface="ＭＳ Ｐゴシック" charset="0"/>
              </a:rPr>
              <a:t>7</a:t>
            </a:r>
            <a:r>
              <a:rPr lang="en-US" b="0">
                <a:latin typeface="+mj-lt"/>
                <a:ea typeface="ＭＳ Ｐゴシック" charset="0"/>
                <a:cs typeface="ＭＳ Ｐゴシック" charset="0"/>
              </a:rPr>
              <a:t> K (Temperatura al centro del Sole):</a:t>
            </a:r>
          </a:p>
        </p:txBody>
      </p:sp>
      <p:graphicFrame>
        <p:nvGraphicFramePr>
          <p:cNvPr id="106503" name="Object 4">
            <a:extLst>
              <a:ext uri="{FF2B5EF4-FFF2-40B4-BE49-F238E27FC236}">
                <a16:creationId xmlns:a16="http://schemas.microsoft.com/office/drawing/2014/main" id="{1024A36A-27BF-F342-B1FC-8331D43229C9}"/>
              </a:ext>
            </a:extLst>
          </p:cNvPr>
          <p:cNvGraphicFramePr>
            <a:graphicFrameLocks noChangeAspect="1"/>
          </p:cNvGraphicFramePr>
          <p:nvPr/>
        </p:nvGraphicFramePr>
        <p:xfrm>
          <a:off x="2317750" y="5305425"/>
          <a:ext cx="4811713" cy="641350"/>
        </p:xfrm>
        <a:graphic>
          <a:graphicData uri="http://schemas.openxmlformats.org/presentationml/2006/ole">
            <mc:AlternateContent xmlns:mc="http://schemas.openxmlformats.org/markup-compatibility/2006">
              <mc:Choice xmlns:v="urn:schemas-microsoft-com:vml" Requires="v">
                <p:oleObj name="Equation" r:id="rId6" imgW="1892300" imgH="254000" progId="Equation.3">
                  <p:embed/>
                </p:oleObj>
              </mc:Choice>
              <mc:Fallback>
                <p:oleObj name="Equation" r:id="rId6" imgW="1892300" imgH="254000" progId="Equation.3">
                  <p:embed/>
                  <p:pic>
                    <p:nvPicPr>
                      <p:cNvPr id="106503" name="Object 4">
                        <a:extLst>
                          <a:ext uri="{FF2B5EF4-FFF2-40B4-BE49-F238E27FC236}">
                            <a16:creationId xmlns:a16="http://schemas.microsoft.com/office/drawing/2014/main" id="{1024A36A-27BF-F342-B1FC-8331D43229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7750" y="5305425"/>
                        <a:ext cx="4811713" cy="6413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6504" name="Object 5">
            <a:extLst>
              <a:ext uri="{FF2B5EF4-FFF2-40B4-BE49-F238E27FC236}">
                <a16:creationId xmlns:a16="http://schemas.microsoft.com/office/drawing/2014/main" id="{697EF252-1B63-FF49-9A9F-8006F07C018B}"/>
              </a:ext>
            </a:extLst>
          </p:cNvPr>
          <p:cNvGraphicFramePr>
            <a:graphicFrameLocks noChangeAspect="1"/>
          </p:cNvGraphicFramePr>
          <p:nvPr/>
        </p:nvGraphicFramePr>
        <p:xfrm>
          <a:off x="2484438" y="2997200"/>
          <a:ext cx="1603375" cy="665163"/>
        </p:xfrm>
        <a:graphic>
          <a:graphicData uri="http://schemas.openxmlformats.org/presentationml/2006/ole">
            <mc:AlternateContent xmlns:mc="http://schemas.openxmlformats.org/markup-compatibility/2006">
              <mc:Choice xmlns:v="urn:schemas-microsoft-com:vml" Requires="v">
                <p:oleObj name="Equation" r:id="rId8" imgW="1003300" imgH="419100" progId="Equation.3">
                  <p:embed/>
                </p:oleObj>
              </mc:Choice>
              <mc:Fallback>
                <p:oleObj name="Equation" r:id="rId8" imgW="1003300" imgH="419100" progId="Equation.3">
                  <p:embed/>
                  <p:pic>
                    <p:nvPicPr>
                      <p:cNvPr id="106504" name="Object 5">
                        <a:extLst>
                          <a:ext uri="{FF2B5EF4-FFF2-40B4-BE49-F238E27FC236}">
                            <a16:creationId xmlns:a16="http://schemas.microsoft.com/office/drawing/2014/main" id="{697EF252-1B63-FF49-9A9F-8006F07C01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2997200"/>
                        <a:ext cx="1603375"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6505" name="Line 10">
            <a:extLst>
              <a:ext uri="{FF2B5EF4-FFF2-40B4-BE49-F238E27FC236}">
                <a16:creationId xmlns:a16="http://schemas.microsoft.com/office/drawing/2014/main" id="{0B75331F-2D96-9E4A-AA84-B51A8494530D}"/>
              </a:ext>
            </a:extLst>
          </p:cNvPr>
          <p:cNvSpPr>
            <a:spLocks noChangeShapeType="1"/>
          </p:cNvSpPr>
          <p:nvPr/>
        </p:nvSpPr>
        <p:spPr bwMode="auto">
          <a:xfrm flipH="1">
            <a:off x="3419475" y="2420938"/>
            <a:ext cx="647700" cy="50323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BBF80782-960D-634B-805E-83B97CE77C62}"/>
              </a:ext>
            </a:extLst>
          </p:cNvPr>
          <p:cNvSpPr>
            <a:spLocks noGrp="1" noChangeArrowheads="1"/>
          </p:cNvSpPr>
          <p:nvPr>
            <p:ph type="title"/>
          </p:nvPr>
        </p:nvSpPr>
        <p:spPr/>
        <p:txBody>
          <a:bodyPr/>
          <a:lstStyle/>
          <a:p>
            <a:pPr eaLnBrk="1" hangingPunct="1"/>
            <a:r>
              <a:rPr lang="en-US" altLang="it-IT" sz="1800">
                <a:ea typeface="ＭＳ Ｐゴシック" panose="020B0600070205080204" pitchFamily="34" charset="-128"/>
              </a:rPr>
              <a:t>Il ciclo  CNO</a:t>
            </a:r>
          </a:p>
        </p:txBody>
      </p:sp>
      <p:sp>
        <p:nvSpPr>
          <p:cNvPr id="107522" name="Rectangle 3">
            <a:extLst>
              <a:ext uri="{FF2B5EF4-FFF2-40B4-BE49-F238E27FC236}">
                <a16:creationId xmlns:a16="http://schemas.microsoft.com/office/drawing/2014/main" id="{32CACDEA-A708-804B-91C3-AAB3E42ED53D}"/>
              </a:ext>
            </a:extLst>
          </p:cNvPr>
          <p:cNvSpPr>
            <a:spLocks noGrp="1" noChangeArrowheads="1"/>
          </p:cNvSpPr>
          <p:nvPr>
            <p:ph type="body" idx="1"/>
          </p:nvPr>
        </p:nvSpPr>
        <p:spPr>
          <a:xfrm>
            <a:off x="5148263" y="4818063"/>
            <a:ext cx="3675062" cy="257175"/>
          </a:xfrm>
        </p:spPr>
        <p:txBody>
          <a:bodyPr/>
          <a:lstStyle/>
          <a:p>
            <a:pPr marL="176213" indent="-176213" eaLnBrk="1" hangingPunct="1">
              <a:lnSpc>
                <a:spcPct val="80000"/>
              </a:lnSpc>
              <a:buFontTx/>
              <a:buNone/>
            </a:pPr>
            <a:r>
              <a:rPr lang="en-US" altLang="it-IT" sz="1400">
                <a:ea typeface="ＭＳ Ｐゴシック" panose="020B0600070205080204" pitchFamily="34" charset="-128"/>
              </a:rPr>
              <a:t> ( 99.6% delle reazioni )</a:t>
            </a:r>
          </a:p>
        </p:txBody>
      </p:sp>
      <p:graphicFrame>
        <p:nvGraphicFramePr>
          <p:cNvPr id="107523" name="Object 2">
            <a:extLst>
              <a:ext uri="{FF2B5EF4-FFF2-40B4-BE49-F238E27FC236}">
                <a16:creationId xmlns:a16="http://schemas.microsoft.com/office/drawing/2014/main" id="{E7681601-F53C-3747-8348-DE88B359ADB3}"/>
              </a:ext>
            </a:extLst>
          </p:cNvPr>
          <p:cNvGraphicFramePr>
            <a:graphicFrameLocks noChangeAspect="1"/>
          </p:cNvGraphicFramePr>
          <p:nvPr/>
        </p:nvGraphicFramePr>
        <p:xfrm>
          <a:off x="1027113" y="1030288"/>
          <a:ext cx="3313112" cy="3430587"/>
        </p:xfrm>
        <a:graphic>
          <a:graphicData uri="http://schemas.openxmlformats.org/presentationml/2006/ole">
            <mc:AlternateContent xmlns:mc="http://schemas.openxmlformats.org/markup-compatibility/2006">
              <mc:Choice xmlns:v="urn:schemas-microsoft-com:vml" Requires="v">
                <p:oleObj name="Equation" r:id="rId2" imgW="1447800" imgH="1498600" progId="Equation.3">
                  <p:embed/>
                </p:oleObj>
              </mc:Choice>
              <mc:Fallback>
                <p:oleObj name="Equation" r:id="rId2" imgW="1447800" imgH="1498600" progId="Equation.3">
                  <p:embed/>
                  <p:pic>
                    <p:nvPicPr>
                      <p:cNvPr id="107523" name="Object 2">
                        <a:extLst>
                          <a:ext uri="{FF2B5EF4-FFF2-40B4-BE49-F238E27FC236}">
                            <a16:creationId xmlns:a16="http://schemas.microsoft.com/office/drawing/2014/main" id="{E7681601-F53C-3747-8348-DE88B359A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1030288"/>
                        <a:ext cx="3313112" cy="343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7524" name="Object 3">
            <a:extLst>
              <a:ext uri="{FF2B5EF4-FFF2-40B4-BE49-F238E27FC236}">
                <a16:creationId xmlns:a16="http://schemas.microsoft.com/office/drawing/2014/main" id="{38EDA895-51F4-1049-979D-82B852A9C86A}"/>
              </a:ext>
            </a:extLst>
          </p:cNvPr>
          <p:cNvGraphicFramePr>
            <a:graphicFrameLocks noChangeAspect="1"/>
          </p:cNvGraphicFramePr>
          <p:nvPr/>
        </p:nvGraphicFramePr>
        <p:xfrm>
          <a:off x="636588" y="5160963"/>
          <a:ext cx="7392987" cy="674687"/>
        </p:xfrm>
        <a:graphic>
          <a:graphicData uri="http://schemas.openxmlformats.org/presentationml/2006/ole">
            <mc:AlternateContent xmlns:mc="http://schemas.openxmlformats.org/markup-compatibility/2006">
              <mc:Choice xmlns:v="urn:schemas-microsoft-com:vml" Requires="v">
                <p:oleObj name="Equation" r:id="rId4" imgW="2908300" imgH="266700" progId="Equation.3">
                  <p:embed/>
                </p:oleObj>
              </mc:Choice>
              <mc:Fallback>
                <p:oleObj name="Equation" r:id="rId4" imgW="2908300" imgH="266700" progId="Equation.3">
                  <p:embed/>
                  <p:pic>
                    <p:nvPicPr>
                      <p:cNvPr id="107524" name="Object 3">
                        <a:extLst>
                          <a:ext uri="{FF2B5EF4-FFF2-40B4-BE49-F238E27FC236}">
                            <a16:creationId xmlns:a16="http://schemas.microsoft.com/office/drawing/2014/main" id="{38EDA895-51F4-1049-979D-82B852A9C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588" y="5160963"/>
                        <a:ext cx="7392987"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7525" name="Object 4">
            <a:extLst>
              <a:ext uri="{FF2B5EF4-FFF2-40B4-BE49-F238E27FC236}">
                <a16:creationId xmlns:a16="http://schemas.microsoft.com/office/drawing/2014/main" id="{F368507F-9FCB-7B4E-BE84-D8C0F7FEA261}"/>
              </a:ext>
            </a:extLst>
          </p:cNvPr>
          <p:cNvGraphicFramePr>
            <a:graphicFrameLocks noChangeAspect="1"/>
          </p:cNvGraphicFramePr>
          <p:nvPr/>
        </p:nvGraphicFramePr>
        <p:xfrm>
          <a:off x="2747963" y="5967413"/>
          <a:ext cx="5942012" cy="609600"/>
        </p:xfrm>
        <a:graphic>
          <a:graphicData uri="http://schemas.openxmlformats.org/presentationml/2006/ole">
            <mc:AlternateContent xmlns:mc="http://schemas.openxmlformats.org/markup-compatibility/2006">
              <mc:Choice xmlns:v="urn:schemas-microsoft-com:vml" Requires="v">
                <p:oleObj name="Equation" r:id="rId6" imgW="2336800" imgH="241300" progId="Equation.3">
                  <p:embed/>
                </p:oleObj>
              </mc:Choice>
              <mc:Fallback>
                <p:oleObj name="Equation" r:id="rId6" imgW="2336800" imgH="241300" progId="Equation.3">
                  <p:embed/>
                  <p:pic>
                    <p:nvPicPr>
                      <p:cNvPr id="107525" name="Object 4">
                        <a:extLst>
                          <a:ext uri="{FF2B5EF4-FFF2-40B4-BE49-F238E27FC236}">
                            <a16:creationId xmlns:a16="http://schemas.microsoft.com/office/drawing/2014/main" id="{F368507F-9FCB-7B4E-BE84-D8C0F7FEA2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7963" y="5967413"/>
                        <a:ext cx="5942012" cy="6096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7526" name="Rectangle 7">
            <a:extLst>
              <a:ext uri="{FF2B5EF4-FFF2-40B4-BE49-F238E27FC236}">
                <a16:creationId xmlns:a16="http://schemas.microsoft.com/office/drawing/2014/main" id="{B1D7909D-5270-CE4E-87D1-7EEF3BB8D072}"/>
              </a:ext>
            </a:extLst>
          </p:cNvPr>
          <p:cNvSpPr>
            <a:spLocks noChangeArrowheads="1"/>
          </p:cNvSpPr>
          <p:nvPr/>
        </p:nvSpPr>
        <p:spPr bwMode="auto">
          <a:xfrm>
            <a:off x="0" y="6181725"/>
            <a:ext cx="350043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80000"/>
              </a:lnSpc>
            </a:pPr>
            <a:r>
              <a:rPr lang="en-US" altLang="it-IT" sz="1800" b="0"/>
              <a:t>A T~1.5x10</a:t>
            </a:r>
            <a:r>
              <a:rPr lang="en-US" altLang="it-IT" sz="1800" b="0" baseline="30000"/>
              <a:t>7</a:t>
            </a:r>
            <a:r>
              <a:rPr lang="en-US" altLang="it-IT" sz="1800" b="0"/>
              <a:t> K</a:t>
            </a:r>
          </a:p>
        </p:txBody>
      </p:sp>
      <p:pic>
        <p:nvPicPr>
          <p:cNvPr id="107527" name="Picture 8" descr="cno-cycle">
            <a:extLst>
              <a:ext uri="{FF2B5EF4-FFF2-40B4-BE49-F238E27FC236}">
                <a16:creationId xmlns:a16="http://schemas.microsoft.com/office/drawing/2014/main" id="{0D7272EF-AAF0-DE42-AC1D-8D4E4EDD62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7625" y="719138"/>
            <a:ext cx="31750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D3F0FF4-CC3D-4647-8D80-F3D94B18CE23}"/>
              </a:ext>
            </a:extLst>
          </p:cNvPr>
          <p:cNvSpPr>
            <a:spLocks noGrp="1" noChangeArrowheads="1"/>
          </p:cNvSpPr>
          <p:nvPr>
            <p:ph type="title"/>
          </p:nvPr>
        </p:nvSpPr>
        <p:spPr/>
        <p:txBody>
          <a:bodyPr/>
          <a:lstStyle/>
          <a:p>
            <a:pPr eaLnBrk="1" hangingPunct="1"/>
            <a:r>
              <a:rPr lang="en-US" altLang="it-IT" sz="1800">
                <a:ea typeface="ＭＳ Ｐゴシック" panose="020B0600070205080204" pitchFamily="34" charset="-128"/>
              </a:rPr>
              <a:t>p-p chain vs CNO Cycle</a:t>
            </a:r>
          </a:p>
        </p:txBody>
      </p:sp>
      <p:pic>
        <p:nvPicPr>
          <p:cNvPr id="108546" name="Immagine 1">
            <a:extLst>
              <a:ext uri="{FF2B5EF4-FFF2-40B4-BE49-F238E27FC236}">
                <a16:creationId xmlns:a16="http://schemas.microsoft.com/office/drawing/2014/main" id="{E7F724D3-B35B-614E-B61C-A01FBD968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763" y="1174750"/>
            <a:ext cx="8047037" cy="522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olo 1">
            <a:extLst>
              <a:ext uri="{FF2B5EF4-FFF2-40B4-BE49-F238E27FC236}">
                <a16:creationId xmlns:a16="http://schemas.microsoft.com/office/drawing/2014/main" id="{2529DE64-7619-6945-B9A1-16D84AD3B967}"/>
              </a:ext>
            </a:extLst>
          </p:cNvPr>
          <p:cNvSpPr>
            <a:spLocks noGrp="1" noChangeArrowheads="1"/>
          </p:cNvSpPr>
          <p:nvPr>
            <p:ph type="title"/>
          </p:nvPr>
        </p:nvSpPr>
        <p:spPr/>
        <p:txBody>
          <a:bodyPr/>
          <a:lstStyle/>
          <a:p>
            <a:r>
              <a:rPr lang="en-GB" altLang="it-IT">
                <a:ea typeface="ＭＳ Ｐゴシック" panose="020B0600070205080204" pitchFamily="34" charset="-128"/>
              </a:rPr>
              <a:t>Timescale of the H-burning</a:t>
            </a:r>
          </a:p>
        </p:txBody>
      </p:sp>
      <p:sp>
        <p:nvSpPr>
          <p:cNvPr id="109570" name="Rettangolo 4">
            <a:extLst>
              <a:ext uri="{FF2B5EF4-FFF2-40B4-BE49-F238E27FC236}">
                <a16:creationId xmlns:a16="http://schemas.microsoft.com/office/drawing/2014/main" id="{72ED53F2-FD15-324F-87DD-730A225294D0}"/>
              </a:ext>
            </a:extLst>
          </p:cNvPr>
          <p:cNvSpPr>
            <a:spLocks noChangeArrowheads="1"/>
          </p:cNvSpPr>
          <p:nvPr/>
        </p:nvSpPr>
        <p:spPr bwMode="auto">
          <a:xfrm>
            <a:off x="228600" y="1052513"/>
            <a:ext cx="86185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GB" altLang="it-IT" sz="2000" b="0"/>
              <a:t>Stars  heavier than the Sun burn hydrogen via CNO cycle</a:t>
            </a:r>
          </a:p>
          <a:p>
            <a:pPr>
              <a:spcBef>
                <a:spcPct val="0"/>
              </a:spcBef>
            </a:pPr>
            <a:endParaRPr lang="en-GB" altLang="it-IT" sz="2000" b="0"/>
          </a:p>
          <a:p>
            <a:pPr>
              <a:spcBef>
                <a:spcPct val="0"/>
              </a:spcBef>
            </a:pPr>
            <a:r>
              <a:rPr lang="en-GB" altLang="it-IT" sz="2000" b="0"/>
              <a:t>CNO Cycle goes significantly faster –&gt; shorter lifetimes</a:t>
            </a:r>
          </a:p>
        </p:txBody>
      </p:sp>
      <p:pic>
        <p:nvPicPr>
          <p:cNvPr id="109571" name="Immagine 5">
            <a:extLst>
              <a:ext uri="{FF2B5EF4-FFF2-40B4-BE49-F238E27FC236}">
                <a16:creationId xmlns:a16="http://schemas.microsoft.com/office/drawing/2014/main" id="{9A1B7C74-48BE-C24C-89D3-0CFF0F060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1463" y="2260600"/>
            <a:ext cx="2921000"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Rettangolo 6">
            <a:extLst>
              <a:ext uri="{FF2B5EF4-FFF2-40B4-BE49-F238E27FC236}">
                <a16:creationId xmlns:a16="http://schemas.microsoft.com/office/drawing/2014/main" id="{A441E481-72FB-8D4B-B434-6D3CCC3514F8}"/>
              </a:ext>
            </a:extLst>
          </p:cNvPr>
          <p:cNvSpPr>
            <a:spLocks noChangeArrowheads="1"/>
          </p:cNvSpPr>
          <p:nvPr/>
        </p:nvSpPr>
        <p:spPr bwMode="auto">
          <a:xfrm>
            <a:off x="871538" y="6042025"/>
            <a:ext cx="7058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GB" altLang="it-IT" sz="2000" b="0"/>
              <a:t>Hydrogen burning timescales depend strongly on mass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olo 1">
            <a:extLst>
              <a:ext uri="{FF2B5EF4-FFF2-40B4-BE49-F238E27FC236}">
                <a16:creationId xmlns:a16="http://schemas.microsoft.com/office/drawing/2014/main" id="{6019A3D7-AC1E-9D46-A4D7-8D60FF8F4AAA}"/>
              </a:ext>
            </a:extLst>
          </p:cNvPr>
          <p:cNvSpPr>
            <a:spLocks noGrp="1" noChangeArrowheads="1"/>
          </p:cNvSpPr>
          <p:nvPr>
            <p:ph type="title"/>
          </p:nvPr>
        </p:nvSpPr>
        <p:spPr/>
        <p:txBody>
          <a:bodyPr/>
          <a:lstStyle/>
          <a:p>
            <a:r>
              <a:rPr lang="en-US" altLang="it-IT" b="0">
                <a:ea typeface="ＭＳ Ｐゴシック" panose="020B0600070205080204" pitchFamily="34" charset="-128"/>
              </a:rPr>
              <a:t>Nucleosintesi degli elementi nell</a:t>
            </a:r>
            <a:r>
              <a:rPr lang="en-US" altLang="en-GB" b="0">
                <a:ea typeface="ＭＳ Ｐゴシック" panose="020B0600070205080204" pitchFamily="34" charset="-128"/>
              </a:rPr>
              <a:t>’</a:t>
            </a:r>
            <a:r>
              <a:rPr lang="en-US" altLang="it-IT" b="0">
                <a:ea typeface="ＭＳ Ｐゴシック" panose="020B0600070205080204" pitchFamily="34" charset="-128"/>
              </a:rPr>
              <a:t>Universo</a:t>
            </a:r>
          </a:p>
        </p:txBody>
      </p:sp>
      <p:sp>
        <p:nvSpPr>
          <p:cNvPr id="103426" name="Segnaposto contenuto 2">
            <a:extLst>
              <a:ext uri="{FF2B5EF4-FFF2-40B4-BE49-F238E27FC236}">
                <a16:creationId xmlns:a16="http://schemas.microsoft.com/office/drawing/2014/main" id="{4E6F8CAC-2892-8F48-B2BC-EF2714139375}"/>
              </a:ext>
            </a:extLst>
          </p:cNvPr>
          <p:cNvSpPr>
            <a:spLocks noGrp="1" noChangeArrowheads="1"/>
          </p:cNvSpPr>
          <p:nvPr>
            <p:ph idx="1"/>
          </p:nvPr>
        </p:nvSpPr>
        <p:spPr>
          <a:xfrm>
            <a:off x="457200" y="762000"/>
            <a:ext cx="8229600" cy="4826000"/>
          </a:xfrm>
        </p:spPr>
        <p:txBody>
          <a:bodyPr/>
          <a:lstStyle/>
          <a:p>
            <a:pPr algn="just"/>
            <a:r>
              <a:rPr lang="en-US" altLang="it-IT" sz="2000" dirty="0">
                <a:ea typeface="ＭＳ Ｐゴシック" panose="020B0600070205080204" pitchFamily="34" charset="-128"/>
              </a:rPr>
              <a:t>Uno </a:t>
            </a:r>
            <a:r>
              <a:rPr lang="en-US" altLang="it-IT" sz="2000" dirty="0" err="1">
                <a:ea typeface="ＭＳ Ｐゴシック" panose="020B0600070205080204" pitchFamily="34" charset="-128"/>
              </a:rPr>
              <a:t>dei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principali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obiettivi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dell</a:t>
            </a:r>
            <a:r>
              <a:rPr lang="en-US" altLang="en-GB" sz="2000" dirty="0" err="1">
                <a:ea typeface="ＭＳ Ｐゴシック" panose="020B0600070205080204" pitchFamily="34" charset="-128"/>
              </a:rPr>
              <a:t>’</a:t>
            </a:r>
            <a:r>
              <a:rPr lang="en-US" altLang="it-IT" sz="2000" dirty="0" err="1">
                <a:ea typeface="ＭＳ Ｐゴシック" panose="020B0600070205080204" pitchFamily="34" charset="-128"/>
              </a:rPr>
              <a:t>astrofisica</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nucleare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è</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spiegare</a:t>
            </a:r>
            <a:r>
              <a:rPr lang="en-US" altLang="it-IT" sz="2000" dirty="0">
                <a:ea typeface="ＭＳ Ｐゴシック" panose="020B0600070205080204" pitchFamily="34" charset="-128"/>
              </a:rPr>
              <a:t> le </a:t>
            </a:r>
            <a:r>
              <a:rPr lang="en-US" altLang="it-IT" sz="2000" dirty="0" err="1">
                <a:ea typeface="ＭＳ Ｐゴシック" panose="020B0600070205080204" pitchFamily="34" charset="-128"/>
              </a:rPr>
              <a:t>abbondanze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degli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elementi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nell</a:t>
            </a:r>
            <a:r>
              <a:rPr lang="en-US" altLang="en-GB" sz="2000" dirty="0" err="1">
                <a:ea typeface="ＭＳ Ｐゴシック" panose="020B0600070205080204" pitchFamily="34" charset="-128"/>
              </a:rPr>
              <a:t>’</a:t>
            </a:r>
            <a:r>
              <a:rPr lang="en-US" altLang="it-IT" sz="2000" dirty="0" err="1">
                <a:ea typeface="ＭＳ Ｐゴシック" panose="020B0600070205080204" pitchFamily="34" charset="-128"/>
              </a:rPr>
              <a:t>Universo</a:t>
            </a:r>
            <a:r>
              <a:rPr lang="en-US" altLang="it-IT" sz="2000" dirty="0">
                <a:ea typeface="ＭＳ Ｐゴシック" panose="020B0600070205080204" pitchFamily="34" charset="-128"/>
              </a:rPr>
              <a:t>.</a:t>
            </a:r>
          </a:p>
          <a:p>
            <a:pPr algn="just">
              <a:buFontTx/>
              <a:buNone/>
            </a:pPr>
            <a:endParaRPr lang="en-US" altLang="it-IT" sz="2000" dirty="0">
              <a:ea typeface="ＭＳ Ｐゴシック" panose="020B0600070205080204" pitchFamily="34" charset="-128"/>
            </a:endParaRPr>
          </a:p>
          <a:p>
            <a:pPr algn="just"/>
            <a:r>
              <a:rPr lang="en-US" altLang="it-IT" sz="2000" dirty="0">
                <a:ea typeface="ＭＳ Ｐゴシック" panose="020B0600070205080204" pitchFamily="34" charset="-128"/>
              </a:rPr>
              <a:t>Si </a:t>
            </a:r>
            <a:r>
              <a:rPr lang="en-US" altLang="it-IT" sz="2000" dirty="0" err="1">
                <a:ea typeface="ＭＳ Ｐゴシック" panose="020B0600070205080204" pitchFamily="34" charset="-128"/>
              </a:rPr>
              <a:t>pensa</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che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L</a:t>
            </a:r>
            <a:r>
              <a:rPr lang="en-US" altLang="en-GB" sz="2000" dirty="0" err="1">
                <a:ea typeface="ＭＳ Ｐゴシック" panose="020B0600070205080204" pitchFamily="34" charset="-128"/>
              </a:rPr>
              <a:t>’</a:t>
            </a:r>
            <a:r>
              <a:rPr lang="en-US" altLang="it-IT" sz="2000" dirty="0" err="1">
                <a:ea typeface="ＭＳ Ｐゴシック" panose="020B0600070205080204" pitchFamily="34" charset="-128"/>
              </a:rPr>
              <a:t>elio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sia</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stato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prodotto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già</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nelle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fasi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iniziali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dell</a:t>
            </a:r>
            <a:r>
              <a:rPr lang="en-US" altLang="en-GB" sz="2000" dirty="0" err="1">
                <a:ea typeface="ＭＳ Ｐゴシック" panose="020B0600070205080204" pitchFamily="34" charset="-128"/>
              </a:rPr>
              <a:t>’</a:t>
            </a:r>
            <a:r>
              <a:rPr lang="en-US" altLang="it-IT" sz="2000" dirty="0" err="1">
                <a:ea typeface="ＭＳ Ｐゴシック" panose="020B0600070205080204" pitchFamily="34" charset="-128"/>
              </a:rPr>
              <a:t>Universo</a:t>
            </a:r>
            <a:r>
              <a:rPr lang="en-US" altLang="it-IT" sz="2000" dirty="0">
                <a:ea typeface="ＭＳ Ｐゴシック" panose="020B0600070205080204" pitchFamily="34" charset="-128"/>
              </a:rPr>
              <a:t> e a </a:t>
            </a:r>
            <a:r>
              <a:rPr lang="en-US" altLang="it-IT" sz="2000" dirty="0" err="1">
                <a:ea typeface="ＭＳ Ｐゴシック" panose="020B0600070205080204" pitchFamily="34" charset="-128"/>
              </a:rPr>
              <a:t>questo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è</a:t>
            </a:r>
            <a:r>
              <a:rPr lang="en-US" altLang="it-IT" sz="2000" dirty="0">
                <a:ea typeface="ＭＳ Ｐゴシック" panose="020B0600070205080204" pitchFamily="34" charset="-128"/>
              </a:rPr>
              <a:t> poi </a:t>
            </a:r>
            <a:r>
              <a:rPr lang="en-US" altLang="it-IT" sz="2000" dirty="0" err="1">
                <a:ea typeface="ＭＳ Ｐゴシック" panose="020B0600070205080204" pitchFamily="34" charset="-128"/>
              </a:rPr>
              <a:t>aggiunto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quello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sintetizzato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nelle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stelle</a:t>
            </a:r>
            <a:r>
              <a:rPr lang="en-US" altLang="it-IT" sz="2000" dirty="0">
                <a:ea typeface="ＭＳ Ｐゴシック" panose="020B0600070205080204" pitchFamily="34" charset="-128"/>
              </a:rPr>
              <a:t>.</a:t>
            </a:r>
          </a:p>
          <a:p>
            <a:pPr algn="just"/>
            <a:r>
              <a:rPr lang="en-US" altLang="it-IT" sz="2000" dirty="0" err="1">
                <a:ea typeface="ＭＳ Ｐゴシック" panose="020B0600070205080204" pitchFamily="34" charset="-128"/>
              </a:rPr>
              <a:t>Rimane</a:t>
            </a:r>
            <a:r>
              <a:rPr lang="en-US" altLang="it-IT" sz="2000" dirty="0">
                <a:ea typeface="ＭＳ Ｐゴシック" panose="020B0600070205080204" pitchFamily="34" charset="-128"/>
              </a:rPr>
              <a:t> da </a:t>
            </a:r>
            <a:r>
              <a:rPr lang="en-US" altLang="it-IT" sz="2000" dirty="0" err="1">
                <a:ea typeface="ＭＳ Ｐゴシック" panose="020B0600070205080204" pitchFamily="34" charset="-128"/>
              </a:rPr>
              <a:t>spiegare</a:t>
            </a:r>
            <a:r>
              <a:rPr lang="en-US" altLang="it-IT" sz="2000" dirty="0">
                <a:ea typeface="ＭＳ Ｐゴシック" panose="020B0600070205080204" pitchFamily="34" charset="-128"/>
              </a:rPr>
              <a:t> come </a:t>
            </a:r>
            <a:r>
              <a:rPr lang="en-US" altLang="it-IT" sz="2000" dirty="0" err="1">
                <a:ea typeface="ＭＳ Ｐゴシック" panose="020B0600070205080204" pitchFamily="34" charset="-128"/>
              </a:rPr>
              <a:t>si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sono</a:t>
            </a:r>
            <a:r>
              <a:rPr lang="en-US" altLang="it-IT" sz="2000" dirty="0">
                <a:ea typeface="ＭＳ Ｐゴシック" panose="020B0600070205080204" pitchFamily="34" charset="-128"/>
              </a:rPr>
              <a:t> poi </a:t>
            </a:r>
            <a:r>
              <a:rPr lang="en-US" altLang="it-IT" sz="2000" dirty="0" err="1">
                <a:ea typeface="ＭＳ Ｐゴシック" panose="020B0600070205080204" pitchFamily="34" charset="-128"/>
              </a:rPr>
              <a:t>formati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gli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elementi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più</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pesanti</a:t>
            </a:r>
            <a:r>
              <a:rPr lang="en-US" altLang="it-IT" sz="2000" dirty="0">
                <a:ea typeface="ＭＳ Ｐゴシック" panose="020B0600070205080204" pitchFamily="34" charset="-128"/>
              </a:rPr>
              <a:t>.</a:t>
            </a:r>
          </a:p>
          <a:p>
            <a:pPr algn="just"/>
            <a:endParaRPr lang="en-US" altLang="it-IT" sz="2000" dirty="0">
              <a:ea typeface="ＭＳ Ｐゴシック" panose="020B0600070205080204" pitchFamily="34" charset="-128"/>
            </a:endParaRPr>
          </a:p>
          <a:p>
            <a:r>
              <a:rPr lang="en-US" altLang="it-IT" sz="2000" dirty="0">
                <a:ea typeface="ＭＳ Ｐゴシック" panose="020B0600070205080204" pitchFamily="34" charset="-128"/>
              </a:rPr>
              <a:t>La </a:t>
            </a:r>
            <a:r>
              <a:rPr lang="en-US" altLang="it-IT" sz="2000" dirty="0" err="1">
                <a:ea typeface="ＭＳ Ｐゴシック" panose="020B0600070205080204" pitchFamily="34" charset="-128"/>
              </a:rPr>
              <a:t>spiegazione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risiede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nell</a:t>
            </a:r>
            <a:r>
              <a:rPr lang="en-US" altLang="en-GB" sz="2000" dirty="0" err="1">
                <a:ea typeface="ＭＳ Ｐゴシック" panose="020B0600070205080204" pitchFamily="34" charset="-128"/>
              </a:rPr>
              <a:t>’</a:t>
            </a:r>
            <a:r>
              <a:rPr lang="en-US" altLang="it-IT" sz="2000" dirty="0" err="1">
                <a:ea typeface="ＭＳ Ｐゴシック" panose="020B0600070205080204" pitchFamily="34" charset="-128"/>
              </a:rPr>
              <a:t>analisi</a:t>
            </a:r>
            <a:r>
              <a:rPr lang="en-US" altLang="it-IT" sz="2000" dirty="0">
                <a:ea typeface="ＭＳ Ｐゴシック" panose="020B0600070205080204" pitchFamily="34" charset="-128"/>
              </a:rPr>
              <a:t> di </a:t>
            </a:r>
            <a:r>
              <a:rPr lang="en-US" altLang="it-IT" sz="2000" dirty="0" err="1">
                <a:ea typeface="ＭＳ Ｐゴシック" panose="020B0600070205080204" pitchFamily="34" charset="-128"/>
              </a:rPr>
              <a:t>quali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sono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tutte</a:t>
            </a:r>
            <a:r>
              <a:rPr lang="en-US" altLang="it-IT" sz="2000" dirty="0">
                <a:ea typeface="ＭＳ Ｐゴシック" panose="020B0600070205080204" pitchFamily="34" charset="-128"/>
              </a:rPr>
              <a:t> le </a:t>
            </a:r>
            <a:r>
              <a:rPr lang="en-US" altLang="it-IT" sz="2000" dirty="0" err="1">
                <a:ea typeface="ＭＳ Ｐゴシック" panose="020B0600070205080204" pitchFamily="34" charset="-128"/>
              </a:rPr>
              <a:t>possibili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reazioni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nucleari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che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possono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avvenire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nelle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stelle</a:t>
            </a:r>
            <a:r>
              <a:rPr lang="en-US" altLang="it-IT" sz="2000" dirty="0">
                <a:ea typeface="ＭＳ Ｐゴシック" panose="020B0600070205080204" pitchFamily="34" charset="-128"/>
              </a:rPr>
              <a:t>. (Burbidge, E. M., Burbidge, G. R., Fowler, W. A. and Hoyle, F. 1957, Rev. Mod. Phys.29 , 547)</a:t>
            </a:r>
          </a:p>
          <a:p>
            <a:pPr marL="0" indent="0">
              <a:buNone/>
            </a:pPr>
            <a:endParaRPr lang="en-US" altLang="it-IT" sz="2000" dirty="0">
              <a:ea typeface="ＭＳ Ｐゴシック" panose="020B0600070205080204" pitchFamily="34" charset="-128"/>
            </a:endParaRPr>
          </a:p>
          <a:p>
            <a:r>
              <a:rPr lang="en-US" altLang="it-IT" sz="2000" dirty="0" err="1">
                <a:ea typeface="ＭＳ Ｐゴシック" panose="020B0600070205080204" pitchFamily="34" charset="-128"/>
              </a:rPr>
              <a:t>Cominciamo</a:t>
            </a:r>
            <a:r>
              <a:rPr lang="en-US" altLang="it-IT" sz="2000" dirty="0">
                <a:ea typeface="ＭＳ Ｐゴシック" panose="020B0600070205080204" pitchFamily="34" charset="-128"/>
              </a:rPr>
              <a:t> a </a:t>
            </a:r>
            <a:r>
              <a:rPr lang="en-US" altLang="it-IT" sz="2000" dirty="0" err="1">
                <a:ea typeface="ＭＳ Ｐゴシック" panose="020B0600070205080204" pitchFamily="34" charset="-128"/>
              </a:rPr>
              <a:t>vedere</a:t>
            </a:r>
            <a:r>
              <a:rPr lang="en-US" altLang="it-IT" sz="2000" dirty="0">
                <a:ea typeface="ＭＳ Ｐゴシック" panose="020B0600070205080204" pitchFamily="34" charset="-128"/>
              </a:rPr>
              <a:t> quelle </a:t>
            </a:r>
            <a:r>
              <a:rPr lang="en-US" altLang="it-IT" sz="2000" dirty="0" err="1">
                <a:ea typeface="ＭＳ Ｐゴシック" panose="020B0600070205080204" pitchFamily="34" charset="-128"/>
              </a:rPr>
              <a:t>che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possono</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portare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alla</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formazione</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degli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elementi</a:t>
            </a:r>
            <a:r>
              <a:rPr lang="en-US" altLang="it-IT" sz="2000" dirty="0">
                <a:ea typeface="ＭＳ Ｐゴシック" panose="020B0600070205080204" pitchFamily="34" charset="-128"/>
              </a:rPr>
              <a:t> </a:t>
            </a:r>
            <a:r>
              <a:rPr lang="en-US" altLang="it-IT" sz="2000" dirty="0" err="1">
                <a:ea typeface="ＭＳ Ｐゴシック" panose="020B0600070205080204" pitchFamily="34" charset="-128"/>
              </a:rPr>
              <a:t>fino</a:t>
            </a:r>
            <a:r>
              <a:rPr lang="en-US" altLang="it-IT" sz="2000" dirty="0">
                <a:ea typeface="ＭＳ Ｐゴシック" panose="020B0600070205080204" pitchFamily="34" charset="-128"/>
              </a:rPr>
              <a:t> al ferro.</a:t>
            </a:r>
          </a:p>
          <a:p>
            <a:pPr>
              <a:buFontTx/>
              <a:buNone/>
            </a:pPr>
            <a:endParaRPr lang="en-US" altLang="it-IT" sz="2000" dirty="0">
              <a:ea typeface="ＭＳ Ｐゴシック" panose="020B0600070205080204" pitchFamily="34" charset="-128"/>
            </a:endParaRPr>
          </a:p>
          <a:p>
            <a:pPr algn="just">
              <a:buFontTx/>
              <a:buNone/>
            </a:pPr>
            <a:endParaRPr lang="en-US" altLang="it-IT" sz="2000" dirty="0">
              <a:ea typeface="ＭＳ Ｐゴシック" panose="020B0600070205080204" pitchFamily="34" charset="-128"/>
            </a:endParaRPr>
          </a:p>
          <a:p>
            <a:pPr algn="just"/>
            <a:endParaRPr lang="en-US" altLang="it-IT" sz="2000" dirty="0">
              <a:ea typeface="ＭＳ Ｐゴシック"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58AB7646-7B31-2B44-B70E-61E78CFD4B3F}"/>
              </a:ext>
            </a:extLst>
          </p:cNvPr>
          <p:cNvSpPr>
            <a:spLocks noGrp="1" noChangeArrowheads="1"/>
          </p:cNvSpPr>
          <p:nvPr>
            <p:ph type="title"/>
          </p:nvPr>
        </p:nvSpPr>
        <p:spPr>
          <a:xfrm>
            <a:off x="333375" y="274638"/>
            <a:ext cx="8229600" cy="411162"/>
          </a:xfrm>
        </p:spPr>
        <p:txBody>
          <a:bodyPr/>
          <a:lstStyle/>
          <a:p>
            <a:pPr eaLnBrk="1" hangingPunct="1"/>
            <a:r>
              <a:rPr lang="it-IT" altLang="it-IT" sz="1800" dirty="0">
                <a:ea typeface="ＭＳ Ｐゴシック" panose="020B0600070205080204" pitchFamily="34" charset="-128"/>
              </a:rPr>
              <a:t>He- </a:t>
            </a:r>
            <a:r>
              <a:rPr lang="it-IT" altLang="it-IT" sz="1800" dirty="0" err="1">
                <a:ea typeface="ＭＳ Ｐゴシック" panose="020B0600070205080204" pitchFamily="34" charset="-128"/>
              </a:rPr>
              <a:t>Burning</a:t>
            </a:r>
            <a:r>
              <a:rPr lang="en-US" altLang="ja-JP" sz="1800" dirty="0">
                <a:ea typeface="ＭＳ Ｐゴシック" panose="020B0600070205080204" pitchFamily="34" charset="-128"/>
              </a:rPr>
              <a:t>: triple-alpha process</a:t>
            </a:r>
            <a:endParaRPr lang="en-US" altLang="it-IT" sz="1800" dirty="0">
              <a:ea typeface="ＭＳ Ｐゴシック" panose="020B0600070205080204" pitchFamily="34" charset="-128"/>
            </a:endParaRPr>
          </a:p>
        </p:txBody>
      </p:sp>
      <p:graphicFrame>
        <p:nvGraphicFramePr>
          <p:cNvPr id="110594" name="Object 2">
            <a:extLst>
              <a:ext uri="{FF2B5EF4-FFF2-40B4-BE49-F238E27FC236}">
                <a16:creationId xmlns:a16="http://schemas.microsoft.com/office/drawing/2014/main" id="{1A784EB4-590D-B64E-9C83-E3F1C9243845}"/>
              </a:ext>
            </a:extLst>
          </p:cNvPr>
          <p:cNvGraphicFramePr>
            <a:graphicFrameLocks noChangeAspect="1"/>
          </p:cNvGraphicFramePr>
          <p:nvPr/>
        </p:nvGraphicFramePr>
        <p:xfrm>
          <a:off x="2073275" y="2430463"/>
          <a:ext cx="2374900" cy="952500"/>
        </p:xfrm>
        <a:graphic>
          <a:graphicData uri="http://schemas.openxmlformats.org/presentationml/2006/ole">
            <mc:AlternateContent xmlns:mc="http://schemas.openxmlformats.org/markup-compatibility/2006">
              <mc:Choice xmlns:v="urn:schemas-microsoft-com:vml" Requires="v">
                <p:oleObj name="Equation" r:id="rId2" imgW="1206500" imgH="482600" progId="Equation.3">
                  <p:embed/>
                </p:oleObj>
              </mc:Choice>
              <mc:Fallback>
                <p:oleObj name="Equation" r:id="rId2" imgW="1206500" imgH="482600" progId="Equation.3">
                  <p:embed/>
                  <p:pic>
                    <p:nvPicPr>
                      <p:cNvPr id="110594" name="Object 2">
                        <a:extLst>
                          <a:ext uri="{FF2B5EF4-FFF2-40B4-BE49-F238E27FC236}">
                            <a16:creationId xmlns:a16="http://schemas.microsoft.com/office/drawing/2014/main" id="{1A784EB4-590D-B64E-9C83-E3F1C9243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275" y="2430463"/>
                        <a:ext cx="23749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0595" name="Object 3">
            <a:extLst>
              <a:ext uri="{FF2B5EF4-FFF2-40B4-BE49-F238E27FC236}">
                <a16:creationId xmlns:a16="http://schemas.microsoft.com/office/drawing/2014/main" id="{5947FA44-0987-6548-9562-CB36CD94D69F}"/>
              </a:ext>
            </a:extLst>
          </p:cNvPr>
          <p:cNvGraphicFramePr>
            <a:graphicFrameLocks noChangeAspect="1"/>
          </p:cNvGraphicFramePr>
          <p:nvPr/>
        </p:nvGraphicFramePr>
        <p:xfrm>
          <a:off x="1355725" y="3497263"/>
          <a:ext cx="4568825" cy="501650"/>
        </p:xfrm>
        <a:graphic>
          <a:graphicData uri="http://schemas.openxmlformats.org/presentationml/2006/ole">
            <mc:AlternateContent xmlns:mc="http://schemas.openxmlformats.org/markup-compatibility/2006">
              <mc:Choice xmlns:v="urn:schemas-microsoft-com:vml" Requires="v">
                <p:oleObj name="Equation" r:id="rId4" imgW="2413000" imgH="266700" progId="Equation.3">
                  <p:embed/>
                </p:oleObj>
              </mc:Choice>
              <mc:Fallback>
                <p:oleObj name="Equation" r:id="rId4" imgW="2413000" imgH="266700" progId="Equation.3">
                  <p:embed/>
                  <p:pic>
                    <p:nvPicPr>
                      <p:cNvPr id="110595" name="Object 3">
                        <a:extLst>
                          <a:ext uri="{FF2B5EF4-FFF2-40B4-BE49-F238E27FC236}">
                            <a16:creationId xmlns:a16="http://schemas.microsoft.com/office/drawing/2014/main" id="{5947FA44-0987-6548-9562-CB36CD94D6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5725" y="3497263"/>
                        <a:ext cx="45688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596" name="Object 4">
            <a:extLst>
              <a:ext uri="{FF2B5EF4-FFF2-40B4-BE49-F238E27FC236}">
                <a16:creationId xmlns:a16="http://schemas.microsoft.com/office/drawing/2014/main" id="{0AC9B38B-4F5C-4845-A38D-A08DA6A79718}"/>
              </a:ext>
            </a:extLst>
          </p:cNvPr>
          <p:cNvGraphicFramePr>
            <a:graphicFrameLocks noChangeAspect="1"/>
          </p:cNvGraphicFramePr>
          <p:nvPr/>
        </p:nvGraphicFramePr>
        <p:xfrm>
          <a:off x="1417638" y="4089400"/>
          <a:ext cx="4445000" cy="538163"/>
        </p:xfrm>
        <a:graphic>
          <a:graphicData uri="http://schemas.openxmlformats.org/presentationml/2006/ole">
            <mc:AlternateContent xmlns:mc="http://schemas.openxmlformats.org/markup-compatibility/2006">
              <mc:Choice xmlns:v="urn:schemas-microsoft-com:vml" Requires="v">
                <p:oleObj name="Equation" r:id="rId6" imgW="1981200" imgH="241300" progId="Equation.3">
                  <p:embed/>
                </p:oleObj>
              </mc:Choice>
              <mc:Fallback>
                <p:oleObj name="Equation" r:id="rId6" imgW="1981200" imgH="241300" progId="Equation.3">
                  <p:embed/>
                  <p:pic>
                    <p:nvPicPr>
                      <p:cNvPr id="110596" name="Object 4">
                        <a:extLst>
                          <a:ext uri="{FF2B5EF4-FFF2-40B4-BE49-F238E27FC236}">
                            <a16:creationId xmlns:a16="http://schemas.microsoft.com/office/drawing/2014/main" id="{0AC9B38B-4F5C-4845-A38D-A08DA6A797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7638" y="4089400"/>
                        <a:ext cx="4445000" cy="5381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597" name="Rectangle 8">
            <a:extLst>
              <a:ext uri="{FF2B5EF4-FFF2-40B4-BE49-F238E27FC236}">
                <a16:creationId xmlns:a16="http://schemas.microsoft.com/office/drawing/2014/main" id="{A0751636-45E0-5347-A22A-407702B46438}"/>
              </a:ext>
            </a:extLst>
          </p:cNvPr>
          <p:cNvSpPr>
            <a:spLocks noChangeArrowheads="1"/>
          </p:cNvSpPr>
          <p:nvPr/>
        </p:nvSpPr>
        <p:spPr bwMode="auto">
          <a:xfrm>
            <a:off x="296863" y="4779963"/>
            <a:ext cx="814705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1800" b="0"/>
              <a:t>An increase of  10% of  T increase of a factor </a:t>
            </a:r>
            <a:r>
              <a:rPr lang="en-US" altLang="ja-JP" sz="1800" b="0"/>
              <a:t>50 the energy generation rate.</a:t>
            </a:r>
          </a:p>
          <a:p>
            <a:pPr eaLnBrk="1" hangingPunct="1"/>
            <a:r>
              <a:rPr lang="en-US" altLang="it-IT" sz="1800" b="0"/>
              <a:t>The </a:t>
            </a:r>
            <a:r>
              <a:rPr lang="en-US" altLang="it-IT" sz="1800" b="0" baseline="30000"/>
              <a:t>12</a:t>
            </a:r>
            <a:r>
              <a:rPr lang="en-US" altLang="it-IT" sz="1800" b="0"/>
              <a:t>C can then react with another He nucleus and form </a:t>
            </a:r>
            <a:r>
              <a:rPr lang="en-US" altLang="it-IT" sz="1800" b="0" baseline="30000"/>
              <a:t>16</a:t>
            </a:r>
            <a:r>
              <a:rPr lang="en-US" altLang="it-IT" sz="1800" b="0"/>
              <a:t>O</a:t>
            </a:r>
          </a:p>
          <a:p>
            <a:pPr eaLnBrk="1" hangingPunct="1"/>
            <a:endParaRPr lang="en-US" altLang="it-IT" sz="1800" b="0"/>
          </a:p>
        </p:txBody>
      </p:sp>
      <p:pic>
        <p:nvPicPr>
          <p:cNvPr id="110598" name="Picture 9" descr="en_triple">
            <a:extLst>
              <a:ext uri="{FF2B5EF4-FFF2-40B4-BE49-F238E27FC236}">
                <a16:creationId xmlns:a16="http://schemas.microsoft.com/office/drawing/2014/main" id="{20909AF6-8ED4-C14E-8396-F1283D610C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9550" y="1016000"/>
            <a:ext cx="3397250"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Rettangolo 1">
                <a:extLst>
                  <a:ext uri="{FF2B5EF4-FFF2-40B4-BE49-F238E27FC236}">
                    <a16:creationId xmlns:a16="http://schemas.microsoft.com/office/drawing/2014/main" id="{DFA54E05-195E-C548-BB0A-D61C3A89A78E}"/>
                  </a:ext>
                </a:extLst>
              </p:cNvPr>
              <p:cNvSpPr/>
              <p:nvPr/>
            </p:nvSpPr>
            <p:spPr>
              <a:xfrm>
                <a:off x="296863" y="1092200"/>
                <a:ext cx="4572000" cy="1200150"/>
              </a:xfrm>
              <a:prstGeom prst="rect">
                <a:avLst/>
              </a:prstGeom>
            </p:spPr>
            <p:txBody>
              <a:bodyPr>
                <a:spAutoFit/>
              </a:bodyPr>
              <a:lstStyle/>
              <a:p>
                <a:pPr algn="just">
                  <a:defRPr/>
                </a:pPr>
                <a:r>
                  <a:rPr lang="it-IT" sz="1800" b="0" dirty="0">
                    <a:latin typeface="+mn-lt"/>
                  </a:rPr>
                  <a:t>When the </a:t>
                </a:r>
                <a:r>
                  <a:rPr lang="it-IT" sz="1800" b="0" dirty="0" err="1">
                    <a:latin typeface="+mn-lt"/>
                  </a:rPr>
                  <a:t>hydrogen</a:t>
                </a:r>
                <a:r>
                  <a:rPr lang="it-IT" sz="1800" b="0" dirty="0">
                    <a:latin typeface="+mn-lt"/>
                  </a:rPr>
                  <a:t> </a:t>
                </a:r>
                <a:r>
                  <a:rPr lang="it-IT" sz="1800" b="0" dirty="0" err="1">
                    <a:latin typeface="+mn-lt"/>
                  </a:rPr>
                  <a:t>fuel</a:t>
                </a:r>
                <a:r>
                  <a:rPr lang="it-IT" sz="1800" b="0" dirty="0">
                    <a:latin typeface="+mn-lt"/>
                  </a:rPr>
                  <a:t> in the core </a:t>
                </a:r>
                <a:r>
                  <a:rPr lang="it-IT" sz="1800" b="0" dirty="0" err="1">
                    <a:latin typeface="+mn-lt"/>
                  </a:rPr>
                  <a:t>gets</a:t>
                </a:r>
                <a:r>
                  <a:rPr lang="it-IT" sz="1800" b="0" dirty="0">
                    <a:latin typeface="+mn-lt"/>
                  </a:rPr>
                  <a:t> </a:t>
                </a:r>
                <a:r>
                  <a:rPr lang="it-IT" sz="1800" b="0" dirty="0" err="1">
                    <a:latin typeface="+mn-lt"/>
                  </a:rPr>
                  <a:t>exhausted</a:t>
                </a:r>
                <a:r>
                  <a:rPr lang="it-IT" sz="1800" b="0" dirty="0">
                    <a:latin typeface="+mn-lt"/>
                  </a:rPr>
                  <a:t>, and the </a:t>
                </a:r>
                <a:r>
                  <a:rPr lang="it-IT" sz="1800" b="0" dirty="0" err="1">
                    <a:latin typeface="+mn-lt"/>
                  </a:rPr>
                  <a:t>central</a:t>
                </a:r>
                <a:r>
                  <a:rPr lang="it-IT" sz="1800" b="0" dirty="0">
                    <a:latin typeface="+mn-lt"/>
                  </a:rPr>
                  <a:t> temperature </a:t>
                </a:r>
                <a:r>
                  <a:rPr lang="it-IT" sz="1800" b="0" dirty="0" err="1">
                    <a:latin typeface="+mn-lt"/>
                  </a:rPr>
                  <a:t>became</a:t>
                </a:r>
                <a:r>
                  <a:rPr lang="it-IT" sz="1800" b="0" dirty="0">
                    <a:latin typeface="+mn-lt"/>
                  </a:rPr>
                  <a:t> </a:t>
                </a:r>
                <a14:m>
                  <m:oMath xmlns:m="http://schemas.openxmlformats.org/officeDocument/2006/math">
                    <m:sSub>
                      <m:sSubPr>
                        <m:ctrlPr>
                          <a:rPr lang="it-IT" sz="1800" b="0" i="1" dirty="0" smtClean="0">
                            <a:latin typeface="Cambria Math" panose="02040503050406030204" pitchFamily="18" charset="0"/>
                          </a:rPr>
                        </m:ctrlPr>
                      </m:sSubPr>
                      <m:e>
                        <m:r>
                          <m:rPr>
                            <m:sty m:val="p"/>
                          </m:rPr>
                          <a:rPr lang="it-IT" sz="1800" b="0" i="0" dirty="0" smtClean="0">
                            <a:latin typeface="Cambria Math" panose="02040503050406030204" pitchFamily="18" charset="0"/>
                          </a:rPr>
                          <m:t>T</m:t>
                        </m:r>
                      </m:e>
                      <m:sub>
                        <m:r>
                          <a:rPr lang="it-IT" sz="1800" b="0" i="1" dirty="0" smtClean="0">
                            <a:latin typeface="Cambria Math" panose="02040503050406030204" pitchFamily="18" charset="0"/>
                          </a:rPr>
                          <m:t>𝑐</m:t>
                        </m:r>
                      </m:sub>
                    </m:sSub>
                    <m:r>
                      <a:rPr lang="it-IT" sz="1800" b="0" i="1" dirty="0">
                        <a:latin typeface="Cambria Math" panose="02040503050406030204" pitchFamily="18" charset="0"/>
                      </a:rPr>
                      <m:t> ≈ 10</m:t>
                    </m:r>
                    <m:r>
                      <a:rPr lang="it-IT" sz="1800" b="0" i="1" baseline="30000" dirty="0">
                        <a:latin typeface="Cambria Math" panose="02040503050406030204" pitchFamily="18" charset="0"/>
                      </a:rPr>
                      <m:t>8</m:t>
                    </m:r>
                    <m:r>
                      <a:rPr lang="it-IT" sz="1800" b="0" i="1" dirty="0">
                        <a:latin typeface="Cambria Math" panose="02040503050406030204" pitchFamily="18" charset="0"/>
                      </a:rPr>
                      <m:t> </m:t>
                    </m:r>
                    <m:r>
                      <a:rPr lang="it-IT" sz="1800" b="0" i="1" dirty="0">
                        <a:latin typeface="Cambria Math" panose="02040503050406030204" pitchFamily="18" charset="0"/>
                      </a:rPr>
                      <m:t>𝐾</m:t>
                    </m:r>
                    <m:r>
                      <a:rPr lang="it-IT" sz="1800" b="0" i="1" dirty="0">
                        <a:latin typeface="Cambria Math" panose="02040503050406030204" pitchFamily="18" charset="0"/>
                      </a:rPr>
                      <m:t> </m:t>
                    </m:r>
                  </m:oMath>
                </a14:m>
                <a:r>
                  <a:rPr lang="it-IT" sz="1800" b="0" dirty="0" err="1">
                    <a:latin typeface="+mn-lt"/>
                  </a:rPr>
                  <a:t>it</a:t>
                </a:r>
                <a:r>
                  <a:rPr lang="it-IT" sz="1800" b="0" dirty="0">
                    <a:latin typeface="+mn-lt"/>
                  </a:rPr>
                  <a:t> </a:t>
                </a:r>
                <a:r>
                  <a:rPr lang="it-IT" sz="1800" b="0" dirty="0" err="1">
                    <a:latin typeface="+mn-lt"/>
                  </a:rPr>
                  <a:t>is</a:t>
                </a:r>
                <a:r>
                  <a:rPr lang="it-IT" sz="1800" b="0" dirty="0">
                    <a:latin typeface="+mn-lt"/>
                  </a:rPr>
                  <a:t> </a:t>
                </a:r>
                <a:r>
                  <a:rPr lang="it-IT" sz="1800" b="0" dirty="0" err="1">
                    <a:latin typeface="+mn-lt"/>
                  </a:rPr>
                  <a:t>possible</a:t>
                </a:r>
                <a:r>
                  <a:rPr lang="it-IT" sz="1800" b="0" dirty="0">
                    <a:latin typeface="+mn-lt"/>
                  </a:rPr>
                  <a:t> to ignite </a:t>
                </a:r>
                <a:r>
                  <a:rPr lang="it-IT" sz="1800" b="0" dirty="0" err="1">
                    <a:solidFill>
                      <a:srgbClr val="FF0000"/>
                    </a:solidFill>
                    <a:latin typeface="+mn-lt"/>
                  </a:rPr>
                  <a:t>helium</a:t>
                </a:r>
                <a:r>
                  <a:rPr lang="it-IT" sz="1800" b="0" dirty="0">
                    <a:solidFill>
                      <a:srgbClr val="FF0000"/>
                    </a:solidFill>
                    <a:latin typeface="+mn-lt"/>
                  </a:rPr>
                  <a:t> core </a:t>
                </a:r>
                <a:r>
                  <a:rPr lang="it-IT" sz="1800" b="0" dirty="0" err="1">
                    <a:solidFill>
                      <a:srgbClr val="FF0000"/>
                    </a:solidFill>
                    <a:latin typeface="+mn-lt"/>
                  </a:rPr>
                  <a:t>burning</a:t>
                </a:r>
                <a:r>
                  <a:rPr lang="it-IT" sz="1800" b="0" dirty="0">
                    <a:latin typeface="+mn-lt"/>
                  </a:rPr>
                  <a:t>. </a:t>
                </a:r>
              </a:p>
            </p:txBody>
          </p:sp>
        </mc:Choice>
        <mc:Fallback xmlns="">
          <p:sp>
            <p:nvSpPr>
              <p:cNvPr id="2" name="Rettangolo 1">
                <a:extLst>
                  <a:ext uri="{FF2B5EF4-FFF2-40B4-BE49-F238E27FC236}">
                    <a16:creationId xmlns:a16="http://schemas.microsoft.com/office/drawing/2014/main" id="{DFA54E05-195E-C548-BB0A-D61C3A89A78E}"/>
                  </a:ext>
                </a:extLst>
              </p:cNvPr>
              <p:cNvSpPr>
                <a:spLocks noRot="1" noChangeAspect="1" noMove="1" noResize="1" noEditPoints="1" noAdjustHandles="1" noChangeArrowheads="1" noChangeShapeType="1" noTextEdit="1"/>
              </p:cNvSpPr>
              <p:nvPr/>
            </p:nvSpPr>
            <p:spPr>
              <a:xfrm>
                <a:off x="296863" y="1092200"/>
                <a:ext cx="4572000" cy="1200150"/>
              </a:xfrm>
              <a:prstGeom prst="rect">
                <a:avLst/>
              </a:prstGeom>
              <a:blipFill>
                <a:blip r:embed="rId10"/>
                <a:stretch>
                  <a:fillRect l="-831" t="-1042" r="-1108" b="-5208"/>
                </a:stretch>
              </a:blipFill>
            </p:spPr>
            <p:txBody>
              <a:bodyPr/>
              <a:lstStyle/>
              <a:p>
                <a:r>
                  <a:rPr lang="it-IT">
                    <a:noFill/>
                  </a:rPr>
                  <a:t> </a:t>
                </a:r>
              </a:p>
            </p:txBody>
          </p:sp>
        </mc:Fallback>
      </mc:AlternateContent>
      <p:pic>
        <p:nvPicPr>
          <p:cNvPr id="110600" name="Immagine 2">
            <a:extLst>
              <a:ext uri="{FF2B5EF4-FFF2-40B4-BE49-F238E27FC236}">
                <a16:creationId xmlns:a16="http://schemas.microsoft.com/office/drawing/2014/main" id="{E3585F48-ECFA-8945-BEEC-4A8E0C583C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6050" y="5767388"/>
            <a:ext cx="26035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egnaposto numero diapositiva 5">
            <a:extLst>
              <a:ext uri="{FF2B5EF4-FFF2-40B4-BE49-F238E27FC236}">
                <a16:creationId xmlns:a16="http://schemas.microsoft.com/office/drawing/2014/main" id="{DCE956AB-1470-7441-AE5E-C498E259F3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F770F0C0-225D-E043-9828-AFF627B59195}" type="slidenum">
              <a:rPr lang="en-GB" altLang="it-IT" sz="1400" smtClean="0"/>
              <a:pPr>
                <a:spcBef>
                  <a:spcPct val="0"/>
                </a:spcBef>
                <a:buFontTx/>
                <a:buNone/>
              </a:pPr>
              <a:t>24</a:t>
            </a:fld>
            <a:endParaRPr lang="en-GB" altLang="it-IT" sz="1400"/>
          </a:p>
        </p:txBody>
      </p:sp>
      <p:sp>
        <p:nvSpPr>
          <p:cNvPr id="111618" name="Rectangle 2">
            <a:extLst>
              <a:ext uri="{FF2B5EF4-FFF2-40B4-BE49-F238E27FC236}">
                <a16:creationId xmlns:a16="http://schemas.microsoft.com/office/drawing/2014/main" id="{0770419A-F09A-BC4C-9042-679C0F1B0E95}"/>
              </a:ext>
            </a:extLst>
          </p:cNvPr>
          <p:cNvSpPr>
            <a:spLocks noGrp="1" noChangeArrowheads="1"/>
          </p:cNvSpPr>
          <p:nvPr>
            <p:ph type="title"/>
          </p:nvPr>
        </p:nvSpPr>
        <p:spPr>
          <a:xfrm>
            <a:off x="228600" y="228600"/>
            <a:ext cx="8001000" cy="609600"/>
          </a:xfrm>
        </p:spPr>
        <p:txBody>
          <a:bodyPr/>
          <a:lstStyle/>
          <a:p>
            <a:r>
              <a:rPr lang="en-GB" altLang="it-IT" sz="1800">
                <a:ea typeface="ＭＳ Ｐゴシック" panose="020B0600070205080204" pitchFamily="34" charset="-128"/>
              </a:rPr>
              <a:t>After the He-burning: Carbon burning</a:t>
            </a:r>
          </a:p>
        </p:txBody>
      </p:sp>
      <p:sp>
        <p:nvSpPr>
          <p:cNvPr id="111619" name="Rectangle 3">
            <a:extLst>
              <a:ext uri="{FF2B5EF4-FFF2-40B4-BE49-F238E27FC236}">
                <a16:creationId xmlns:a16="http://schemas.microsoft.com/office/drawing/2014/main" id="{CB040710-7E2C-4F4D-A8AF-BED6D2061345}"/>
              </a:ext>
            </a:extLst>
          </p:cNvPr>
          <p:cNvSpPr>
            <a:spLocks noChangeArrowheads="1"/>
          </p:cNvSpPr>
          <p:nvPr/>
        </p:nvSpPr>
        <p:spPr bwMode="auto">
          <a:xfrm>
            <a:off x="4343400" y="2819400"/>
            <a:ext cx="4114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GB" altLang="it-IT" sz="2400" b="0"/>
          </a:p>
          <a:p>
            <a:pPr eaLnBrk="1" hangingPunct="1">
              <a:spcBef>
                <a:spcPct val="0"/>
              </a:spcBef>
              <a:buFontTx/>
              <a:buNone/>
            </a:pPr>
            <a:endParaRPr lang="en-GB" altLang="it-IT" sz="2400" b="0"/>
          </a:p>
          <a:p>
            <a:pPr eaLnBrk="1" hangingPunct="1">
              <a:spcBef>
                <a:spcPct val="0"/>
              </a:spcBef>
              <a:buFontTx/>
              <a:buNone/>
            </a:pPr>
            <a:r>
              <a:rPr lang="en-GB" altLang="it-IT" sz="2400" b="0"/>
              <a:t> </a:t>
            </a:r>
          </a:p>
        </p:txBody>
      </p:sp>
      <mc:AlternateContent xmlns:mc="http://schemas.openxmlformats.org/markup-compatibility/2006" xmlns:a14="http://schemas.microsoft.com/office/drawing/2010/main">
        <mc:Choice Requires="a14">
          <p:sp>
            <p:nvSpPr>
              <p:cNvPr id="111620" name="Rectangle 4">
                <a:extLst>
                  <a:ext uri="{FF2B5EF4-FFF2-40B4-BE49-F238E27FC236}">
                    <a16:creationId xmlns:a16="http://schemas.microsoft.com/office/drawing/2014/main" id="{F13164B4-E322-2F47-B647-694799D28331}"/>
                  </a:ext>
                </a:extLst>
              </p:cNvPr>
              <p:cNvSpPr>
                <a:spLocks noChangeArrowheads="1"/>
              </p:cNvSpPr>
              <p:nvPr/>
            </p:nvSpPr>
            <p:spPr bwMode="auto">
              <a:xfrm>
                <a:off x="304800" y="914399"/>
                <a:ext cx="8534400" cy="39290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GB" altLang="it-IT" sz="2000" b="0" dirty="0">
                    <a:latin typeface="Tahoma" panose="020B0604030504040204" pitchFamily="34" charset="0"/>
                  </a:rPr>
                  <a:t>Stars with                  can ignite </a:t>
                </a:r>
                <a14:m>
                  <m:oMath xmlns:m="http://schemas.openxmlformats.org/officeDocument/2006/math">
                    <m:r>
                      <m:rPr>
                        <m:sty m:val="p"/>
                      </m:rPr>
                      <a:rPr lang="en-GB" altLang="it-IT" sz="2000" b="0" i="0" dirty="0" smtClean="0">
                        <a:solidFill>
                          <a:srgbClr val="FF0000"/>
                        </a:solidFill>
                        <a:latin typeface="Cambria Math" panose="02040503050406030204" pitchFamily="18" charset="0"/>
                      </a:rPr>
                      <m:t>Carbon</m:t>
                    </m:r>
                    <m:r>
                      <a:rPr lang="en-GB" altLang="it-IT" sz="2000" b="0" i="0" dirty="0" smtClean="0">
                        <a:solidFill>
                          <a:srgbClr val="FF0000"/>
                        </a:solidFill>
                        <a:latin typeface="Cambria Math" panose="02040503050406030204" pitchFamily="18" charset="0"/>
                      </a:rPr>
                      <m:t> </m:t>
                    </m:r>
                    <m:r>
                      <m:rPr>
                        <m:sty m:val="p"/>
                      </m:rPr>
                      <a:rPr lang="en-GB" altLang="it-IT" sz="2000" b="0" i="0" dirty="0" smtClean="0">
                        <a:solidFill>
                          <a:srgbClr val="FF0000"/>
                        </a:solidFill>
                        <a:latin typeface="Cambria Math" panose="02040503050406030204" pitchFamily="18" charset="0"/>
                      </a:rPr>
                      <m:t>burning</m:t>
                    </m:r>
                  </m:oMath>
                </a14:m>
                <a:r>
                  <a:rPr lang="en-GB" altLang="it-IT" sz="2000" b="0" dirty="0">
                    <a:latin typeface="Tahoma" panose="020B0604030504040204" pitchFamily="34" charset="0"/>
                  </a:rPr>
                  <a:t>. Carbon starts to burn when the temperatures reach </a:t>
                </a:r>
                <a14:m>
                  <m:oMath xmlns:m="http://schemas.openxmlformats.org/officeDocument/2006/math">
                    <m:r>
                      <a:rPr lang="en-GB" altLang="it-IT" sz="2000" b="0" i="1" dirty="0" smtClean="0">
                        <a:latin typeface="Cambria Math" panose="02040503050406030204" pitchFamily="18" charset="0"/>
                      </a:rPr>
                      <m:t>5 × 10</m:t>
                    </m:r>
                    <m:r>
                      <a:rPr lang="en-GB" altLang="it-IT" sz="2000" b="0" i="1" baseline="30000" dirty="0">
                        <a:latin typeface="Cambria Math" panose="02040503050406030204" pitchFamily="18" charset="0"/>
                      </a:rPr>
                      <m:t>8</m:t>
                    </m:r>
                    <m:r>
                      <a:rPr lang="en-GB" altLang="it-IT" sz="2000" b="0" i="1" dirty="0">
                        <a:latin typeface="Cambria Math" panose="02040503050406030204" pitchFamily="18" charset="0"/>
                      </a:rPr>
                      <m:t> </m:t>
                    </m:r>
                    <m:r>
                      <a:rPr lang="en-GB" altLang="it-IT" sz="2000" b="0" i="1" dirty="0">
                        <a:latin typeface="Cambria Math" panose="02040503050406030204" pitchFamily="18" charset="0"/>
                      </a:rPr>
                      <m:t>𝐾</m:t>
                    </m:r>
                  </m:oMath>
                </a14:m>
                <a:r>
                  <a:rPr lang="en-GB" altLang="it-IT" sz="2000" b="0" dirty="0">
                    <a:latin typeface="Tahoma" panose="020B0604030504040204" pitchFamily="34" charset="0"/>
                  </a:rPr>
                  <a:t>. There are several channels of carbon burning:</a:t>
                </a: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endParaRPr lang="en-GB" altLang="it-IT" sz="2000" b="0" dirty="0">
                  <a:latin typeface="Tahoma" panose="020B0604030504040204" pitchFamily="34" charset="0"/>
                </a:endParaRPr>
              </a:p>
              <a:p>
                <a:pPr eaLnBrk="1" hangingPunct="1">
                  <a:spcBef>
                    <a:spcPct val="0"/>
                  </a:spcBef>
                  <a:buFontTx/>
                  <a:buNone/>
                </a:pPr>
                <a:r>
                  <a:rPr lang="en-GB" altLang="it-IT" sz="2000" b="0" dirty="0">
                    <a:latin typeface="Tahoma" panose="020B0604030504040204" pitchFamily="34" charset="0"/>
                  </a:rPr>
                  <a:t>The overall energy generation is about </a:t>
                </a:r>
                <a14:m>
                  <m:oMath xmlns:m="http://schemas.openxmlformats.org/officeDocument/2006/math">
                    <m:r>
                      <a:rPr lang="en-GB" altLang="it-IT" sz="2000" b="0" i="1" dirty="0" smtClean="0">
                        <a:latin typeface="Cambria Math" panose="02040503050406030204" pitchFamily="18" charset="0"/>
                      </a:rPr>
                      <m:t>5.2 × 10</m:t>
                    </m:r>
                    <m:r>
                      <a:rPr lang="en-GB" altLang="it-IT" sz="2000" b="0" i="1" baseline="30000" dirty="0">
                        <a:latin typeface="Cambria Math" panose="02040503050406030204" pitchFamily="18" charset="0"/>
                      </a:rPr>
                      <m:t>17 </m:t>
                    </m:r>
                  </m:oMath>
                </a14:m>
                <a:r>
                  <a:rPr lang="en-GB" altLang="it-IT" sz="2000" b="0" dirty="0">
                    <a:latin typeface="Tahoma" panose="020B0604030504040204" pitchFamily="34" charset="0"/>
                  </a:rPr>
                  <a:t>erg g</a:t>
                </a:r>
                <a:r>
                  <a:rPr lang="en-GB" altLang="it-IT" sz="2000" b="0" baseline="30000" dirty="0">
                    <a:latin typeface="Tahoma" panose="020B0604030504040204" pitchFamily="34" charset="0"/>
                  </a:rPr>
                  <a:t>−1.</a:t>
                </a:r>
              </a:p>
              <a:p>
                <a:pPr eaLnBrk="1" hangingPunct="1">
                  <a:spcBef>
                    <a:spcPct val="0"/>
                  </a:spcBef>
                  <a:buFontTx/>
                  <a:buNone/>
                </a:pPr>
                <a:endParaRPr lang="en-GB" altLang="it-IT" sz="2000" b="0" dirty="0">
                  <a:latin typeface="Tahoma" panose="020B0604030504040204" pitchFamily="34" charset="0"/>
                </a:endParaRPr>
              </a:p>
            </p:txBody>
          </p:sp>
        </mc:Choice>
        <mc:Fallback xmlns="">
          <p:sp>
            <p:nvSpPr>
              <p:cNvPr id="111620" name="Rectangle 4">
                <a:extLst>
                  <a:ext uri="{FF2B5EF4-FFF2-40B4-BE49-F238E27FC236}">
                    <a16:creationId xmlns:a16="http://schemas.microsoft.com/office/drawing/2014/main" id="{F13164B4-E322-2F47-B647-694799D28331}"/>
                  </a:ext>
                </a:extLst>
              </p:cNvPr>
              <p:cNvSpPr>
                <a:spLocks noRot="1" noChangeAspect="1" noMove="1" noResize="1" noEditPoints="1" noAdjustHandles="1" noChangeArrowheads="1" noChangeShapeType="1" noTextEdit="1"/>
              </p:cNvSpPr>
              <p:nvPr/>
            </p:nvSpPr>
            <p:spPr bwMode="auto">
              <a:xfrm>
                <a:off x="304800" y="914399"/>
                <a:ext cx="8534400" cy="3929063"/>
              </a:xfrm>
              <a:prstGeom prst="rect">
                <a:avLst/>
              </a:prstGeom>
              <a:blipFill>
                <a:blip r:embed="rId3"/>
                <a:stretch>
                  <a:fillRect l="-744" t="-9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pic>
        <p:nvPicPr>
          <p:cNvPr id="111621" name="Immagine 1">
            <a:extLst>
              <a:ext uri="{FF2B5EF4-FFF2-40B4-BE49-F238E27FC236}">
                <a16:creationId xmlns:a16="http://schemas.microsoft.com/office/drawing/2014/main" id="{BBAD54A2-4199-D842-A31E-B9DB332616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913" y="987425"/>
            <a:ext cx="12334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2" name="Immagine 2">
            <a:extLst>
              <a:ext uri="{FF2B5EF4-FFF2-40B4-BE49-F238E27FC236}">
                <a16:creationId xmlns:a16="http://schemas.microsoft.com/office/drawing/2014/main" id="{5132C4F4-CF2A-CD40-AEE9-74BEC0692E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8025" y="1922463"/>
            <a:ext cx="41973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Rectangle 7">
                <a:extLst>
                  <a:ext uri="{FF2B5EF4-FFF2-40B4-BE49-F238E27FC236}">
                    <a16:creationId xmlns:a16="http://schemas.microsoft.com/office/drawing/2014/main" id="{A1E90F3B-9CD3-6F43-AE7E-D8600B0C3A14}"/>
                  </a:ext>
                </a:extLst>
              </p:cNvPr>
              <p:cNvSpPr>
                <a:spLocks noChangeArrowheads="1"/>
              </p:cNvSpPr>
              <p:nvPr/>
            </p:nvSpPr>
            <p:spPr bwMode="auto">
              <a:xfrm>
                <a:off x="228600" y="5373688"/>
                <a:ext cx="8610600" cy="871537"/>
              </a:xfrm>
              <a:prstGeom prst="rect">
                <a:avLst/>
              </a:prstGeom>
              <a:noFill/>
              <a:ln>
                <a:noFill/>
              </a:ln>
              <a:effectLst/>
              <a:extLst>
                <a:ext uri="{909E8E84-426E-40dd-AFC4-6F175D3DCCD1}"/>
                <a:ext uri="{91240B29-F687-4f45-9708-019B960494DF}"/>
                <a:ext uri="{AF507438-7753-43e0-B8FC-AC1667EBCBE1}"/>
              </a:extLst>
            </p:spPr>
            <p:txBody>
              <a:bodyPr/>
              <a:lstStyle/>
              <a:p>
                <a:pPr eaLnBrk="1" hangingPunct="1">
                  <a:defRPr/>
                </a:pPr>
                <a:r>
                  <a:rPr lang="en-GB" sz="1600" b="0" dirty="0">
                    <a:latin typeface="+mj-lt"/>
                    <a:ea typeface="ＭＳ Ｐゴシック" charset="0"/>
                    <a:cs typeface="ＭＳ Ｐゴシック" charset="0"/>
                  </a:rPr>
                  <a:t>These reactions produce </a:t>
                </a:r>
                <a14:m>
                  <m:oMath xmlns:m="http://schemas.openxmlformats.org/officeDocument/2006/math">
                    <m:r>
                      <a:rPr lang="en-GB" sz="1600" b="0" i="1" dirty="0" smtClean="0">
                        <a:latin typeface="Cambria Math" panose="02040503050406030204" pitchFamily="18" charset="0"/>
                        <a:ea typeface="ＭＳ Ｐゴシック" charset="0"/>
                        <a:cs typeface="ＭＳ Ｐゴシック" charset="0"/>
                      </a:rPr>
                      <m:t>𝑝</m:t>
                    </m:r>
                    <m:r>
                      <a:rPr lang="en-GB" sz="1600" b="0" i="1" dirty="0" smtClean="0">
                        <a:latin typeface="Cambria Math" panose="02040503050406030204" pitchFamily="18" charset="0"/>
                        <a:ea typeface="ＭＳ Ｐゴシック" charset="0"/>
                        <a:cs typeface="ＭＳ Ｐゴシック" charset="0"/>
                      </a:rPr>
                      <m:t>, </m:t>
                    </m:r>
                    <m:r>
                      <a:rPr lang="en-GB" sz="1600" b="0" i="1" dirty="0" smtClean="0">
                        <a:latin typeface="Cambria Math" panose="02040503050406030204" pitchFamily="18" charset="0"/>
                        <a:ea typeface="ＭＳ Ｐゴシック" charset="0"/>
                        <a:cs typeface="ＭＳ Ｐゴシック" charset="0"/>
                      </a:rPr>
                      <m:t>𝑛</m:t>
                    </m:r>
                    <m:r>
                      <a:rPr lang="en-GB" sz="1600" b="0" i="1" dirty="0" smtClean="0">
                        <a:latin typeface="Cambria Math" panose="02040503050406030204" pitchFamily="18" charset="0"/>
                        <a:ea typeface="ＭＳ Ｐゴシック" charset="0"/>
                        <a:cs typeface="ＭＳ Ｐゴシック" charset="0"/>
                      </a:rPr>
                      <m:t>, </m:t>
                    </m:r>
                    <m:r>
                      <a:rPr lang="en-GB" sz="1600" b="0" i="1" dirty="0" smtClean="0">
                        <a:latin typeface="Cambria Math" panose="02040503050406030204" pitchFamily="18" charset="0"/>
                        <a:ea typeface="ＭＳ Ｐゴシック" charset="0"/>
                        <a:cs typeface="ＭＳ Ｐゴシック" charset="0"/>
                      </a:rPr>
                      <m:t>𝑎</m:t>
                    </m:r>
                  </m:oMath>
                </a14:m>
                <a:r>
                  <a:rPr lang="en-GB" sz="1600" b="0" dirty="0">
                    <a:latin typeface="+mj-lt"/>
                    <a:ea typeface="ＭＳ Ｐゴシック" charset="0"/>
                    <a:cs typeface="ＭＳ Ｐゴシック" charset="0"/>
                  </a:rPr>
                  <a:t>, which are immediately captured by heavy nuclei, thus many isotopes are created by secondary reactions.  </a:t>
                </a:r>
              </a:p>
            </p:txBody>
          </p:sp>
        </mc:Choice>
        <mc:Fallback xmlns="">
          <p:sp>
            <p:nvSpPr>
              <p:cNvPr id="11" name="Rectangle 7">
                <a:extLst>
                  <a:ext uri="{FF2B5EF4-FFF2-40B4-BE49-F238E27FC236}">
                    <a16:creationId xmlns:a16="http://schemas.microsoft.com/office/drawing/2014/main" id="{A1E90F3B-9CD3-6F43-AE7E-D8600B0C3A14}"/>
                  </a:ext>
                </a:extLst>
              </p:cNvPr>
              <p:cNvSpPr>
                <a:spLocks noRot="1" noChangeAspect="1" noMove="1" noResize="1" noEditPoints="1" noAdjustHandles="1" noChangeArrowheads="1" noChangeShapeType="1" noTextEdit="1"/>
              </p:cNvSpPr>
              <p:nvPr/>
            </p:nvSpPr>
            <p:spPr bwMode="auto">
              <a:xfrm>
                <a:off x="228600" y="5373688"/>
                <a:ext cx="8610600" cy="871537"/>
              </a:xfrm>
              <a:prstGeom prst="rect">
                <a:avLst/>
              </a:prstGeom>
              <a:blipFill>
                <a:blip r:embed="rId6"/>
                <a:stretch>
                  <a:fillRect l="-295" t="-1429"/>
                </a:stretch>
              </a:blipFill>
              <a:ln>
                <a:noFill/>
              </a:ln>
              <a:effectLst/>
              <a:extLst>
                <a:ext uri="{909E8E84-426E-40dd-AFC4-6F175D3DCCD1}"/>
                <a:ext uri="{91240B29-F687-4f45-9708-019B960494DF}"/>
                <a:ext uri="{AF507438-7753-43e0-B8FC-AC1667EBCBE1}"/>
              </a:extLst>
            </p:spPr>
            <p:txBody>
              <a:bodyPr/>
              <a:lstStyle/>
              <a:p>
                <a:r>
                  <a:rPr lang="it-IT">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egnaposto numero diapositiva 5">
            <a:extLst>
              <a:ext uri="{FF2B5EF4-FFF2-40B4-BE49-F238E27FC236}">
                <a16:creationId xmlns:a16="http://schemas.microsoft.com/office/drawing/2014/main" id="{7865F036-2E27-5046-9FE5-9FA89D869F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10C65C1-E7E2-9A49-BC1D-D9054C18681A}" type="slidenum">
              <a:rPr lang="en-GB" altLang="it-IT" sz="1400" smtClean="0"/>
              <a:pPr>
                <a:spcBef>
                  <a:spcPct val="0"/>
                </a:spcBef>
                <a:buFontTx/>
                <a:buNone/>
              </a:pPr>
              <a:t>25</a:t>
            </a:fld>
            <a:endParaRPr lang="en-GB" altLang="it-IT" sz="1400"/>
          </a:p>
        </p:txBody>
      </p:sp>
      <p:sp>
        <p:nvSpPr>
          <p:cNvPr id="113666" name="Rectangle 2">
            <a:extLst>
              <a:ext uri="{FF2B5EF4-FFF2-40B4-BE49-F238E27FC236}">
                <a16:creationId xmlns:a16="http://schemas.microsoft.com/office/drawing/2014/main" id="{FA26D51F-4D1F-5F4F-AA6B-8D76DCD25387}"/>
              </a:ext>
            </a:extLst>
          </p:cNvPr>
          <p:cNvSpPr>
            <a:spLocks noGrp="1" noChangeArrowheads="1"/>
          </p:cNvSpPr>
          <p:nvPr>
            <p:ph type="title"/>
          </p:nvPr>
        </p:nvSpPr>
        <p:spPr>
          <a:xfrm>
            <a:off x="228600" y="228600"/>
            <a:ext cx="8001000" cy="609600"/>
          </a:xfrm>
        </p:spPr>
        <p:txBody>
          <a:bodyPr/>
          <a:lstStyle/>
          <a:p>
            <a:r>
              <a:rPr lang="en-GB" altLang="it-IT" sz="1800">
                <a:ea typeface="ＭＳ Ｐゴシック" panose="020B0600070205080204" pitchFamily="34" charset="-128"/>
              </a:rPr>
              <a:t>After C-burning: Oxygen burning</a:t>
            </a:r>
          </a:p>
        </p:txBody>
      </p:sp>
      <p:sp>
        <p:nvSpPr>
          <p:cNvPr id="113667" name="Rectangle 3">
            <a:extLst>
              <a:ext uri="{FF2B5EF4-FFF2-40B4-BE49-F238E27FC236}">
                <a16:creationId xmlns:a16="http://schemas.microsoft.com/office/drawing/2014/main" id="{5AC259C5-43FA-6043-B3E0-5CC5BAFF9930}"/>
              </a:ext>
            </a:extLst>
          </p:cNvPr>
          <p:cNvSpPr>
            <a:spLocks noChangeArrowheads="1"/>
          </p:cNvSpPr>
          <p:nvPr/>
        </p:nvSpPr>
        <p:spPr bwMode="auto">
          <a:xfrm>
            <a:off x="4343400" y="2819400"/>
            <a:ext cx="4114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GB" altLang="it-IT" sz="2400" b="0"/>
          </a:p>
          <a:p>
            <a:pPr eaLnBrk="1" hangingPunct="1">
              <a:spcBef>
                <a:spcPct val="0"/>
              </a:spcBef>
              <a:buFontTx/>
              <a:buNone/>
            </a:pPr>
            <a:endParaRPr lang="en-GB" altLang="it-IT" sz="2400" b="0"/>
          </a:p>
          <a:p>
            <a:pPr eaLnBrk="1" hangingPunct="1">
              <a:spcBef>
                <a:spcPct val="0"/>
              </a:spcBef>
              <a:buFontTx/>
              <a:buNone/>
            </a:pPr>
            <a:r>
              <a:rPr lang="en-GB" altLang="it-IT" sz="2400" b="0"/>
              <a:t> </a:t>
            </a:r>
          </a:p>
        </p:txBody>
      </p:sp>
      <p:sp>
        <p:nvSpPr>
          <p:cNvPr id="105476" name="Rectangle 4">
            <a:extLst>
              <a:ext uri="{FF2B5EF4-FFF2-40B4-BE49-F238E27FC236}">
                <a16:creationId xmlns:a16="http://schemas.microsoft.com/office/drawing/2014/main" id="{6DBF725A-4284-BA41-BD6A-72006A97C272}"/>
              </a:ext>
            </a:extLst>
          </p:cNvPr>
          <p:cNvSpPr>
            <a:spLocks noChangeArrowheads="1"/>
          </p:cNvSpPr>
          <p:nvPr/>
        </p:nvSpPr>
        <p:spPr bwMode="auto">
          <a:xfrm>
            <a:off x="304800" y="914400"/>
            <a:ext cx="8534400" cy="416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buFontTx/>
              <a:buNone/>
              <a:defRPr/>
            </a:pPr>
            <a:r>
              <a:rPr lang="it-IT" sz="2000" b="0" dirty="0">
                <a:latin typeface="+mj-lt"/>
              </a:rPr>
              <a:t>The </a:t>
            </a:r>
            <a:r>
              <a:rPr lang="it-IT" sz="2000" b="0" dirty="0" err="1">
                <a:latin typeface="+mj-lt"/>
              </a:rPr>
              <a:t>process</a:t>
            </a:r>
            <a:r>
              <a:rPr lang="it-IT" sz="2000" b="0" dirty="0">
                <a:latin typeface="+mj-lt"/>
              </a:rPr>
              <a:t> of </a:t>
            </a:r>
            <a:r>
              <a:rPr lang="it-IT" sz="2000" b="0" dirty="0" err="1">
                <a:solidFill>
                  <a:srgbClr val="FF0000"/>
                </a:solidFill>
                <a:latin typeface="+mj-lt"/>
              </a:rPr>
              <a:t>oxygen</a:t>
            </a:r>
            <a:r>
              <a:rPr lang="it-IT" sz="2000" b="0" dirty="0">
                <a:solidFill>
                  <a:srgbClr val="FF0000"/>
                </a:solidFill>
                <a:latin typeface="+mj-lt"/>
              </a:rPr>
              <a:t> </a:t>
            </a:r>
            <a:r>
              <a:rPr lang="it-IT" sz="2000" b="0" dirty="0" err="1">
                <a:solidFill>
                  <a:srgbClr val="FF0000"/>
                </a:solidFill>
                <a:latin typeface="+mj-lt"/>
              </a:rPr>
              <a:t>burning</a:t>
            </a:r>
            <a:r>
              <a:rPr lang="it-IT" sz="2000" b="0" dirty="0">
                <a:solidFill>
                  <a:srgbClr val="FF0000"/>
                </a:solidFill>
                <a:latin typeface="+mj-lt"/>
              </a:rPr>
              <a:t> </a:t>
            </a:r>
            <a:r>
              <a:rPr lang="it-IT" sz="2000" b="0" dirty="0" err="1">
                <a:solidFill>
                  <a:srgbClr val="FF0000"/>
                </a:solidFill>
                <a:latin typeface="+mj-lt"/>
              </a:rPr>
              <a:t>ignites</a:t>
            </a:r>
            <a:r>
              <a:rPr lang="it-IT" sz="2000" b="0" dirty="0">
                <a:latin typeface="+mj-lt"/>
              </a:rPr>
              <a:t> </a:t>
            </a:r>
            <a:r>
              <a:rPr lang="it-IT" sz="2000" b="0" dirty="0" err="1">
                <a:latin typeface="+mj-lt"/>
              </a:rPr>
              <a:t>at</a:t>
            </a:r>
            <a:r>
              <a:rPr lang="it-IT" sz="2000" b="0" dirty="0">
                <a:latin typeface="+mj-lt"/>
              </a:rPr>
              <a:t> a temperature of 10</a:t>
            </a:r>
            <a:r>
              <a:rPr lang="it-IT" sz="2000" b="0" baseline="30000" dirty="0">
                <a:latin typeface="+mj-lt"/>
              </a:rPr>
              <a:t>9</a:t>
            </a:r>
            <a:r>
              <a:rPr lang="it-IT" sz="2000" b="0" dirty="0">
                <a:latin typeface="+mj-lt"/>
              </a:rPr>
              <a:t> K. </a:t>
            </a:r>
            <a:r>
              <a:rPr lang="it-IT" sz="2000" b="0" dirty="0" err="1">
                <a:latin typeface="+mj-lt"/>
              </a:rPr>
              <a:t>Similar</a:t>
            </a:r>
            <a:r>
              <a:rPr lang="it-IT" sz="2000" b="0" dirty="0">
                <a:latin typeface="+mj-lt"/>
              </a:rPr>
              <a:t> to </a:t>
            </a:r>
            <a:r>
              <a:rPr lang="it-IT" sz="2000" b="0" baseline="30000" dirty="0">
                <a:latin typeface="+mj-lt"/>
              </a:rPr>
              <a:t>12</a:t>
            </a:r>
            <a:r>
              <a:rPr lang="it-IT" sz="2000" b="0" dirty="0">
                <a:latin typeface="+mj-lt"/>
              </a:rPr>
              <a:t>C, </a:t>
            </a:r>
            <a:r>
              <a:rPr lang="it-IT" sz="2000" b="0" dirty="0" err="1">
                <a:latin typeface="+mj-lt"/>
              </a:rPr>
              <a:t>there</a:t>
            </a:r>
            <a:r>
              <a:rPr lang="it-IT" sz="2000" b="0" dirty="0">
                <a:latin typeface="+mj-lt"/>
              </a:rPr>
              <a:t> are </a:t>
            </a:r>
            <a:r>
              <a:rPr lang="it-IT" sz="2000" b="0" dirty="0" err="1">
                <a:latin typeface="+mj-lt"/>
              </a:rPr>
              <a:t>several</a:t>
            </a:r>
            <a:r>
              <a:rPr lang="it-IT" sz="2000" b="0" dirty="0">
                <a:latin typeface="+mj-lt"/>
              </a:rPr>
              <a:t> </a:t>
            </a:r>
            <a:r>
              <a:rPr lang="it-IT" sz="2000" b="0" dirty="0" err="1">
                <a:latin typeface="+mj-lt"/>
              </a:rPr>
              <a:t>channels</a:t>
            </a:r>
            <a:r>
              <a:rPr lang="it-IT" sz="2000" b="0" dirty="0">
                <a:latin typeface="+mj-lt"/>
              </a:rPr>
              <a:t> </a:t>
            </a:r>
            <a:r>
              <a:rPr lang="it-IT" sz="2000" b="0" dirty="0" err="1">
                <a:latin typeface="+mj-lt"/>
              </a:rPr>
              <a:t>available</a:t>
            </a:r>
            <a:r>
              <a:rPr lang="it-IT" sz="2000" b="0" dirty="0">
                <a:latin typeface="+mj-lt"/>
              </a:rPr>
              <a:t>: </a:t>
            </a: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endParaRPr lang="en-GB" altLang="it-IT" sz="2000" b="0" dirty="0">
              <a:latin typeface="+mj-lt"/>
            </a:endParaRPr>
          </a:p>
          <a:p>
            <a:pPr eaLnBrk="1" hangingPunct="1">
              <a:spcBef>
                <a:spcPct val="0"/>
              </a:spcBef>
              <a:buFontTx/>
              <a:buNone/>
              <a:defRPr/>
            </a:pPr>
            <a:r>
              <a:rPr lang="en-GB" altLang="it-IT" sz="2000" b="0" dirty="0">
                <a:latin typeface="+mj-lt"/>
              </a:rPr>
              <a:t>The overall energy generation is about 4.7 × 10</a:t>
            </a:r>
            <a:r>
              <a:rPr lang="en-GB" altLang="it-IT" sz="2000" b="0" baseline="30000" dirty="0">
                <a:latin typeface="+mj-lt"/>
              </a:rPr>
              <a:t>17 </a:t>
            </a:r>
            <a:r>
              <a:rPr lang="en-GB" altLang="it-IT" sz="2000" b="0" dirty="0">
                <a:latin typeface="+mj-lt"/>
              </a:rPr>
              <a:t>erg g</a:t>
            </a:r>
            <a:r>
              <a:rPr lang="en-GB" altLang="it-IT" sz="2000" b="0" baseline="30000" dirty="0">
                <a:latin typeface="+mj-lt"/>
              </a:rPr>
              <a:t>−1.</a:t>
            </a:r>
          </a:p>
          <a:p>
            <a:pPr eaLnBrk="1" hangingPunct="1">
              <a:spcBef>
                <a:spcPct val="0"/>
              </a:spcBef>
              <a:buFontTx/>
              <a:buNone/>
              <a:defRPr/>
            </a:pPr>
            <a:endParaRPr lang="en-GB" altLang="it-IT" sz="2000" b="0" dirty="0">
              <a:latin typeface="+mj-lt"/>
            </a:endParaRPr>
          </a:p>
        </p:txBody>
      </p:sp>
      <p:sp>
        <p:nvSpPr>
          <p:cNvPr id="60423" name="Rectangle 7">
            <a:extLst>
              <a:ext uri="{FF2B5EF4-FFF2-40B4-BE49-F238E27FC236}">
                <a16:creationId xmlns:a16="http://schemas.microsoft.com/office/drawing/2014/main" id="{05EAB1ED-F404-7E42-B432-EA22AF56DEBB}"/>
              </a:ext>
            </a:extLst>
          </p:cNvPr>
          <p:cNvSpPr>
            <a:spLocks noChangeArrowheads="1"/>
          </p:cNvSpPr>
          <p:nvPr/>
        </p:nvSpPr>
        <p:spPr bwMode="auto">
          <a:xfrm>
            <a:off x="266700" y="5611813"/>
            <a:ext cx="8610600" cy="871537"/>
          </a:xfrm>
          <a:prstGeom prst="rect">
            <a:avLst/>
          </a:prstGeom>
          <a:noFill/>
          <a:ln>
            <a:noFill/>
          </a:ln>
          <a:effectLst/>
          <a:extLst>
            <a:ext uri="{909E8E84-426E-40dd-AFC4-6F175D3DCCD1}"/>
            <a:ext uri="{91240B29-F687-4f45-9708-019B960494DF}"/>
            <a:ext uri="{AF507438-7753-43e0-B8FC-AC1667EBCBE1}"/>
          </a:extLst>
        </p:spPr>
        <p:txBody>
          <a:bodyPr/>
          <a:lstStyle/>
          <a:p>
            <a:pPr eaLnBrk="1" hangingPunct="1">
              <a:defRPr/>
            </a:pPr>
            <a:r>
              <a:rPr lang="en-GB" sz="1600" b="0" dirty="0">
                <a:latin typeface="+mj-lt"/>
                <a:ea typeface="ＭＳ Ｐゴシック" charset="0"/>
                <a:cs typeface="ＭＳ Ｐゴシック" charset="0"/>
              </a:rPr>
              <a:t>These reactions produce p, n, </a:t>
            </a:r>
            <a:r>
              <a:rPr lang="en-GB" sz="1600" b="0" dirty="0">
                <a:latin typeface="Symbol" pitchFamily="2" charset="2"/>
                <a:ea typeface="ＭＳ Ｐゴシック" charset="0"/>
                <a:cs typeface="ＭＳ Ｐゴシック" charset="0"/>
              </a:rPr>
              <a:t>a</a:t>
            </a:r>
            <a:r>
              <a:rPr lang="en-GB" sz="1600" b="0" dirty="0">
                <a:latin typeface="+mj-lt"/>
                <a:ea typeface="ＭＳ Ｐゴシック" charset="0"/>
                <a:cs typeface="ＭＳ Ｐゴシック" charset="0"/>
              </a:rPr>
              <a:t>, which are immediately captured by heavy nuclei, thus many isotopes are created by secondary reactions.  </a:t>
            </a:r>
          </a:p>
        </p:txBody>
      </p:sp>
      <p:pic>
        <p:nvPicPr>
          <p:cNvPr id="113670" name="Immagine 3">
            <a:extLst>
              <a:ext uri="{FF2B5EF4-FFF2-40B4-BE49-F238E27FC236}">
                <a16:creationId xmlns:a16="http://schemas.microsoft.com/office/drawing/2014/main" id="{0D299775-C197-AD48-B528-031C4E544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8100" y="1968500"/>
            <a:ext cx="3530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egnaposto numero diapositiva 5">
            <a:extLst>
              <a:ext uri="{FF2B5EF4-FFF2-40B4-BE49-F238E27FC236}">
                <a16:creationId xmlns:a16="http://schemas.microsoft.com/office/drawing/2014/main" id="{8B0987CC-D7E1-974D-A111-27714336FD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DBA625B-7317-F441-8637-BE230EEBF19D}" type="slidenum">
              <a:rPr lang="en-GB" altLang="it-IT" sz="1400" smtClean="0">
                <a:latin typeface="Gill Sans" panose="020B0502020104020203" pitchFamily="34" charset="-79"/>
              </a:rPr>
              <a:pPr>
                <a:spcBef>
                  <a:spcPct val="0"/>
                </a:spcBef>
                <a:buFontTx/>
                <a:buNone/>
              </a:pPr>
              <a:t>26</a:t>
            </a:fld>
            <a:endParaRPr lang="en-GB" altLang="it-IT" sz="1400">
              <a:latin typeface="Gill Sans" panose="020B0502020104020203" pitchFamily="34" charset="-79"/>
            </a:endParaRPr>
          </a:p>
        </p:txBody>
      </p:sp>
      <p:sp>
        <p:nvSpPr>
          <p:cNvPr id="115714" name="Rectangle 2">
            <a:extLst>
              <a:ext uri="{FF2B5EF4-FFF2-40B4-BE49-F238E27FC236}">
                <a16:creationId xmlns:a16="http://schemas.microsoft.com/office/drawing/2014/main" id="{F0ACDEB1-EC7B-494C-A5D1-0E09289C23C6}"/>
              </a:ext>
            </a:extLst>
          </p:cNvPr>
          <p:cNvSpPr>
            <a:spLocks noGrp="1" noChangeArrowheads="1"/>
          </p:cNvSpPr>
          <p:nvPr>
            <p:ph type="title"/>
          </p:nvPr>
        </p:nvSpPr>
        <p:spPr>
          <a:xfrm>
            <a:off x="228600" y="228600"/>
            <a:ext cx="8534400" cy="762000"/>
          </a:xfrm>
        </p:spPr>
        <p:txBody>
          <a:bodyPr/>
          <a:lstStyle/>
          <a:p>
            <a:r>
              <a:rPr lang="en-GB" altLang="it-IT" sz="1800">
                <a:ea typeface="ＭＳ Ｐゴシック" panose="020B0600070205080204" pitchFamily="34" charset="-128"/>
              </a:rPr>
              <a:t>Silicon burning: nuclear statistical equilibrium</a:t>
            </a:r>
          </a:p>
        </p:txBody>
      </p:sp>
      <p:sp>
        <p:nvSpPr>
          <p:cNvPr id="115715" name="Rectangle 3">
            <a:extLst>
              <a:ext uri="{FF2B5EF4-FFF2-40B4-BE49-F238E27FC236}">
                <a16:creationId xmlns:a16="http://schemas.microsoft.com/office/drawing/2014/main" id="{76C4105F-480D-1047-8961-B1814A4F8197}"/>
              </a:ext>
            </a:extLst>
          </p:cNvPr>
          <p:cNvSpPr>
            <a:spLocks noChangeArrowheads="1"/>
          </p:cNvSpPr>
          <p:nvPr/>
        </p:nvSpPr>
        <p:spPr bwMode="auto">
          <a:xfrm>
            <a:off x="4343400" y="2819400"/>
            <a:ext cx="4114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GB" altLang="it-IT" sz="2400" b="0">
              <a:latin typeface="Gill Sans" panose="020B0502020104020203" pitchFamily="34" charset="-79"/>
              <a:cs typeface="Gill Sans" panose="020B0502020104020203" pitchFamily="34" charset="-79"/>
            </a:endParaRPr>
          </a:p>
          <a:p>
            <a:pPr eaLnBrk="1" hangingPunct="1">
              <a:spcBef>
                <a:spcPct val="0"/>
              </a:spcBef>
              <a:buFontTx/>
              <a:buNone/>
            </a:pPr>
            <a:endParaRPr lang="en-GB" altLang="it-IT" sz="2400" b="0">
              <a:latin typeface="Gill Sans" panose="020B0502020104020203" pitchFamily="34" charset="-79"/>
              <a:cs typeface="Gill Sans" panose="020B0502020104020203" pitchFamily="34" charset="-79"/>
            </a:endParaRPr>
          </a:p>
          <a:p>
            <a:pPr eaLnBrk="1" hangingPunct="1">
              <a:spcBef>
                <a:spcPct val="0"/>
              </a:spcBef>
              <a:buFontTx/>
              <a:buNone/>
            </a:pPr>
            <a:r>
              <a:rPr lang="en-GB" altLang="it-IT" sz="2400" b="0">
                <a:latin typeface="Gill Sans" panose="020B0502020104020203" pitchFamily="34" charset="-79"/>
                <a:cs typeface="Gill Sans" panose="020B0502020104020203" pitchFamily="34" charset="-79"/>
              </a:rPr>
              <a:t> </a:t>
            </a:r>
          </a:p>
        </p:txBody>
      </p:sp>
      <p:sp>
        <p:nvSpPr>
          <p:cNvPr id="115716" name="Rettangolo 1">
            <a:extLst>
              <a:ext uri="{FF2B5EF4-FFF2-40B4-BE49-F238E27FC236}">
                <a16:creationId xmlns:a16="http://schemas.microsoft.com/office/drawing/2014/main" id="{90B26BFE-AF44-F34C-AB7D-93444EDEA279}"/>
              </a:ext>
            </a:extLst>
          </p:cNvPr>
          <p:cNvSpPr>
            <a:spLocks noChangeArrowheads="1"/>
          </p:cNvSpPr>
          <p:nvPr/>
        </p:nvSpPr>
        <p:spPr bwMode="auto">
          <a:xfrm>
            <a:off x="317500" y="860425"/>
            <a:ext cx="84963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a:spcBef>
                <a:spcPct val="0"/>
              </a:spcBef>
              <a:buFontTx/>
              <a:buNone/>
            </a:pPr>
            <a:r>
              <a:rPr lang="it-IT" altLang="it-IT" sz="2000" b="0" dirty="0" err="1">
                <a:solidFill>
                  <a:srgbClr val="FF0000"/>
                </a:solidFill>
                <a:latin typeface="Gill Sans" panose="020B0502020104020203" pitchFamily="34" charset="-79"/>
                <a:cs typeface="Gill Sans" panose="020B0502020104020203" pitchFamily="34" charset="-79"/>
              </a:rPr>
              <a:t>Silicon</a:t>
            </a:r>
            <a:r>
              <a:rPr lang="it-IT" altLang="it-IT" sz="2000" b="0" dirty="0">
                <a:solidFill>
                  <a:srgbClr val="FF0000"/>
                </a:solidFill>
                <a:latin typeface="Gill Sans" panose="020B0502020104020203" pitchFamily="34" charset="-79"/>
                <a:cs typeface="Gill Sans" panose="020B0502020104020203" pitchFamily="34" charset="-79"/>
              </a:rPr>
              <a:t> </a:t>
            </a:r>
            <a:r>
              <a:rPr lang="it-IT" altLang="it-IT" sz="2000" b="0" dirty="0" err="1">
                <a:solidFill>
                  <a:srgbClr val="FF0000"/>
                </a:solidFill>
                <a:latin typeface="Gill Sans" panose="020B0502020104020203" pitchFamily="34" charset="-79"/>
                <a:cs typeface="Gill Sans" panose="020B0502020104020203" pitchFamily="34" charset="-79"/>
              </a:rPr>
              <a:t>burning</a:t>
            </a:r>
            <a:r>
              <a:rPr lang="it-IT" altLang="it-IT" sz="2000" b="0" dirty="0">
                <a:solidFill>
                  <a:srgbClr val="FF0000"/>
                </a:solidFill>
                <a:latin typeface="Gill Sans" panose="020B0502020104020203" pitchFamily="34" charset="-79"/>
                <a:cs typeface="Gill Sans" panose="020B0502020104020203" pitchFamily="34" charset="-79"/>
              </a:rPr>
              <a:t> </a:t>
            </a:r>
            <a:r>
              <a:rPr lang="it-IT" altLang="it-IT" sz="2000" b="0" dirty="0" err="1">
                <a:solidFill>
                  <a:srgbClr val="FF0000"/>
                </a:solidFill>
                <a:latin typeface="Gill Sans" panose="020B0502020104020203" pitchFamily="34" charset="-79"/>
                <a:cs typeface="Gill Sans" panose="020B0502020104020203" pitchFamily="34" charset="-79"/>
              </a:rPr>
              <a:t>follows</a:t>
            </a:r>
            <a:r>
              <a:rPr lang="it-IT" altLang="it-IT" sz="2000" b="0" dirty="0">
                <a:solidFill>
                  <a:srgbClr val="FF0000"/>
                </a:solidFill>
                <a:latin typeface="Gill Sans" panose="020B0502020104020203" pitchFamily="34" charset="-79"/>
                <a:cs typeface="Gill Sans" panose="020B0502020104020203" pitchFamily="34" charset="-79"/>
              </a:rPr>
              <a:t> </a:t>
            </a:r>
            <a:r>
              <a:rPr lang="it-IT" altLang="it-IT" sz="2000" b="0" dirty="0">
                <a:latin typeface="Gill Sans" panose="020B0502020104020203" pitchFamily="34" charset="-79"/>
                <a:cs typeface="Gill Sans" panose="020B0502020104020203" pitchFamily="34" charset="-79"/>
              </a:rPr>
              <a:t>the </a:t>
            </a:r>
            <a:r>
              <a:rPr lang="it-IT" altLang="it-IT" sz="2000" b="0" dirty="0" err="1">
                <a:latin typeface="Gill Sans" panose="020B0502020104020203" pitchFamily="34" charset="-79"/>
                <a:cs typeface="Gill Sans" panose="020B0502020104020203" pitchFamily="34" charset="-79"/>
              </a:rPr>
              <a:t>oxygen</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burning</a:t>
            </a:r>
            <a:r>
              <a:rPr lang="it-IT" altLang="it-IT" sz="2000" b="0" dirty="0">
                <a:latin typeface="Gill Sans" panose="020B0502020104020203" pitchFamily="34" charset="-79"/>
                <a:cs typeface="Gill Sans" panose="020B0502020104020203" pitchFamily="34" charset="-79"/>
              </a:rPr>
              <a:t> and </a:t>
            </a:r>
            <a:r>
              <a:rPr lang="it-IT" altLang="it-IT" sz="2000" b="0" dirty="0" err="1">
                <a:latin typeface="Gill Sans" panose="020B0502020104020203" pitchFamily="34" charset="-79"/>
                <a:cs typeface="Gill Sans" panose="020B0502020104020203" pitchFamily="34" charset="-79"/>
              </a:rPr>
              <a:t>is</a:t>
            </a:r>
            <a:r>
              <a:rPr lang="it-IT" altLang="it-IT" sz="2000" b="0" dirty="0">
                <a:latin typeface="Gill Sans" panose="020B0502020104020203" pitchFamily="34" charset="-79"/>
                <a:cs typeface="Gill Sans" panose="020B0502020104020203" pitchFamily="34" charset="-79"/>
              </a:rPr>
              <a:t> the </a:t>
            </a:r>
            <a:r>
              <a:rPr lang="it-IT" altLang="it-IT" sz="2000" b="0" dirty="0" err="1">
                <a:latin typeface="Gill Sans" panose="020B0502020104020203" pitchFamily="34" charset="-79"/>
                <a:cs typeface="Gill Sans" panose="020B0502020104020203" pitchFamily="34" charset="-79"/>
              </a:rPr>
              <a:t>final</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advanced</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burning</a:t>
            </a:r>
            <a:r>
              <a:rPr lang="it-IT" altLang="it-IT" sz="2000" b="0" dirty="0">
                <a:latin typeface="Gill Sans" panose="020B0502020104020203" pitchFamily="34" charset="-79"/>
                <a:cs typeface="Gill Sans" panose="020B0502020104020203" pitchFamily="34" charset="-79"/>
              </a:rPr>
              <a:t> stage </a:t>
            </a:r>
            <a:r>
              <a:rPr lang="it-IT" altLang="it-IT" sz="2000" b="0" dirty="0" err="1">
                <a:latin typeface="Gill Sans" panose="020B0502020104020203" pitchFamily="34" charset="-79"/>
                <a:cs typeface="Gill Sans" panose="020B0502020104020203" pitchFamily="34" charset="-79"/>
              </a:rPr>
              <a:t>that</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releases</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energy</a:t>
            </a:r>
            <a:r>
              <a:rPr lang="it-IT" altLang="it-IT" sz="2000" b="0" dirty="0">
                <a:latin typeface="Gill Sans" panose="020B0502020104020203" pitchFamily="34" charset="-79"/>
                <a:cs typeface="Gill Sans" panose="020B0502020104020203" pitchFamily="34" charset="-79"/>
              </a:rPr>
              <a:t>. The temperature of </a:t>
            </a:r>
            <a:r>
              <a:rPr lang="it-IT" altLang="it-IT" sz="2000" b="0" dirty="0" err="1">
                <a:latin typeface="Gill Sans" panose="020B0502020104020203" pitchFamily="34" charset="-79"/>
                <a:cs typeface="Gill Sans" panose="020B0502020104020203" pitchFamily="34" charset="-79"/>
              </a:rPr>
              <a:t>silicon</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burning</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is</a:t>
            </a:r>
            <a:r>
              <a:rPr lang="it-IT" altLang="it-IT" sz="2000" b="0" dirty="0">
                <a:latin typeface="Gill Sans" panose="020B0502020104020203" pitchFamily="34" charset="-79"/>
                <a:cs typeface="Gill Sans" panose="020B0502020104020203" pitchFamily="34" charset="-79"/>
              </a:rPr>
              <a:t> </a:t>
            </a:r>
            <a:r>
              <a:rPr lang="it-IT" altLang="it-IT" sz="2000" b="0" dirty="0" err="1">
                <a:latin typeface="Gill Sans" panose="020B0502020104020203" pitchFamily="34" charset="-79"/>
                <a:cs typeface="Gill Sans" panose="020B0502020104020203" pitchFamily="34" charset="-79"/>
              </a:rPr>
              <a:t>about</a:t>
            </a:r>
            <a:r>
              <a:rPr lang="it-IT" altLang="it-IT" sz="2000" b="0" dirty="0">
                <a:latin typeface="Gill Sans" panose="020B0502020104020203" pitchFamily="34" charset="-79"/>
                <a:cs typeface="Gill Sans" panose="020B0502020104020203" pitchFamily="34" charset="-79"/>
              </a:rPr>
              <a:t> 3 ×10</a:t>
            </a:r>
            <a:r>
              <a:rPr lang="it-IT" altLang="it-IT" sz="2000" b="0" baseline="30000" dirty="0">
                <a:latin typeface="Gill Sans" panose="020B0502020104020203" pitchFamily="34" charset="-79"/>
                <a:cs typeface="Gill Sans" panose="020B0502020104020203" pitchFamily="34" charset="-79"/>
              </a:rPr>
              <a:t>9</a:t>
            </a:r>
            <a:r>
              <a:rPr lang="it-IT" altLang="it-IT" sz="800" b="0" dirty="0">
                <a:latin typeface="Gill Sans" panose="020B0502020104020203" pitchFamily="34" charset="-79"/>
                <a:cs typeface="Gill Sans" panose="020B0502020104020203" pitchFamily="34" charset="-79"/>
              </a:rPr>
              <a:t> </a:t>
            </a:r>
            <a:r>
              <a:rPr lang="it-IT" altLang="it-IT" sz="2000" b="0" dirty="0">
                <a:latin typeface="Gill Sans" panose="020B0502020104020203" pitchFamily="34" charset="-79"/>
                <a:cs typeface="Gill Sans" panose="020B0502020104020203" pitchFamily="34" charset="-79"/>
              </a:rPr>
              <a:t>K. </a:t>
            </a:r>
          </a:p>
        </p:txBody>
      </p:sp>
      <p:sp>
        <p:nvSpPr>
          <p:cNvPr id="3" name="Rettangolo 2">
            <a:extLst>
              <a:ext uri="{FF2B5EF4-FFF2-40B4-BE49-F238E27FC236}">
                <a16:creationId xmlns:a16="http://schemas.microsoft.com/office/drawing/2014/main" id="{DBB46CBC-EE83-0841-90BB-51151DD200B0}"/>
              </a:ext>
            </a:extLst>
          </p:cNvPr>
          <p:cNvSpPr/>
          <p:nvPr/>
        </p:nvSpPr>
        <p:spPr>
          <a:xfrm>
            <a:off x="317500" y="1908175"/>
            <a:ext cx="8496300" cy="4031873"/>
          </a:xfrm>
          <a:prstGeom prst="rect">
            <a:avLst/>
          </a:prstGeom>
        </p:spPr>
        <p:txBody>
          <a:bodyPr>
            <a:spAutoFit/>
          </a:bodyPr>
          <a:lstStyle/>
          <a:p>
            <a:pPr>
              <a:defRPr/>
            </a:pPr>
            <a:r>
              <a:rPr lang="it-IT" sz="1600" b="0" dirty="0">
                <a:latin typeface="Gill Sans" panose="020B0502020104020203" pitchFamily="34" charset="-79"/>
                <a:cs typeface="Gill Sans" panose="020B0502020104020203" pitchFamily="34" charset="-79"/>
              </a:rPr>
              <a:t>In </a:t>
            </a:r>
            <a:r>
              <a:rPr lang="it-IT" sz="1600" b="0" dirty="0" err="1">
                <a:latin typeface="Gill Sans" panose="020B0502020104020203" pitchFamily="34" charset="-79"/>
                <a:cs typeface="Gill Sans" panose="020B0502020104020203" pitchFamily="34" charset="-79"/>
              </a:rPr>
              <a:t>such</a:t>
            </a:r>
            <a:r>
              <a:rPr lang="it-IT" sz="1600" b="0" dirty="0">
                <a:latin typeface="Gill Sans" panose="020B0502020104020203" pitchFamily="34" charset="-79"/>
                <a:cs typeface="Gill Sans" panose="020B0502020104020203" pitchFamily="34" charset="-79"/>
              </a:rPr>
              <a:t> high </a:t>
            </a:r>
            <a:r>
              <a:rPr lang="it-IT" sz="1600" b="0" dirty="0" err="1">
                <a:latin typeface="Gill Sans" panose="020B0502020104020203" pitchFamily="34" charset="-79"/>
                <a:cs typeface="Gill Sans" panose="020B0502020104020203" pitchFamily="34" charset="-79"/>
              </a:rPr>
              <a:t>temperatures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energetic</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photons</a:t>
            </a:r>
            <a:r>
              <a:rPr lang="it-IT" sz="1600" b="0" dirty="0">
                <a:latin typeface="Gill Sans" panose="020B0502020104020203" pitchFamily="34" charset="-79"/>
                <a:cs typeface="Gill Sans" panose="020B0502020104020203" pitchFamily="34" charset="-79"/>
              </a:rPr>
              <a:t> are </a:t>
            </a:r>
            <a:r>
              <a:rPr lang="it-IT" sz="1600" b="0" dirty="0" err="1">
                <a:latin typeface="Gill Sans" panose="020B0502020104020203" pitchFamily="34" charset="-79"/>
                <a:cs typeface="Gill Sans" panose="020B0502020104020203" pitchFamily="34" charset="-79"/>
              </a:rPr>
              <a:t>able</a:t>
            </a:r>
            <a:r>
              <a:rPr lang="it-IT" sz="1600" b="0" dirty="0">
                <a:latin typeface="Gill Sans" panose="020B0502020104020203" pitchFamily="34" charset="-79"/>
                <a:cs typeface="Gill Sans" panose="020B0502020104020203" pitchFamily="34" charset="-79"/>
              </a:rPr>
              <a:t> to disintegrate the </a:t>
            </a:r>
            <a:r>
              <a:rPr lang="it-IT" sz="1600" b="0" dirty="0" err="1">
                <a:latin typeface="Gill Sans" panose="020B0502020104020203" pitchFamily="34" charset="-79"/>
                <a:cs typeface="Gill Sans" panose="020B0502020104020203" pitchFamily="34" charset="-79"/>
              </a:rPr>
              <a:t>heavy</a:t>
            </a:r>
            <a:r>
              <a:rPr lang="it-IT" sz="1600" b="0" dirty="0">
                <a:latin typeface="Gill Sans" panose="020B0502020104020203" pitchFamily="34" charset="-79"/>
                <a:cs typeface="Gill Sans" panose="020B0502020104020203" pitchFamily="34" charset="-79"/>
              </a:rPr>
              <a:t> nuclei; </a:t>
            </a:r>
            <a:r>
              <a:rPr lang="it-IT" sz="1600" b="0" dirty="0" err="1">
                <a:latin typeface="Gill Sans" panose="020B0502020104020203" pitchFamily="34" charset="-79"/>
                <a:cs typeface="Gill Sans" panose="020B0502020104020203" pitchFamily="34" charset="-79"/>
              </a:rPr>
              <a:t>this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process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is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called</a:t>
            </a:r>
            <a:r>
              <a:rPr lang="it-IT" sz="1600" b="0" dirty="0">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photodisintegration</a:t>
            </a:r>
            <a:r>
              <a:rPr lang="it-IT" sz="1600" b="0" dirty="0">
                <a:latin typeface="Gill Sans" panose="020B0502020104020203" pitchFamily="34" charset="-79"/>
                <a:cs typeface="Gill Sans" panose="020B0502020104020203" pitchFamily="34" charset="-79"/>
              </a:rPr>
              <a:t>. </a:t>
            </a:r>
          </a:p>
          <a:p>
            <a:pPr>
              <a:defRPr/>
            </a:pPr>
            <a:endParaRPr lang="it-IT" sz="1600" b="0" dirty="0">
              <a:latin typeface="Gill Sans" panose="020B0502020104020203" pitchFamily="34" charset="-79"/>
              <a:cs typeface="Gill Sans" panose="020B0502020104020203" pitchFamily="34" charset="-79"/>
            </a:endParaRPr>
          </a:p>
          <a:p>
            <a:pPr>
              <a:defRPr/>
            </a:pPr>
            <a:r>
              <a:rPr lang="it-IT" sz="1600" b="0" dirty="0" err="1">
                <a:latin typeface="Gill Sans" panose="020B0502020104020203" pitchFamily="34" charset="-79"/>
                <a:cs typeface="Gill Sans" panose="020B0502020104020203" pitchFamily="34" charset="-79"/>
              </a:rPr>
              <a:t>During</a:t>
            </a:r>
            <a:r>
              <a:rPr lang="it-IT" sz="1600" b="0" dirty="0">
                <a:latin typeface="Gill Sans" panose="020B0502020104020203" pitchFamily="34" charset="-79"/>
                <a:cs typeface="Gill Sans" panose="020B0502020104020203" pitchFamily="34" charset="-79"/>
              </a:rPr>
              <a:t> the </a:t>
            </a:r>
            <a:r>
              <a:rPr lang="it-IT" sz="1600" b="0" dirty="0" err="1">
                <a:latin typeface="Gill Sans" panose="020B0502020104020203" pitchFamily="34" charset="-79"/>
                <a:cs typeface="Gill Sans" panose="020B0502020104020203" pitchFamily="34" charset="-79"/>
              </a:rPr>
              <a:t>silicon</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burning</a:t>
            </a:r>
            <a:r>
              <a:rPr lang="it-IT" sz="1600" b="0" dirty="0">
                <a:latin typeface="Gill Sans" panose="020B0502020104020203" pitchFamily="34" charset="-79"/>
                <a:cs typeface="Gill Sans" panose="020B0502020104020203" pitchFamily="34" charset="-79"/>
              </a:rPr>
              <a:t>:</a:t>
            </a:r>
          </a:p>
          <a:p>
            <a:pPr>
              <a:defRPr/>
            </a:pPr>
            <a:endParaRPr lang="it-IT" sz="1600" b="0" dirty="0">
              <a:latin typeface="Gill Sans" panose="020B0502020104020203" pitchFamily="34" charset="-79"/>
              <a:cs typeface="Gill Sans" panose="020B0502020104020203" pitchFamily="34" charset="-79"/>
            </a:endParaRPr>
          </a:p>
          <a:p>
            <a:pPr marL="285750" indent="-285750">
              <a:buFont typeface="Arial" panose="020B0604020202020204" pitchFamily="34" charset="0"/>
              <a:buChar char="•"/>
              <a:defRPr/>
            </a:pPr>
            <a:r>
              <a:rPr lang="it-IT" sz="1600" b="0" dirty="0">
                <a:latin typeface="Gill Sans" panose="020B0502020104020203" pitchFamily="34" charset="-79"/>
                <a:cs typeface="Gill Sans" panose="020B0502020104020203" pitchFamily="34" charset="-79"/>
              </a:rPr>
              <a:t>part of the </a:t>
            </a:r>
            <a:r>
              <a:rPr lang="it-IT" sz="1600" b="0" dirty="0" err="1">
                <a:latin typeface="Gill Sans" panose="020B0502020104020203" pitchFamily="34" charset="-79"/>
                <a:cs typeface="Gill Sans" panose="020B0502020104020203" pitchFamily="34" charset="-79"/>
              </a:rPr>
              <a:t>silicon</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is</a:t>
            </a:r>
            <a:r>
              <a:rPr lang="it-IT" sz="1600" b="0" dirty="0">
                <a:latin typeface="Gill Sans" panose="020B0502020104020203" pitchFamily="34" charset="-79"/>
                <a:cs typeface="Gill Sans" panose="020B0502020104020203" pitchFamily="34" charset="-79"/>
              </a:rPr>
              <a:t> first </a:t>
            </a:r>
            <a:r>
              <a:rPr lang="it-IT" sz="1600" b="0" dirty="0" err="1">
                <a:latin typeface="Gill Sans" panose="020B0502020104020203" pitchFamily="34" charset="-79"/>
                <a:cs typeface="Gill Sans" panose="020B0502020104020203" pitchFamily="34" charset="-79"/>
              </a:rPr>
              <a:t>photodisintegrated</a:t>
            </a:r>
            <a:endParaRPr lang="it-IT" sz="1600" b="0" dirty="0">
              <a:latin typeface="Gill Sans" panose="020B0502020104020203" pitchFamily="34" charset="-79"/>
              <a:cs typeface="Gill Sans" panose="020B0502020104020203" pitchFamily="34" charset="-79"/>
            </a:endParaRPr>
          </a:p>
          <a:p>
            <a:pPr marL="285750" indent="-285750">
              <a:buFont typeface="Arial" panose="020B0604020202020204" pitchFamily="34" charset="0"/>
              <a:buChar char="•"/>
              <a:defRPr/>
            </a:pPr>
            <a:r>
              <a:rPr lang="it-IT" sz="1600" b="0" dirty="0">
                <a:latin typeface="Gill Sans" panose="020B0502020104020203" pitchFamily="34" charset="-79"/>
                <a:cs typeface="Gill Sans" panose="020B0502020104020203" pitchFamily="34" charset="-79"/>
              </a:rPr>
              <a:t>the light </a:t>
            </a:r>
            <a:r>
              <a:rPr lang="it-IT" sz="1600" b="0" dirty="0" err="1">
                <a:latin typeface="Gill Sans" panose="020B0502020104020203" pitchFamily="34" charset="-79"/>
                <a:cs typeface="Gill Sans" panose="020B0502020104020203" pitchFamily="34" charset="-79"/>
              </a:rPr>
              <a:t>isotopes</a:t>
            </a:r>
            <a:r>
              <a:rPr lang="it-IT" sz="1600" b="0" dirty="0">
                <a:latin typeface="Gill Sans" panose="020B0502020104020203" pitchFamily="34" charset="-79"/>
                <a:cs typeface="Gill Sans" panose="020B0502020104020203" pitchFamily="34" charset="-79"/>
              </a:rPr>
              <a:t> are </a:t>
            </a:r>
            <a:r>
              <a:rPr lang="it-IT" sz="1600" b="0" dirty="0" err="1">
                <a:latin typeface="Gill Sans" panose="020B0502020104020203" pitchFamily="34" charset="-79"/>
                <a:cs typeface="Gill Sans" panose="020B0502020104020203" pitchFamily="34" charset="-79"/>
              </a:rPr>
              <a:t>then</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recaptured</a:t>
            </a:r>
            <a:r>
              <a:rPr lang="it-IT" sz="1600" b="0" dirty="0">
                <a:latin typeface="Gill Sans" panose="020B0502020104020203" pitchFamily="34" charset="-79"/>
                <a:cs typeface="Gill Sans" panose="020B0502020104020203" pitchFamily="34" charset="-79"/>
              </a:rPr>
              <a:t> by the </a:t>
            </a:r>
            <a:r>
              <a:rPr lang="it-IT" sz="1600" b="0" dirty="0" err="1">
                <a:latin typeface="Gill Sans" panose="020B0502020104020203" pitchFamily="34" charset="-79"/>
                <a:cs typeface="Gill Sans" panose="020B0502020104020203" pitchFamily="34" charset="-79"/>
              </a:rPr>
              <a:t>silicon</a:t>
            </a:r>
            <a:endParaRPr lang="it-IT" sz="1600" b="0" dirty="0">
              <a:latin typeface="Gill Sans" panose="020B0502020104020203" pitchFamily="34" charset="-79"/>
              <a:cs typeface="Gill Sans" panose="020B0502020104020203" pitchFamily="34" charset="-79"/>
            </a:endParaRPr>
          </a:p>
          <a:p>
            <a:pPr marL="285750" indent="-285750">
              <a:buFont typeface="Arial" panose="020B0604020202020204" pitchFamily="34" charset="0"/>
              <a:buChar char="•"/>
              <a:defRPr/>
            </a:pPr>
            <a:r>
              <a:rPr lang="it-IT" sz="1600" b="0" dirty="0">
                <a:latin typeface="Gill Sans" panose="020B0502020104020203" pitchFamily="34" charset="-79"/>
                <a:cs typeface="Gill Sans" panose="020B0502020104020203" pitchFamily="34" charset="-79"/>
              </a:rPr>
              <a:t>the </a:t>
            </a:r>
            <a:r>
              <a:rPr lang="it-IT" sz="1600" b="0" dirty="0" err="1">
                <a:latin typeface="Gill Sans" panose="020B0502020104020203" pitchFamily="34" charset="-79"/>
                <a:cs typeface="Gill Sans" panose="020B0502020104020203" pitchFamily="34" charset="-79"/>
              </a:rPr>
              <a:t>resulting</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isotopes</a:t>
            </a:r>
            <a:r>
              <a:rPr lang="it-IT" sz="1600" b="0" dirty="0">
                <a:latin typeface="Gill Sans" panose="020B0502020104020203" pitchFamily="34" charset="-79"/>
                <a:cs typeface="Gill Sans" panose="020B0502020104020203" pitchFamily="34" charset="-79"/>
              </a:rPr>
              <a:t> are </a:t>
            </a:r>
            <a:r>
              <a:rPr lang="it-IT" sz="1600" b="0" dirty="0" err="1">
                <a:latin typeface="Gill Sans" panose="020B0502020104020203" pitchFamily="34" charset="-79"/>
                <a:cs typeface="Gill Sans" panose="020B0502020104020203" pitchFamily="34" charset="-79"/>
              </a:rPr>
              <a:t>photodisintegrated</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recursively</a:t>
            </a:r>
            <a:r>
              <a:rPr lang="it-IT" sz="1600" b="0" dirty="0">
                <a:latin typeface="Gill Sans" panose="020B0502020104020203" pitchFamily="34" charset="-79"/>
                <a:cs typeface="Gill Sans" panose="020B0502020104020203" pitchFamily="34" charset="-79"/>
              </a:rPr>
              <a:t>. </a:t>
            </a:r>
          </a:p>
          <a:p>
            <a:pPr marL="285750" indent="-285750">
              <a:buFont typeface="Arial" panose="020B0604020202020204" pitchFamily="34" charset="0"/>
              <a:buChar char="•"/>
              <a:defRPr/>
            </a:pPr>
            <a:endParaRPr lang="it-IT" sz="1600" b="0" dirty="0">
              <a:latin typeface="Gill Sans" panose="020B0502020104020203" pitchFamily="34" charset="-79"/>
              <a:cs typeface="Gill Sans" panose="020B0502020104020203" pitchFamily="34" charset="-79"/>
            </a:endParaRPr>
          </a:p>
          <a:p>
            <a:pPr>
              <a:defRPr/>
            </a:pPr>
            <a:r>
              <a:rPr lang="it-IT" sz="1600" b="0" dirty="0" err="1">
                <a:latin typeface="Gill Sans" panose="020B0502020104020203" pitchFamily="34" charset="-79"/>
                <a:cs typeface="Gill Sans" panose="020B0502020104020203" pitchFamily="34" charset="-79"/>
              </a:rPr>
              <a:t>Such</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reactions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build</a:t>
            </a:r>
            <a:r>
              <a:rPr lang="it-IT" sz="1600" b="0" dirty="0">
                <a:latin typeface="Gill Sans" panose="020B0502020104020203" pitchFamily="34" charset="-79"/>
                <a:cs typeface="Gill Sans" panose="020B0502020104020203" pitchFamily="34" charset="-79"/>
              </a:rPr>
              <a:t> up a </a:t>
            </a:r>
            <a:r>
              <a:rPr lang="it-IT" sz="1600" b="0" dirty="0" err="1">
                <a:solidFill>
                  <a:srgbClr val="0070C0"/>
                </a:solidFill>
                <a:latin typeface="Gill Sans" panose="020B0502020104020203" pitchFamily="34" charset="-79"/>
                <a:cs typeface="Gill Sans" panose="020B0502020104020203" pitchFamily="34" charset="-79"/>
              </a:rPr>
              <a:t>reaction</a:t>
            </a:r>
            <a:r>
              <a:rPr lang="it-IT" sz="1600" b="0" dirty="0">
                <a:solidFill>
                  <a:srgbClr val="0070C0"/>
                </a:solidFill>
                <a:latin typeface="Gill Sans" panose="020B0502020104020203" pitchFamily="34" charset="-79"/>
                <a:cs typeface="Gill Sans" panose="020B0502020104020203" pitchFamily="34" charset="-79"/>
              </a:rPr>
              <a:t> network and </a:t>
            </a:r>
            <a:r>
              <a:rPr lang="it-IT" sz="1600" b="0" dirty="0" err="1">
                <a:solidFill>
                  <a:srgbClr val="0070C0"/>
                </a:solidFill>
                <a:latin typeface="Gill Sans" panose="020B0502020104020203" pitchFamily="34" charset="-79"/>
                <a:cs typeface="Gill Sans" panose="020B0502020104020203" pitchFamily="34" charset="-79"/>
              </a:rPr>
              <a:t>tend</a:t>
            </a:r>
            <a:r>
              <a:rPr lang="it-IT" sz="1600" b="0" dirty="0">
                <a:solidFill>
                  <a:srgbClr val="0070C0"/>
                </a:solidFill>
                <a:latin typeface="Gill Sans" panose="020B0502020104020203" pitchFamily="34" charset="-79"/>
                <a:cs typeface="Gill Sans" panose="020B0502020104020203" pitchFamily="34" charset="-79"/>
              </a:rPr>
              <a:t> to </a:t>
            </a:r>
            <a:r>
              <a:rPr lang="it-IT" sz="1600" b="0" dirty="0" err="1">
                <a:solidFill>
                  <a:srgbClr val="0070C0"/>
                </a:solidFill>
                <a:latin typeface="Gill Sans" panose="020B0502020104020203" pitchFamily="34" charset="-79"/>
                <a:cs typeface="Gill Sans" panose="020B0502020104020203" pitchFamily="34" charset="-79"/>
              </a:rPr>
              <a:t>reach</a:t>
            </a:r>
            <a:r>
              <a:rPr lang="it-IT" sz="1600" b="0" dirty="0">
                <a:solidFill>
                  <a:srgbClr val="0070C0"/>
                </a:solidFill>
                <a:latin typeface="Gill Sans" panose="020B0502020104020203" pitchFamily="34" charset="-79"/>
                <a:cs typeface="Gill Sans" panose="020B0502020104020203" pitchFamily="34" charset="-79"/>
              </a:rPr>
              <a:t> a status </a:t>
            </a:r>
            <a:r>
              <a:rPr lang="it-IT" sz="1600" b="0" dirty="0" err="1">
                <a:solidFill>
                  <a:srgbClr val="0070C0"/>
                </a:solidFill>
                <a:latin typeface="Gill Sans" panose="020B0502020104020203" pitchFamily="34" charset="-79"/>
                <a:cs typeface="Gill Sans" panose="020B0502020104020203" pitchFamily="34" charset="-79"/>
              </a:rPr>
              <a:t>called</a:t>
            </a:r>
            <a:r>
              <a:rPr lang="it-IT" sz="1600" b="0" dirty="0">
                <a:solidFill>
                  <a:srgbClr val="0070C0"/>
                </a:solidFill>
                <a:latin typeface="Gill Sans" panose="020B0502020104020203" pitchFamily="34" charset="-79"/>
                <a:cs typeface="Gill Sans" panose="020B0502020104020203" pitchFamily="34" charset="-79"/>
              </a:rPr>
              <a:t> </a:t>
            </a:r>
            <a:r>
              <a:rPr lang="it-IT" sz="1600" b="0" dirty="0" err="1">
                <a:solidFill>
                  <a:srgbClr val="0070C0"/>
                </a:solidFill>
                <a:latin typeface="Gill Sans" panose="020B0502020104020203" pitchFamily="34" charset="-79"/>
                <a:cs typeface="Gill Sans" panose="020B0502020104020203" pitchFamily="34" charset="-79"/>
              </a:rPr>
              <a:t>nuclear</a:t>
            </a:r>
            <a:r>
              <a:rPr lang="it-IT" sz="1600" b="0" dirty="0">
                <a:solidFill>
                  <a:srgbClr val="0070C0"/>
                </a:solidFill>
                <a:latin typeface="Gill Sans" panose="020B0502020104020203" pitchFamily="34" charset="-79"/>
                <a:cs typeface="Gill Sans" panose="020B0502020104020203" pitchFamily="34" charset="-79"/>
              </a:rPr>
              <a:t> </a:t>
            </a:r>
            <a:r>
              <a:rPr lang="it-IT" sz="1600" b="0" dirty="0" err="1">
                <a:solidFill>
                  <a:srgbClr val="0070C0"/>
                </a:solidFill>
                <a:latin typeface="Gill Sans" panose="020B0502020104020203" pitchFamily="34" charset="-79"/>
                <a:cs typeface="Gill Sans" panose="020B0502020104020203" pitchFamily="34" charset="-79"/>
              </a:rPr>
              <a:t>statistical</a:t>
            </a:r>
            <a:r>
              <a:rPr lang="it-IT" sz="1600" b="0" dirty="0">
                <a:solidFill>
                  <a:srgbClr val="0070C0"/>
                </a:solidFill>
                <a:latin typeface="Gill Sans" panose="020B0502020104020203" pitchFamily="34" charset="-79"/>
                <a:cs typeface="Gill Sans" panose="020B0502020104020203" pitchFamily="34" charset="-79"/>
              </a:rPr>
              <a:t> </a:t>
            </a:r>
            <a:r>
              <a:rPr lang="it-IT" sz="1600" b="0" dirty="0" err="1">
                <a:solidFill>
                  <a:srgbClr val="0070C0"/>
                </a:solidFill>
                <a:latin typeface="Gill Sans" panose="020B0502020104020203" pitchFamily="34" charset="-79"/>
                <a:cs typeface="Gill Sans" panose="020B0502020104020203" pitchFamily="34" charset="-79"/>
              </a:rPr>
              <a:t>equilibrium</a:t>
            </a:r>
            <a:r>
              <a:rPr lang="it-IT" sz="1600" b="0" dirty="0">
                <a:solidFill>
                  <a:srgbClr val="0070C0"/>
                </a:solidFill>
                <a:latin typeface="Gill Sans" panose="020B0502020104020203" pitchFamily="34" charset="-79"/>
                <a:cs typeface="Gill Sans" panose="020B0502020104020203" pitchFamily="34" charset="-79"/>
              </a:rPr>
              <a:t> (NSE)</a:t>
            </a:r>
            <a:r>
              <a:rPr lang="it-IT" sz="1600" b="0" dirty="0">
                <a:latin typeface="Gill Sans" panose="020B0502020104020203" pitchFamily="34" charset="-79"/>
                <a:cs typeface="Gill Sans" panose="020B0502020104020203" pitchFamily="34" charset="-79"/>
              </a:rPr>
              <a:t>: the </a:t>
            </a:r>
            <a:r>
              <a:rPr lang="it-IT" sz="1600" b="0" dirty="0" err="1">
                <a:latin typeface="Gill Sans" panose="020B0502020104020203" pitchFamily="34" charset="-79"/>
                <a:cs typeface="Gill Sans" panose="020B0502020104020203" pitchFamily="34" charset="-79"/>
              </a:rPr>
              <a:t>forward</a:t>
            </a:r>
            <a:r>
              <a:rPr lang="it-IT" sz="1600" b="0" dirty="0">
                <a:latin typeface="Gill Sans" panose="020B0502020104020203" pitchFamily="34" charset="-79"/>
                <a:cs typeface="Gill Sans" panose="020B0502020104020203" pitchFamily="34" charset="-79"/>
              </a:rPr>
              <a:t> and </a:t>
            </a:r>
            <a:r>
              <a:rPr lang="it-IT" sz="1600" b="0" dirty="0" err="1">
                <a:latin typeface="Gill Sans" panose="020B0502020104020203" pitchFamily="34" charset="-79"/>
                <a:cs typeface="Gill Sans" panose="020B0502020104020203" pitchFamily="34" charset="-79"/>
              </a:rPr>
              <a:t>backward</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reaction</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rates</a:t>
            </a:r>
            <a:r>
              <a:rPr lang="it-IT" sz="1600" b="0" dirty="0">
                <a:latin typeface="Gill Sans" panose="020B0502020104020203" pitchFamily="34" charset="-79"/>
                <a:cs typeface="Gill Sans" panose="020B0502020104020203" pitchFamily="34" charset="-79"/>
              </a:rPr>
              <a:t> in NSE are </a:t>
            </a:r>
            <a:r>
              <a:rPr lang="it-IT" sz="1600" b="0" dirty="0" err="1">
                <a:latin typeface="Gill Sans" panose="020B0502020104020203" pitchFamily="34" charset="-79"/>
                <a:cs typeface="Gill Sans" panose="020B0502020104020203" pitchFamily="34" charset="-79"/>
              </a:rPr>
              <a:t>almost</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equal</a:t>
            </a:r>
            <a:r>
              <a:rPr lang="it-IT" sz="1600" b="0" dirty="0">
                <a:latin typeface="Gill Sans" panose="020B0502020104020203" pitchFamily="34" charset="-79"/>
                <a:cs typeface="Gill Sans" panose="020B0502020104020203" pitchFamily="34" charset="-79"/>
              </a:rPr>
              <a:t>. </a:t>
            </a:r>
          </a:p>
          <a:p>
            <a:pPr>
              <a:defRPr/>
            </a:pPr>
            <a:endParaRPr lang="it-IT" sz="1600" b="0" dirty="0">
              <a:latin typeface="Gill Sans" panose="020B0502020104020203" pitchFamily="34" charset="-79"/>
              <a:cs typeface="Gill Sans" panose="020B0502020104020203" pitchFamily="34" charset="-79"/>
            </a:endParaRPr>
          </a:p>
          <a:p>
            <a:pPr>
              <a:defRPr/>
            </a:pPr>
            <a:r>
              <a:rPr lang="it-IT" sz="1600" b="0" dirty="0">
                <a:latin typeface="Gill Sans" panose="020B0502020104020203" pitchFamily="34" charset="-79"/>
                <a:cs typeface="Gill Sans" panose="020B0502020104020203" pitchFamily="34" charset="-79"/>
              </a:rPr>
              <a:t>A </a:t>
            </a:r>
            <a:r>
              <a:rPr lang="it-IT" sz="1600" b="0" dirty="0" err="1">
                <a:latin typeface="Gill Sans" panose="020B0502020104020203" pitchFamily="34" charset="-79"/>
                <a:cs typeface="Gill Sans" panose="020B0502020104020203" pitchFamily="34" charset="-79"/>
              </a:rPr>
              <a:t>perfect</a:t>
            </a:r>
            <a:r>
              <a:rPr lang="it-IT" sz="1600" b="0" dirty="0">
                <a:latin typeface="Gill Sans" panose="020B0502020104020203" pitchFamily="34" charset="-79"/>
                <a:cs typeface="Gill Sans" panose="020B0502020104020203" pitchFamily="34" charset="-79"/>
              </a:rPr>
              <a:t> NSE </a:t>
            </a:r>
            <a:r>
              <a:rPr lang="it-IT" sz="1600" b="0" dirty="0" err="1">
                <a:latin typeface="Gill Sans" panose="020B0502020104020203" pitchFamily="34" charset="-79"/>
                <a:cs typeface="Gill Sans" panose="020B0502020104020203" pitchFamily="34" charset="-79"/>
              </a:rPr>
              <a:t>occurs</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only</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at</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temperatures</a:t>
            </a:r>
            <a:r>
              <a:rPr lang="it-IT" sz="1600" b="0" dirty="0">
                <a:latin typeface="Gill Sans" panose="020B0502020104020203" pitchFamily="34" charset="-79"/>
                <a:cs typeface="Gill Sans" panose="020B0502020104020203" pitchFamily="34" charset="-79"/>
              </a:rPr>
              <a:t> &gt; 7 × 10</a:t>
            </a:r>
            <a:r>
              <a:rPr lang="it-IT" sz="1600" b="0" baseline="30000" dirty="0">
                <a:latin typeface="Gill Sans" panose="020B0502020104020203" pitchFamily="34" charset="-79"/>
                <a:cs typeface="Gill Sans" panose="020B0502020104020203" pitchFamily="34" charset="-79"/>
              </a:rPr>
              <a:t>9</a:t>
            </a:r>
            <a:r>
              <a:rPr lang="it-IT" sz="1600" b="0" dirty="0">
                <a:latin typeface="Gill Sans" panose="020B0502020104020203" pitchFamily="34" charset="-79"/>
                <a:cs typeface="Gill Sans" panose="020B0502020104020203" pitchFamily="34" charset="-79"/>
              </a:rPr>
              <a:t> K. </a:t>
            </a:r>
          </a:p>
          <a:p>
            <a:pPr>
              <a:defRPr/>
            </a:pPr>
            <a:endParaRPr lang="it-IT" sz="1600" b="0" dirty="0">
              <a:latin typeface="Gill Sans" panose="020B0502020104020203" pitchFamily="34" charset="-79"/>
              <a:cs typeface="Gill Sans" panose="020B0502020104020203" pitchFamily="34" charset="-79"/>
            </a:endParaRPr>
          </a:p>
          <a:p>
            <a:pPr>
              <a:defRPr/>
            </a:pPr>
            <a:r>
              <a:rPr lang="it-IT" sz="1600" b="0" dirty="0">
                <a:latin typeface="Gill Sans" panose="020B0502020104020203" pitchFamily="34" charset="-79"/>
                <a:cs typeface="Gill Sans" panose="020B0502020104020203" pitchFamily="34" charset="-79"/>
              </a:rPr>
              <a:t>At the end</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silicon</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burns</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into</a:t>
            </a:r>
            <a:r>
              <a:rPr lang="it-IT" sz="1600" b="0" dirty="0">
                <a:solidFill>
                  <a:srgbClr val="FF0000"/>
                </a:solidFill>
                <a:latin typeface="Gill Sans" panose="020B0502020104020203" pitchFamily="34" charset="-79"/>
                <a:cs typeface="Gill Sans" panose="020B0502020104020203" pitchFamily="34" charset="-79"/>
              </a:rPr>
              <a:t> the </a:t>
            </a:r>
            <a:r>
              <a:rPr lang="it-IT" sz="1600" b="0" dirty="0" err="1">
                <a:solidFill>
                  <a:srgbClr val="FF0000"/>
                </a:solidFill>
                <a:latin typeface="Gill Sans" panose="020B0502020104020203" pitchFamily="34" charset="-79"/>
                <a:cs typeface="Gill Sans" panose="020B0502020104020203" pitchFamily="34" charset="-79"/>
              </a:rPr>
              <a:t>iron</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group</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including</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iron</a:t>
            </a:r>
            <a:r>
              <a:rPr lang="it-IT" sz="1600" b="0" dirty="0">
                <a:solidFill>
                  <a:srgbClr val="FF0000"/>
                </a:solidFill>
                <a:latin typeface="Gill Sans" panose="020B0502020104020203" pitchFamily="34" charset="-79"/>
                <a:cs typeface="Gill Sans" panose="020B0502020104020203" pitchFamily="34" charset="-79"/>
              </a:rPr>
              <a:t>, </a:t>
            </a:r>
            <a:r>
              <a:rPr lang="it-IT" sz="1600" b="0" dirty="0" err="1">
                <a:solidFill>
                  <a:srgbClr val="FF0000"/>
                </a:solidFill>
                <a:latin typeface="Gill Sans" panose="020B0502020104020203" pitchFamily="34" charset="-79"/>
                <a:cs typeface="Gill Sans" panose="020B0502020104020203" pitchFamily="34" charset="-79"/>
              </a:rPr>
              <a:t>cobalt</a:t>
            </a:r>
            <a:r>
              <a:rPr lang="it-IT" sz="1600" b="0" dirty="0">
                <a:solidFill>
                  <a:srgbClr val="FF0000"/>
                </a:solidFill>
                <a:latin typeface="Gill Sans" panose="020B0502020104020203" pitchFamily="34" charset="-79"/>
                <a:cs typeface="Gill Sans" panose="020B0502020104020203" pitchFamily="34" charset="-79"/>
              </a:rPr>
              <a:t>, and nickel</a:t>
            </a:r>
            <a:r>
              <a:rPr lang="it-IT" sz="1600" b="0" dirty="0">
                <a:latin typeface="Gill Sans" panose="020B0502020104020203" pitchFamily="34" charset="-79"/>
                <a:cs typeface="Gill Sans" panose="020B0502020104020203" pitchFamily="34" charset="-79"/>
              </a:rPr>
              <a:t>, and no more </a:t>
            </a:r>
            <a:r>
              <a:rPr lang="it-IT" sz="1600" b="0" dirty="0" err="1">
                <a:latin typeface="Gill Sans" panose="020B0502020104020203" pitchFamily="34" charset="-79"/>
                <a:cs typeface="Gill Sans" panose="020B0502020104020203" pitchFamily="34" charset="-79"/>
              </a:rPr>
              <a:t>energy</a:t>
            </a:r>
            <a:r>
              <a:rPr lang="it-IT" sz="1600" b="0" dirty="0">
                <a:latin typeface="Gill Sans" panose="020B0502020104020203" pitchFamily="34" charset="-79"/>
                <a:cs typeface="Gill Sans" panose="020B0502020104020203" pitchFamily="34" charset="-79"/>
              </a:rPr>
              <a:t> can be </a:t>
            </a:r>
            <a:r>
              <a:rPr lang="it-IT" sz="1600" b="0" dirty="0" err="1">
                <a:latin typeface="Gill Sans" panose="020B0502020104020203" pitchFamily="34" charset="-79"/>
                <a:cs typeface="Gill Sans" panose="020B0502020104020203" pitchFamily="34" charset="-79"/>
              </a:rPr>
              <a:t>released</a:t>
            </a:r>
            <a:r>
              <a:rPr lang="it-IT" sz="1600" b="0" dirty="0">
                <a:latin typeface="Gill Sans" panose="020B0502020104020203" pitchFamily="34" charset="-79"/>
                <a:cs typeface="Gill Sans" panose="020B0502020104020203" pitchFamily="34" charset="-79"/>
              </a:rPr>
              <a:t> from </a:t>
            </a:r>
            <a:r>
              <a:rPr lang="it-IT" sz="1600" b="0" dirty="0" err="1">
                <a:latin typeface="Gill Sans" panose="020B0502020104020203" pitchFamily="34" charset="-79"/>
                <a:cs typeface="Gill Sans" panose="020B0502020104020203" pitchFamily="34" charset="-79"/>
              </a:rPr>
              <a:t>burning</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these</a:t>
            </a:r>
            <a:r>
              <a:rPr lang="it-IT" sz="1600" b="0" dirty="0">
                <a:latin typeface="Gill Sans" panose="020B0502020104020203" pitchFamily="34" charset="-79"/>
                <a:cs typeface="Gill Sans" panose="020B0502020104020203" pitchFamily="34" charset="-79"/>
              </a:rPr>
              <a:t> </a:t>
            </a:r>
            <a:r>
              <a:rPr lang="it-IT" sz="1600" b="0" dirty="0" err="1">
                <a:latin typeface="Gill Sans" panose="020B0502020104020203" pitchFamily="34" charset="-79"/>
                <a:cs typeface="Gill Sans" panose="020B0502020104020203" pitchFamily="34" charset="-79"/>
              </a:rPr>
              <a:t>isotopes</a:t>
            </a:r>
            <a:r>
              <a:rPr lang="it-IT" sz="1600" b="0" dirty="0">
                <a:latin typeface="Gill Sans" panose="020B0502020104020203" pitchFamily="34" charset="-79"/>
                <a:cs typeface="Gill Sans" panose="020B0502020104020203" pitchFamily="34" charset="-79"/>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egnaposto numero diapositiva 5">
            <a:extLst>
              <a:ext uri="{FF2B5EF4-FFF2-40B4-BE49-F238E27FC236}">
                <a16:creationId xmlns:a16="http://schemas.microsoft.com/office/drawing/2014/main" id="{07620A0F-B8FA-1242-A325-E747464875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8D7B57F5-75B4-DF42-B655-B2F98A8582ED}" type="slidenum">
              <a:rPr lang="en-GB" altLang="it-IT" sz="1400" smtClean="0"/>
              <a:pPr>
                <a:spcBef>
                  <a:spcPct val="0"/>
                </a:spcBef>
                <a:buFontTx/>
                <a:buNone/>
              </a:pPr>
              <a:t>27</a:t>
            </a:fld>
            <a:endParaRPr lang="en-GB" altLang="it-IT" sz="1400"/>
          </a:p>
        </p:txBody>
      </p:sp>
      <p:sp>
        <p:nvSpPr>
          <p:cNvPr id="117762" name="Rectangle 2">
            <a:extLst>
              <a:ext uri="{FF2B5EF4-FFF2-40B4-BE49-F238E27FC236}">
                <a16:creationId xmlns:a16="http://schemas.microsoft.com/office/drawing/2014/main" id="{A1DBDB82-AFF8-2548-8A5E-0896EC3A2A86}"/>
              </a:ext>
            </a:extLst>
          </p:cNvPr>
          <p:cNvSpPr>
            <a:spLocks noGrp="1" noChangeArrowheads="1"/>
          </p:cNvSpPr>
          <p:nvPr>
            <p:ph type="title"/>
          </p:nvPr>
        </p:nvSpPr>
        <p:spPr>
          <a:xfrm>
            <a:off x="228600" y="228600"/>
            <a:ext cx="8001000" cy="609600"/>
          </a:xfrm>
        </p:spPr>
        <p:txBody>
          <a:bodyPr/>
          <a:lstStyle/>
          <a:p>
            <a:r>
              <a:rPr lang="en-GB" altLang="it-IT" sz="2800" b="0">
                <a:ea typeface="ＭＳ Ｐゴシック" panose="020B0600070205080204" pitchFamily="34" charset="-128"/>
              </a:rPr>
              <a:t>Major nuclear burning processes</a:t>
            </a:r>
          </a:p>
        </p:txBody>
      </p:sp>
      <p:sp>
        <p:nvSpPr>
          <p:cNvPr id="117763" name="Rectangle 3">
            <a:extLst>
              <a:ext uri="{FF2B5EF4-FFF2-40B4-BE49-F238E27FC236}">
                <a16:creationId xmlns:a16="http://schemas.microsoft.com/office/drawing/2014/main" id="{427E3A69-821D-6D40-8043-1E6A7E23499A}"/>
              </a:ext>
            </a:extLst>
          </p:cNvPr>
          <p:cNvSpPr>
            <a:spLocks noChangeArrowheads="1"/>
          </p:cNvSpPr>
          <p:nvPr/>
        </p:nvSpPr>
        <p:spPr bwMode="auto">
          <a:xfrm>
            <a:off x="4343400" y="2819400"/>
            <a:ext cx="4114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GB" altLang="it-IT" sz="2400" b="0"/>
          </a:p>
          <a:p>
            <a:pPr eaLnBrk="1" hangingPunct="1">
              <a:spcBef>
                <a:spcPct val="0"/>
              </a:spcBef>
              <a:buFontTx/>
              <a:buNone/>
            </a:pPr>
            <a:endParaRPr lang="en-GB" altLang="it-IT" sz="2400" b="0"/>
          </a:p>
          <a:p>
            <a:pPr eaLnBrk="1" hangingPunct="1">
              <a:spcBef>
                <a:spcPct val="0"/>
              </a:spcBef>
              <a:buFontTx/>
              <a:buNone/>
            </a:pPr>
            <a:r>
              <a:rPr lang="en-GB" altLang="it-IT" sz="2400" b="0"/>
              <a:t> </a:t>
            </a:r>
          </a:p>
        </p:txBody>
      </p:sp>
      <p:graphicFrame>
        <p:nvGraphicFramePr>
          <p:cNvPr id="62558" name="Group 94">
            <a:extLst>
              <a:ext uri="{FF2B5EF4-FFF2-40B4-BE49-F238E27FC236}">
                <a16:creationId xmlns:a16="http://schemas.microsoft.com/office/drawing/2014/main" id="{1C6946DD-A437-D340-9C96-24F254917A24}"/>
              </a:ext>
            </a:extLst>
          </p:cNvPr>
          <p:cNvGraphicFramePr>
            <a:graphicFrameLocks noGrp="1"/>
          </p:cNvGraphicFramePr>
          <p:nvPr/>
        </p:nvGraphicFramePr>
        <p:xfrm>
          <a:off x="635000" y="1498600"/>
          <a:ext cx="7315200" cy="3573465"/>
        </p:xfrm>
        <a:graphic>
          <a:graphicData uri="http://schemas.openxmlformats.org/drawingml/2006/table">
            <a:tbl>
              <a:tblPr/>
              <a:tblGrid>
                <a:gridCol w="982663">
                  <a:extLst>
                    <a:ext uri="{9D8B030D-6E8A-4147-A177-3AD203B41FA5}">
                      <a16:colId xmlns:a16="http://schemas.microsoft.com/office/drawing/2014/main" val="20000"/>
                    </a:ext>
                  </a:extLst>
                </a:gridCol>
                <a:gridCol w="981075">
                  <a:extLst>
                    <a:ext uri="{9D8B030D-6E8A-4147-A177-3AD203B41FA5}">
                      <a16:colId xmlns:a16="http://schemas.microsoft.com/office/drawing/2014/main" val="20001"/>
                    </a:ext>
                  </a:extLst>
                </a:gridCol>
                <a:gridCol w="982662">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2590800">
                  <a:extLst>
                    <a:ext uri="{9D8B030D-6E8A-4147-A177-3AD203B41FA5}">
                      <a16:colId xmlns:a16="http://schemas.microsoft.com/office/drawing/2014/main" val="20004"/>
                    </a:ext>
                  </a:extLst>
                </a:gridCol>
              </a:tblGrid>
              <a:tr h="6715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Nuclear Fuel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Process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err="1">
                          <a:ln>
                            <a:noFill/>
                          </a:ln>
                          <a:solidFill>
                            <a:schemeClr val="tx1"/>
                          </a:solidFill>
                          <a:effectLst/>
                          <a:latin typeface="Arial" charset="0"/>
                          <a:ea typeface="ＭＳ Ｐゴシック" charset="0"/>
                        </a:rPr>
                        <a:t>T</a:t>
                      </a:r>
                      <a:r>
                        <a:rPr kumimoji="0" lang="en-GB" sz="1600" b="0" i="0" u="none" strike="noStrike" cap="none" normalizeH="0" baseline="-25000" dirty="0" err="1">
                          <a:ln>
                            <a:noFill/>
                          </a:ln>
                          <a:solidFill>
                            <a:schemeClr val="tx1"/>
                          </a:solidFill>
                          <a:effectLst/>
                          <a:latin typeface="Arial" charset="0"/>
                          <a:ea typeface="ＭＳ Ｐゴシック" charset="0"/>
                        </a:rPr>
                        <a:t>threshold</a:t>
                      </a:r>
                      <a:endParaRPr kumimoji="0" lang="en-GB" sz="1600" b="0" i="0" u="none" strike="noStrike" cap="none" normalizeH="0" baseline="-25000" dirty="0">
                        <a:ln>
                          <a:noFill/>
                        </a:ln>
                        <a:solidFill>
                          <a:schemeClr val="tx1"/>
                        </a:solidFill>
                        <a:effectLst/>
                        <a:latin typeface="Arial" charset="0"/>
                        <a:ea typeface="ＭＳ Ｐゴシック"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ea typeface="ＭＳ Ｐゴシック" charset="0"/>
                        </a:rPr>
                        <a:t>10</a:t>
                      </a:r>
                      <a:r>
                        <a:rPr kumimoji="0" lang="en-GB" sz="1600" b="0" i="0" u="none" strike="noStrike" cap="none" normalizeH="0" baseline="30000" dirty="0">
                          <a:ln>
                            <a:noFill/>
                          </a:ln>
                          <a:solidFill>
                            <a:schemeClr val="tx1"/>
                          </a:solidFill>
                          <a:effectLst/>
                          <a:latin typeface="Arial" charset="0"/>
                          <a:ea typeface="ＭＳ Ｐゴシック" charset="0"/>
                        </a:rPr>
                        <a:t>6</a:t>
                      </a:r>
                      <a:r>
                        <a:rPr kumimoji="0" lang="en-GB" sz="1600" b="0" i="0" u="none" strike="noStrike" cap="none" normalizeH="0" baseline="0" dirty="0">
                          <a:ln>
                            <a:noFill/>
                          </a:ln>
                          <a:solidFill>
                            <a:schemeClr val="tx1"/>
                          </a:solidFill>
                          <a:effectLst/>
                          <a:latin typeface="Arial" charset="0"/>
                          <a:ea typeface="ＭＳ Ｐゴシック" charset="0"/>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Products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Energy per nucleon (Mev)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PP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He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6.55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6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CNO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He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6.25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He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3</a:t>
                      </a:r>
                      <a:r>
                        <a:rPr kumimoji="0" lang="en-GB" sz="1600" b="0" i="0" u="none" strike="noStrike" cap="none" normalizeH="0" baseline="0">
                          <a:ln>
                            <a:noFill/>
                          </a:ln>
                          <a:solidFill>
                            <a:schemeClr val="tx1"/>
                          </a:solidFill>
                          <a:effectLst/>
                          <a:latin typeface="Arial" charset="0"/>
                          <a:ea typeface="ＭＳ Ｐゴシック" charset="0"/>
                          <a:sym typeface="Symbol" charset="0"/>
                        </a:rPr>
                        <a:t></a:t>
                      </a:r>
                      <a:endParaRPr kumimoji="0" lang="en-GB" sz="1600" b="0"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C,O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0.61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C+C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O,Ne,Ma,Mg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0.54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1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O+O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Mg,S,P,Si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~0.3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2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Si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Nuc eq.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3000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ea typeface="ＭＳ Ｐゴシック" charset="0"/>
                        </a:rPr>
                        <a:t>Co,Fe,Ni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ea typeface="ＭＳ Ｐゴシック" charset="0"/>
                        </a:rPr>
                        <a:t>&lt;0.18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Rettangolo 1">
            <a:extLst>
              <a:ext uri="{FF2B5EF4-FFF2-40B4-BE49-F238E27FC236}">
                <a16:creationId xmlns:a16="http://schemas.microsoft.com/office/drawing/2014/main" id="{4BCB2CE6-ED5C-9A46-9DF2-1B35996E50C0}"/>
              </a:ext>
            </a:extLst>
          </p:cNvPr>
          <p:cNvSpPr/>
          <p:nvPr/>
        </p:nvSpPr>
        <p:spPr>
          <a:xfrm>
            <a:off x="635000" y="5537200"/>
            <a:ext cx="7315200" cy="708025"/>
          </a:xfrm>
          <a:prstGeom prst="rect">
            <a:avLst/>
          </a:prstGeom>
        </p:spPr>
        <p:txBody>
          <a:bodyPr>
            <a:spAutoFit/>
          </a:bodyPr>
          <a:lstStyle/>
          <a:p>
            <a:pPr algn="just">
              <a:defRPr/>
            </a:pPr>
            <a:r>
              <a:rPr lang="it-IT" b="0" dirty="0" err="1">
                <a:solidFill>
                  <a:srgbClr val="0070C0"/>
                </a:solidFill>
                <a:latin typeface="+mj-lt"/>
              </a:rPr>
              <a:t>However</a:t>
            </a:r>
            <a:r>
              <a:rPr lang="it-IT" b="0" dirty="0">
                <a:solidFill>
                  <a:srgbClr val="0070C0"/>
                </a:solidFill>
                <a:latin typeface="+mj-lt"/>
              </a:rPr>
              <a:t>, </a:t>
            </a:r>
            <a:r>
              <a:rPr lang="it-IT" b="0" dirty="0" err="1">
                <a:solidFill>
                  <a:srgbClr val="0070C0"/>
                </a:solidFill>
                <a:latin typeface="+mj-lt"/>
              </a:rPr>
              <a:t>not</a:t>
            </a:r>
            <a:r>
              <a:rPr lang="it-IT" b="0" dirty="0">
                <a:solidFill>
                  <a:srgbClr val="0070C0"/>
                </a:solidFill>
                <a:latin typeface="+mj-lt"/>
              </a:rPr>
              <a:t> </a:t>
            </a:r>
            <a:r>
              <a:rPr lang="it-IT" b="0" dirty="0" err="1">
                <a:solidFill>
                  <a:srgbClr val="0070C0"/>
                </a:solidFill>
                <a:latin typeface="+mj-lt"/>
              </a:rPr>
              <a:t>every</a:t>
            </a:r>
            <a:r>
              <a:rPr lang="it-IT" b="0" dirty="0">
                <a:solidFill>
                  <a:srgbClr val="0070C0"/>
                </a:solidFill>
                <a:latin typeface="+mj-lt"/>
              </a:rPr>
              <a:t> star </a:t>
            </a:r>
            <a:r>
              <a:rPr lang="it-IT" b="0" dirty="0" err="1">
                <a:solidFill>
                  <a:srgbClr val="0070C0"/>
                </a:solidFill>
                <a:latin typeface="+mj-lt"/>
              </a:rPr>
              <a:t>goes</a:t>
            </a:r>
            <a:r>
              <a:rPr lang="it-IT" b="0" dirty="0">
                <a:solidFill>
                  <a:srgbClr val="0070C0"/>
                </a:solidFill>
                <a:latin typeface="+mj-lt"/>
              </a:rPr>
              <a:t> </a:t>
            </a:r>
            <a:r>
              <a:rPr lang="it-IT" b="0" dirty="0" err="1">
                <a:solidFill>
                  <a:srgbClr val="0070C0"/>
                </a:solidFill>
                <a:latin typeface="+mj-lt"/>
              </a:rPr>
              <a:t>through</a:t>
            </a:r>
            <a:r>
              <a:rPr lang="it-IT" b="0" dirty="0">
                <a:solidFill>
                  <a:srgbClr val="0070C0"/>
                </a:solidFill>
                <a:latin typeface="+mj-lt"/>
              </a:rPr>
              <a:t> </a:t>
            </a:r>
            <a:r>
              <a:rPr lang="it-IT" b="0" dirty="0" err="1">
                <a:solidFill>
                  <a:srgbClr val="0070C0"/>
                </a:solidFill>
                <a:latin typeface="+mj-lt"/>
              </a:rPr>
              <a:t>all</a:t>
            </a:r>
            <a:r>
              <a:rPr lang="it-IT" b="0" dirty="0">
                <a:solidFill>
                  <a:srgbClr val="0070C0"/>
                </a:solidFill>
                <a:latin typeface="+mj-lt"/>
              </a:rPr>
              <a:t> of </a:t>
            </a:r>
            <a:r>
              <a:rPr lang="it-IT" b="0" dirty="0" err="1">
                <a:solidFill>
                  <a:srgbClr val="0070C0"/>
                </a:solidFill>
                <a:latin typeface="+mj-lt"/>
              </a:rPr>
              <a:t>these</a:t>
            </a:r>
            <a:r>
              <a:rPr lang="it-IT" b="0" dirty="0">
                <a:solidFill>
                  <a:srgbClr val="0070C0"/>
                </a:solidFill>
                <a:latin typeface="+mj-lt"/>
              </a:rPr>
              <a:t> </a:t>
            </a:r>
            <a:r>
              <a:rPr lang="it-IT" b="0" dirty="0" err="1">
                <a:solidFill>
                  <a:srgbClr val="0070C0"/>
                </a:solidFill>
                <a:latin typeface="+mj-lt"/>
              </a:rPr>
              <a:t>burning</a:t>
            </a:r>
            <a:r>
              <a:rPr lang="it-IT" b="0" dirty="0">
                <a:solidFill>
                  <a:srgbClr val="0070C0"/>
                </a:solidFill>
                <a:latin typeface="+mj-lt"/>
              </a:rPr>
              <a:t> </a:t>
            </a:r>
            <a:r>
              <a:rPr lang="it-IT" b="0" dirty="0" err="1">
                <a:solidFill>
                  <a:srgbClr val="0070C0"/>
                </a:solidFill>
                <a:latin typeface="+mj-lt"/>
              </a:rPr>
              <a:t>processes</a:t>
            </a:r>
            <a:r>
              <a:rPr lang="it-IT" b="0" dirty="0">
                <a:solidFill>
                  <a:srgbClr val="0070C0"/>
                </a:solidFill>
                <a:latin typeface="+mj-lt"/>
              </a:rPr>
              <a:t>; </a:t>
            </a:r>
            <a:r>
              <a:rPr lang="it-IT" b="0" dirty="0" err="1">
                <a:solidFill>
                  <a:srgbClr val="0070C0"/>
                </a:solidFill>
                <a:latin typeface="+mj-lt"/>
              </a:rPr>
              <a:t>it</a:t>
            </a:r>
            <a:r>
              <a:rPr lang="it-IT" b="0" dirty="0">
                <a:solidFill>
                  <a:srgbClr val="0070C0"/>
                </a:solidFill>
                <a:latin typeface="+mj-lt"/>
              </a:rPr>
              <a:t> </a:t>
            </a:r>
            <a:r>
              <a:rPr lang="it-IT" b="0" dirty="0" err="1">
                <a:solidFill>
                  <a:srgbClr val="0070C0"/>
                </a:solidFill>
                <a:latin typeface="+mj-lt"/>
              </a:rPr>
              <a:t>depends</a:t>
            </a:r>
            <a:r>
              <a:rPr lang="it-IT" b="0" dirty="0">
                <a:solidFill>
                  <a:srgbClr val="0070C0"/>
                </a:solidFill>
                <a:latin typeface="+mj-lt"/>
              </a:rPr>
              <a:t> on </a:t>
            </a:r>
            <a:r>
              <a:rPr lang="it-IT" b="0" dirty="0" err="1">
                <a:solidFill>
                  <a:srgbClr val="0070C0"/>
                </a:solidFill>
                <a:latin typeface="+mj-lt"/>
              </a:rPr>
              <a:t>their</a:t>
            </a:r>
            <a:r>
              <a:rPr lang="it-IT" b="0" dirty="0">
                <a:solidFill>
                  <a:srgbClr val="0070C0"/>
                </a:solidFill>
                <a:latin typeface="+mj-lt"/>
              </a:rPr>
              <a:t> </a:t>
            </a:r>
            <a:r>
              <a:rPr lang="it-IT" b="0" dirty="0" err="1">
                <a:solidFill>
                  <a:srgbClr val="0070C0"/>
                </a:solidFill>
                <a:latin typeface="+mj-lt"/>
              </a:rPr>
              <a:t>initial</a:t>
            </a:r>
            <a:r>
              <a:rPr lang="it-IT" b="0" dirty="0">
                <a:solidFill>
                  <a:srgbClr val="0070C0"/>
                </a:solidFill>
                <a:latin typeface="+mj-lt"/>
              </a:rPr>
              <a:t> </a:t>
            </a:r>
            <a:r>
              <a:rPr lang="it-IT" b="0" dirty="0" err="1">
                <a:solidFill>
                  <a:srgbClr val="0070C0"/>
                </a:solidFill>
                <a:latin typeface="+mj-lt"/>
              </a:rPr>
              <a:t>masses</a:t>
            </a:r>
            <a:r>
              <a:rPr lang="it-IT" b="0" dirty="0">
                <a:solidFill>
                  <a:srgbClr val="0070C0"/>
                </a:solidFill>
                <a:latin typeface="+mj-lt"/>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olo 1">
            <a:extLst>
              <a:ext uri="{FF2B5EF4-FFF2-40B4-BE49-F238E27FC236}">
                <a16:creationId xmlns:a16="http://schemas.microsoft.com/office/drawing/2014/main" id="{AA2ED58F-CF52-1E47-BF1D-63D1F689B8C4}"/>
              </a:ext>
            </a:extLst>
          </p:cNvPr>
          <p:cNvSpPr>
            <a:spLocks noGrp="1" noChangeArrowheads="1"/>
          </p:cNvSpPr>
          <p:nvPr>
            <p:ph type="title"/>
          </p:nvPr>
        </p:nvSpPr>
        <p:spPr/>
        <p:txBody>
          <a:bodyPr/>
          <a:lstStyle/>
          <a:p>
            <a:r>
              <a:rPr lang="en-US" altLang="it-IT">
                <a:ea typeface="ＭＳ Ｐゴシック" panose="020B0600070205080204" pitchFamily="34" charset="-128"/>
              </a:rPr>
              <a:t>Formation of the Heavier Elements</a:t>
            </a:r>
          </a:p>
        </p:txBody>
      </p:sp>
      <mc:AlternateContent xmlns:mc="http://schemas.openxmlformats.org/markup-compatibility/2006" xmlns:a14="http://schemas.microsoft.com/office/drawing/2010/main">
        <mc:Choice Requires="a14">
          <p:sp>
            <p:nvSpPr>
              <p:cNvPr id="120834" name="Segnaposto contenuto 2">
                <a:extLst>
                  <a:ext uri="{FF2B5EF4-FFF2-40B4-BE49-F238E27FC236}">
                    <a16:creationId xmlns:a16="http://schemas.microsoft.com/office/drawing/2014/main" id="{62E93D41-D516-1C4E-9CD8-3759D35FF96F}"/>
                  </a:ext>
                </a:extLst>
              </p:cNvPr>
              <p:cNvSpPr>
                <a:spLocks noGrp="1" noChangeArrowheads="1"/>
              </p:cNvSpPr>
              <p:nvPr>
                <p:ph idx="1"/>
              </p:nvPr>
            </p:nvSpPr>
            <p:spPr>
              <a:xfrm>
                <a:off x="457200" y="863600"/>
                <a:ext cx="8229600" cy="4525963"/>
              </a:xfrm>
            </p:spPr>
            <p:txBody>
              <a:bodyPr/>
              <a:lstStyle/>
              <a:p>
                <a:r>
                  <a:rPr lang="it-IT" altLang="it-IT" sz="2000" dirty="0" err="1">
                    <a:ea typeface="ＭＳ Ｐゴシック" panose="020B0600070205080204" pitchFamily="34" charset="-128"/>
                  </a:rPr>
                  <a:t>Isotopes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heavier</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than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as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well</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as</a:t>
                </a:r>
                <a:r>
                  <a:rPr lang="it-IT" altLang="it-IT" sz="2000" dirty="0">
                    <a:ea typeface="ＭＳ Ｐゴシック" panose="020B0600070205080204" pitchFamily="34" charset="-128"/>
                  </a:rPr>
                  <a:t> some intermediate </a:t>
                </a:r>
                <a:r>
                  <a:rPr lang="it-IT" altLang="it-IT" sz="2000" dirty="0" err="1">
                    <a:ea typeface="ＭＳ Ｐゴシック" panose="020B0600070205080204" pitchFamily="34" charset="-128"/>
                  </a:rPr>
                  <a:t>weight</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iso</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topes</a:t>
                </a:r>
                <a:r>
                  <a:rPr lang="it-IT" altLang="it-IT" sz="2000" dirty="0">
                    <a:ea typeface="ＭＳ Ｐゴシック" panose="020B0600070205080204" pitchFamily="34" charset="-128"/>
                  </a:rPr>
                  <a:t>) are made </a:t>
                </a:r>
                <a:r>
                  <a:rPr lang="it-IT" altLang="it-IT" sz="2000" dirty="0" err="1">
                    <a:ea typeface="ＭＳ Ｐゴシック" panose="020B0600070205080204" pitchFamily="34" charset="-128"/>
                  </a:rPr>
                  <a:t>through</a:t>
                </a:r>
                <a:r>
                  <a:rPr lang="it-IT" altLang="it-IT" sz="2000" dirty="0">
                    <a:ea typeface="ＭＳ Ｐゴシック" panose="020B0600070205080204" pitchFamily="34" charset="-128"/>
                  </a:rPr>
                  <a:t> </a:t>
                </a:r>
                <a14:m>
                  <m:oMath xmlns:m="http://schemas.openxmlformats.org/officeDocument/2006/math">
                    <m:r>
                      <a:rPr lang="it-IT" altLang="it-IT" sz="2000" i="1" dirty="0" smtClean="0">
                        <a:solidFill>
                          <a:srgbClr val="FF0000"/>
                        </a:solidFill>
                        <a:latin typeface="Cambria Math" panose="02040503050406030204" pitchFamily="18" charset="0"/>
                        <a:ea typeface="ＭＳ Ｐゴシック" panose="020B0600070205080204" pitchFamily="34" charset="-128"/>
                      </a:rPr>
                      <m:t>𝑛𝑒𝑢𝑡𝑟𝑜𝑛</m:t>
                    </m:r>
                    <m:r>
                      <a:rPr lang="it-IT" altLang="it-IT" sz="2000" i="1" dirty="0">
                        <a:solidFill>
                          <a:srgbClr val="FF0000"/>
                        </a:solidFill>
                        <a:latin typeface="Cambria Math" panose="02040503050406030204" pitchFamily="18" charset="0"/>
                        <a:ea typeface="ＭＳ Ｐゴシック" panose="020B0600070205080204" pitchFamily="34" charset="-128"/>
                      </a:rPr>
                      <m:t> </m:t>
                    </m:r>
                    <m:r>
                      <a:rPr lang="it-IT" altLang="it-IT" sz="2000" i="1" dirty="0" err="1">
                        <a:solidFill>
                          <a:srgbClr val="FF0000"/>
                        </a:solidFill>
                        <a:latin typeface="Cambria Math" panose="02040503050406030204" pitchFamily="18" charset="0"/>
                        <a:ea typeface="ＭＳ Ｐゴシック" panose="020B0600070205080204" pitchFamily="34" charset="-128"/>
                      </a:rPr>
                      <m:t>𝑐𝑎𝑝𝑡𝑢𝑟𝑒𝑠</m:t>
                    </m:r>
                    <m:r>
                      <a:rPr lang="it-IT" altLang="it-IT" sz="2000" i="1" dirty="0">
                        <a:solidFill>
                          <a:srgbClr val="FF0000"/>
                        </a:solidFill>
                        <a:latin typeface="Cambria Math" panose="02040503050406030204" pitchFamily="18" charset="0"/>
                        <a:ea typeface="ＭＳ Ｐゴシック" panose="020B0600070205080204" pitchFamily="34" charset="-128"/>
                      </a:rPr>
                      <m:t> </m:t>
                    </m:r>
                  </m:oMath>
                </a14:m>
                <a:r>
                  <a:rPr lang="it-IT" altLang="it-IT" sz="2000" dirty="0">
                    <a:ea typeface="ＭＳ Ｐゴシック" panose="020B0600070205080204" pitchFamily="34" charset="-128"/>
                  </a:rPr>
                  <a:t>(For </a:t>
                </a:r>
                <a:r>
                  <a:rPr lang="it-IT" altLang="it-IT" sz="2000" dirty="0" err="1">
                    <a:ea typeface="ＭＳ Ｐゴシック" panose="020B0600070205080204" pitchFamily="34" charset="-128"/>
                  </a:rPr>
                  <a:t>neutron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captures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there</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no </a:t>
                </a:r>
                <a:r>
                  <a:rPr lang="it-IT" altLang="it-IT" sz="2000" dirty="0" err="1">
                    <a:ea typeface="ＭＳ Ｐゴシック" panose="020B0600070205080204" pitchFamily="34" charset="-128"/>
                  </a:rPr>
                  <a:t>electrostatic</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repulsion</a:t>
                </a:r>
                <a:r>
                  <a:rPr lang="it-IT" altLang="it-IT" sz="2000" dirty="0">
                    <a:ea typeface="ＭＳ Ｐゴシック" panose="020B0600070205080204" pitchFamily="34" charset="-128"/>
                  </a:rPr>
                  <a:t> and the cross-</a:t>
                </a:r>
                <a:r>
                  <a:rPr lang="it-IT" altLang="it-IT" sz="2000" dirty="0" err="1">
                    <a:ea typeface="ＭＳ Ｐゴシック" panose="020B0600070205080204" pitchFamily="34" charset="-128"/>
                  </a:rPr>
                  <a:t>section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large and </a:t>
                </a:r>
                <a:r>
                  <a:rPr lang="it-IT" altLang="it-IT" sz="2000" dirty="0" err="1">
                    <a:ea typeface="ＭＳ Ｐゴシック" panose="020B0600070205080204" pitchFamily="34" charset="-128"/>
                  </a:rPr>
                  <a:t>independent</a:t>
                </a:r>
                <a:r>
                  <a:rPr lang="it-IT" altLang="it-IT" sz="2000" dirty="0">
                    <a:ea typeface="ＭＳ Ｐゴシック" panose="020B0600070205080204" pitchFamily="34" charset="-128"/>
                  </a:rPr>
                  <a:t> of </a:t>
                </a:r>
                <a:r>
                  <a:rPr lang="it-IT" altLang="it-IT" sz="2000" dirty="0" err="1">
                    <a:ea typeface="ＭＳ Ｐゴシック" panose="020B0600070205080204" pitchFamily="34" charset="-128"/>
                  </a:rPr>
                  <a:t>energy</a:t>
                </a:r>
                <a:r>
                  <a:rPr lang="it-IT" altLang="it-IT" sz="2000" dirty="0">
                    <a:ea typeface="ＭＳ Ｐゴシック" panose="020B0600070205080204" pitchFamily="34" charset="-128"/>
                  </a:rPr>
                  <a:t>).</a:t>
                </a:r>
              </a:p>
              <a:p>
                <a:r>
                  <a:rPr lang="it-IT" altLang="it-IT" sz="2000" dirty="0" err="1">
                    <a:ea typeface="ＭＳ Ｐゴシック" panose="020B0600070205080204" pitchFamily="34" charset="-128"/>
                  </a:rPr>
                  <a:t>If</a:t>
                </a:r>
                <a:r>
                  <a:rPr lang="it-IT" altLang="it-IT" sz="2000" dirty="0">
                    <a:ea typeface="ＭＳ Ｐゴシック" panose="020B0600070205080204" pitchFamily="34" charset="-128"/>
                  </a:rPr>
                  <a:t> the ratio of of </a:t>
                </a:r>
                <a:r>
                  <a:rPr lang="it-IT" altLang="it-IT" sz="2000" dirty="0" err="1">
                    <a:ea typeface="ＭＳ Ｐゴシック" panose="020B0600070205080204" pitchFamily="34" charset="-128"/>
                  </a:rPr>
                  <a:t>neutrons</a:t>
                </a:r>
                <a:r>
                  <a:rPr lang="it-IT" altLang="it-IT" sz="2000" dirty="0">
                    <a:ea typeface="ＭＳ Ｐゴシック" panose="020B0600070205080204" pitchFamily="34" charset="-128"/>
                  </a:rPr>
                  <a:t> to </a:t>
                </a:r>
                <a:r>
                  <a:rPr lang="it-IT" altLang="it-IT" sz="2000" dirty="0" err="1">
                    <a:ea typeface="ＭＳ Ｐゴシック" panose="020B0600070205080204" pitchFamily="34" charset="-128"/>
                  </a:rPr>
                  <a:t>protons</a:t>
                </a:r>
                <a:r>
                  <a:rPr lang="it-IT" altLang="it-IT" sz="2000" dirty="0">
                    <a:ea typeface="ＭＳ Ｐゴシック" panose="020B0600070205080204" pitchFamily="34" charset="-128"/>
                  </a:rPr>
                  <a:t> in an </a:t>
                </a:r>
                <a:r>
                  <a:rPr lang="it-IT" altLang="it-IT" sz="2000" dirty="0" err="1">
                    <a:ea typeface="ＭＳ Ｐゴシック" panose="020B0600070205080204" pitchFamily="34" charset="-128"/>
                  </a:rPr>
                  <a:t>atomic</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nucleus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becomes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too</a:t>
                </a:r>
                <a:r>
                  <a:rPr lang="it-IT" altLang="it-IT" sz="2000" dirty="0">
                    <a:ea typeface="ＭＳ Ｐゴシック" panose="020B0600070205080204" pitchFamily="34" charset="-128"/>
                  </a:rPr>
                  <a:t> large, </a:t>
                </a:r>
                <a:r>
                  <a:rPr lang="it-IT" altLang="it-IT" sz="2000" dirty="0">
                    <a:solidFill>
                      <a:srgbClr val="0070C0"/>
                    </a:solidFill>
                    <a:ea typeface="ＭＳ Ｐゴシック" panose="020B0600070205080204" pitchFamily="34" charset="-128"/>
                  </a:rPr>
                  <a:t>the </a:t>
                </a:r>
                <a:r>
                  <a:rPr lang="it-IT" altLang="it-IT" sz="2000" dirty="0" err="1">
                    <a:solidFill>
                      <a:srgbClr val="0070C0"/>
                    </a:solidFill>
                    <a:ea typeface="ＭＳ Ｐゴシック" panose="020B0600070205080204" pitchFamily="34" charset="-128"/>
                  </a:rPr>
                  <a:t>nucleus</a:t>
                </a:r>
                <a:r>
                  <a:rPr lang="it-IT" altLang="it-IT" sz="2000" dirty="0">
                    <a:solidFill>
                      <a:srgbClr val="0070C0"/>
                    </a:solidFill>
                    <a:ea typeface="ＭＳ Ｐゴシック" panose="020B0600070205080204" pitchFamily="34" charset="-128"/>
                  </a:rPr>
                  <a:t> </a:t>
                </a:r>
                <a:r>
                  <a:rPr lang="it-IT" altLang="it-IT" sz="2000" dirty="0" err="1">
                    <a:solidFill>
                      <a:srgbClr val="0070C0"/>
                    </a:solidFill>
                    <a:ea typeface="ＭＳ Ｐゴシック" panose="020B0600070205080204" pitchFamily="34" charset="-128"/>
                  </a:rPr>
                  <a:t>becomes</a:t>
                </a:r>
                <a:r>
                  <a:rPr lang="it-IT" altLang="it-IT" sz="2000" dirty="0">
                    <a:solidFill>
                      <a:srgbClr val="0070C0"/>
                    </a:solidFill>
                    <a:ea typeface="ＭＳ Ｐゴシック" panose="020B0600070205080204" pitchFamily="34" charset="-128"/>
                  </a:rPr>
                  <a:t> </a:t>
                </a:r>
                <a:r>
                  <a:rPr lang="it-IT" altLang="it-IT" sz="2000" dirty="0" err="1">
                    <a:solidFill>
                      <a:srgbClr val="0070C0"/>
                    </a:solidFill>
                    <a:ea typeface="ＭＳ Ｐゴシック" panose="020B0600070205080204" pitchFamily="34" charset="-128"/>
                  </a:rPr>
                  <a:t>unstable</a:t>
                </a:r>
                <a:r>
                  <a:rPr lang="it-IT" altLang="it-IT" sz="2000" dirty="0">
                    <a:solidFill>
                      <a:srgbClr val="0070C0"/>
                    </a:solidFill>
                    <a:ea typeface="ＭＳ Ｐゴシック" panose="020B0600070205080204" pitchFamily="34" charset="-128"/>
                  </a:rPr>
                  <a:t> to beta-</a:t>
                </a:r>
                <a:r>
                  <a:rPr lang="it-IT" altLang="it-IT" sz="2000" dirty="0" err="1">
                    <a:solidFill>
                      <a:srgbClr val="0070C0"/>
                    </a:solidFill>
                    <a:ea typeface="ＭＳ Ｐゴシック" panose="020B0600070205080204" pitchFamily="34" charset="-128"/>
                  </a:rPr>
                  <a:t>decay</a:t>
                </a:r>
                <a:r>
                  <a:rPr lang="it-IT" altLang="it-IT" sz="2000" dirty="0">
                    <a:ea typeface="ＭＳ Ｐゴシック" panose="020B0600070205080204" pitchFamily="34" charset="-128"/>
                  </a:rPr>
                  <a:t>, and a </a:t>
                </a:r>
                <a:r>
                  <a:rPr lang="it-IT" altLang="it-IT" sz="2000" dirty="0" err="1">
                    <a:ea typeface="ＭＳ Ｐゴシック" panose="020B0600070205080204" pitchFamily="34" charset="-128"/>
                  </a:rPr>
                  <a:t>neutron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changed</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into</a:t>
                </a:r>
                <a:r>
                  <a:rPr lang="it-IT" altLang="it-IT" sz="2000" dirty="0">
                    <a:ea typeface="ＭＳ Ｐゴシック" panose="020B0600070205080204" pitchFamily="34" charset="-128"/>
                  </a:rPr>
                  <a:t> a </a:t>
                </a:r>
                <a:r>
                  <a:rPr lang="it-IT" altLang="it-IT" sz="2000" dirty="0" err="1">
                    <a:ea typeface="ＭＳ Ｐゴシック" panose="020B0600070205080204" pitchFamily="34" charset="-128"/>
                  </a:rPr>
                  <a:t>proton</a:t>
                </a:r>
                <a:r>
                  <a:rPr lang="it-IT" altLang="it-IT" sz="2000" dirty="0">
                    <a:ea typeface="ＭＳ Ｐゴシック" panose="020B0600070205080204" pitchFamily="34" charset="-128"/>
                  </a:rPr>
                  <a:t> via </a:t>
                </a:r>
              </a:p>
              <a:p>
                <a:endParaRPr lang="it-IT" altLang="it-IT" sz="2000" dirty="0">
                  <a:ea typeface="ＭＳ Ｐゴシック" panose="020B0600070205080204" pitchFamily="34" charset="-128"/>
                </a:endParaRPr>
              </a:p>
              <a:p>
                <a:endParaRPr lang="it-IT" altLang="it-IT" sz="2000" dirty="0">
                  <a:ea typeface="ＭＳ Ｐゴシック" panose="020B0600070205080204" pitchFamily="34" charset="-128"/>
                </a:endParaRPr>
              </a:p>
              <a:p>
                <a:r>
                  <a:rPr lang="it-IT" altLang="it-IT" sz="2000" dirty="0">
                    <a:ea typeface="ＭＳ Ｐゴシック" panose="020B0600070205080204" pitchFamily="34" charset="-128"/>
                  </a:rPr>
                  <a:t>The </a:t>
                </a:r>
                <a:r>
                  <a:rPr lang="it-IT" altLang="it-IT" sz="2000" dirty="0" err="1">
                    <a:ea typeface="ＭＳ Ｐゴシック" panose="020B0600070205080204" pitchFamily="34" charset="-128"/>
                  </a:rPr>
                  <a:t>timescale</a:t>
                </a:r>
                <a:r>
                  <a:rPr lang="it-IT" altLang="it-IT" sz="2000" dirty="0">
                    <a:ea typeface="ＭＳ Ｐゴシック" panose="020B0600070205080204" pitchFamily="34" charset="-128"/>
                  </a:rPr>
                  <a:t> for </a:t>
                </a:r>
                <a:r>
                  <a:rPr lang="it-IT" altLang="it-IT" sz="2000" dirty="0" err="1">
                    <a:ea typeface="ＭＳ Ｐゴシック" panose="020B0600070205080204" pitchFamily="34" charset="-128"/>
                  </a:rPr>
                  <a:t>this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decay</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typically</a:t>
                </a:r>
                <a:r>
                  <a:rPr lang="it-IT" altLang="it-IT" sz="2000" dirty="0">
                    <a:ea typeface="ＭＳ Ｐゴシック" panose="020B0600070205080204" pitchFamily="34" charset="-128"/>
                  </a:rPr>
                  <a:t> on the </a:t>
                </a:r>
                <a:r>
                  <a:rPr lang="it-IT" altLang="it-IT" sz="2000" dirty="0" err="1">
                    <a:ea typeface="ＭＳ Ｐゴシック" panose="020B0600070205080204" pitchFamily="34" charset="-128"/>
                  </a:rPr>
                  <a:t>order</a:t>
                </a:r>
                <a:r>
                  <a:rPr lang="it-IT" altLang="it-IT" sz="2000" dirty="0">
                    <a:ea typeface="ＭＳ Ｐゴシック" panose="020B0600070205080204" pitchFamily="34" charset="-128"/>
                  </a:rPr>
                  <a:t> of hours, or ∼ 10</a:t>
                </a:r>
                <a:r>
                  <a:rPr lang="it-IT" altLang="it-IT" sz="2000" baseline="30000" dirty="0">
                    <a:ea typeface="ＭＳ Ｐゴシック" panose="020B0600070205080204" pitchFamily="34" charset="-128"/>
                  </a:rPr>
                  <a:t>−3</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years</a:t>
                </a:r>
                <a:r>
                  <a:rPr lang="it-IT" altLang="it-IT" sz="2000" dirty="0">
                    <a:ea typeface="ＭＳ Ｐゴシック" panose="020B0600070205080204" pitchFamily="34" charset="-128"/>
                  </a:rPr>
                  <a:t> (with a </a:t>
                </a:r>
                <a:r>
                  <a:rPr lang="it-IT" altLang="it-IT" sz="2000" dirty="0" err="1">
                    <a:ea typeface="ＭＳ Ｐゴシック" panose="020B0600070205080204" pitchFamily="34" charset="-128"/>
                  </a:rPr>
                  <a:t>factor</a:t>
                </a:r>
                <a:r>
                  <a:rPr lang="it-IT" altLang="it-IT" sz="2000" dirty="0">
                    <a:ea typeface="ＭＳ Ｐゴシック" panose="020B0600070205080204" pitchFamily="34" charset="-128"/>
                  </a:rPr>
                  <a:t> of ∼ 10</a:t>
                </a:r>
                <a:r>
                  <a:rPr lang="it-IT" altLang="it-IT" sz="2000" baseline="30000" dirty="0">
                    <a:ea typeface="ＭＳ Ｐゴシック" panose="020B0600070205080204" pitchFamily="34" charset="-128"/>
                  </a:rPr>
                  <a:t>3</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scatter</a:t>
                </a:r>
                <a:r>
                  <a:rPr lang="it-IT" altLang="it-IT" sz="2000" dirty="0">
                    <a:ea typeface="ＭＳ Ｐゴシック" panose="020B0600070205080204" pitchFamily="34" charset="-128"/>
                  </a:rPr>
                  <a:t>). In an </a:t>
                </a:r>
                <a:r>
                  <a:rPr lang="it-IT" altLang="it-IT" sz="2000" dirty="0" err="1">
                    <a:ea typeface="ＭＳ Ｐゴシック" panose="020B0600070205080204" pitchFamily="34" charset="-128"/>
                  </a:rPr>
                  <a:t>environment</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where</a:t>
                </a:r>
                <a:r>
                  <a:rPr lang="it-IT" altLang="it-IT" sz="2000" dirty="0">
                    <a:ea typeface="ＭＳ Ｐゴシック" panose="020B0600070205080204" pitchFamily="34" charset="-128"/>
                  </a:rPr>
                  <a:t> the </a:t>
                </a:r>
                <a:r>
                  <a:rPr lang="it-IT" altLang="it-IT" sz="2000" dirty="0" err="1">
                    <a:ea typeface="ＭＳ Ｐゴシック" panose="020B0600070205080204" pitchFamily="34" charset="-128"/>
                  </a:rPr>
                  <a:t>neutron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density</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low</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N</a:t>
                </a:r>
                <a:r>
                  <a:rPr lang="it-IT" altLang="it-IT" sz="2000" baseline="-25000" dirty="0" err="1">
                    <a:ea typeface="ＭＳ Ｐゴシック" panose="020B0600070205080204" pitchFamily="34" charset="-128"/>
                  </a:rPr>
                  <a:t>n</a:t>
                </a:r>
                <a:r>
                  <a:rPr lang="it-IT" altLang="it-IT" sz="2000" dirty="0">
                    <a:ea typeface="ＭＳ Ｐゴシック" panose="020B0600070205080204" pitchFamily="34" charset="-128"/>
                  </a:rPr>
                  <a:t> ∼ 10</a:t>
                </a:r>
                <a:r>
                  <a:rPr lang="it-IT" altLang="it-IT" sz="2000" baseline="30000" dirty="0">
                    <a:ea typeface="ＭＳ Ｐゴシック" panose="020B0600070205080204" pitchFamily="34" charset="-128"/>
                  </a:rPr>
                  <a:t>5</a:t>
                </a:r>
                <a:r>
                  <a:rPr lang="it-IT" altLang="it-IT" sz="2000" dirty="0">
                    <a:ea typeface="ＭＳ Ｐゴシック" panose="020B0600070205080204" pitchFamily="34" charset="-128"/>
                  </a:rPr>
                  <a:t> cm</a:t>
                </a:r>
                <a:r>
                  <a:rPr lang="it-IT" altLang="it-IT" sz="2000" baseline="30000" dirty="0">
                    <a:ea typeface="ＭＳ Ｐゴシック" panose="020B0600070205080204" pitchFamily="34" charset="-128"/>
                  </a:rPr>
                  <a:t>−3</a:t>
                </a:r>
                <a:r>
                  <a:rPr lang="it-IT" altLang="it-IT" sz="2000" dirty="0">
                    <a:ea typeface="ＭＳ Ｐゴシック" panose="020B0600070205080204" pitchFamily="34" charset="-128"/>
                  </a:rPr>
                  <a:t>) and the </a:t>
                </a:r>
                <a:r>
                  <a:rPr lang="it-IT" altLang="it-IT" sz="2000" dirty="0" err="1">
                    <a:ea typeface="ＭＳ Ｐゴシック" panose="020B0600070205080204" pitchFamily="34" charset="-128"/>
                  </a:rPr>
                  <a:t>lifetime</a:t>
                </a:r>
                <a:r>
                  <a:rPr lang="it-IT" altLang="it-IT" sz="2000" dirty="0">
                    <a:ea typeface="ＭＳ Ｐゴシック" panose="020B0600070205080204" pitchFamily="34" charset="-128"/>
                  </a:rPr>
                  <a:t> of isotope A, </a:t>
                </a:r>
                <a:r>
                  <a:rPr lang="it-IT" altLang="it-IT" sz="2000" dirty="0" err="1">
                    <a:ea typeface="ＭＳ Ｐゴシック" panose="020B0600070205080204" pitchFamily="34" charset="-128"/>
                  </a:rPr>
                  <a:t>Z</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against</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neutron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capture</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is</a:t>
                </a:r>
                <a:r>
                  <a:rPr lang="it-IT" altLang="it-IT" sz="2000" dirty="0">
                    <a:ea typeface="ＭＳ Ｐゴシック" panose="020B0600070205080204" pitchFamily="34" charset="-128"/>
                  </a:rPr>
                  <a:t> long ∼ 10</a:t>
                </a:r>
                <a:r>
                  <a:rPr lang="it-IT" altLang="it-IT" sz="2000" baseline="30000" dirty="0">
                    <a:ea typeface="ＭＳ Ｐゴシック" panose="020B0600070205080204" pitchFamily="34" charset="-128"/>
                  </a:rPr>
                  <a:t>4</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years</a:t>
                </a:r>
                <a:r>
                  <a:rPr lang="it-IT" altLang="it-IT" sz="2000" dirty="0">
                    <a:ea typeface="ＭＳ Ｐゴシック" panose="020B0600070205080204" pitchFamily="34" charset="-128"/>
                  </a:rPr>
                  <a:t>. In time, the isotope </a:t>
                </a:r>
                <a:r>
                  <a:rPr lang="it-IT" altLang="it-IT" sz="2000" dirty="0" err="1">
                    <a:ea typeface="ＭＳ Ｐゴシック" panose="020B0600070205080204" pitchFamily="34" charset="-128"/>
                  </a:rPr>
                  <a:t>will</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capture</a:t>
                </a:r>
                <a:r>
                  <a:rPr lang="it-IT" altLang="it-IT" sz="2000" dirty="0">
                    <a:ea typeface="ＭＳ Ｐゴシック" panose="020B0600070205080204" pitchFamily="34" charset="-128"/>
                  </a:rPr>
                  <a:t> a </a:t>
                </a:r>
                <a:r>
                  <a:rPr lang="it-IT" altLang="it-IT" sz="2000" dirty="0" err="1">
                    <a:ea typeface="ＭＳ Ｐゴシック" panose="020B0600070205080204" pitchFamily="34" charset="-128"/>
                  </a:rPr>
                  <a:t>neutron</a:t>
                </a:r>
                <a:r>
                  <a:rPr lang="it-IT" altLang="it-IT" sz="2000" dirty="0">
                    <a:ea typeface="ＭＳ Ｐゴシック" panose="020B0600070205080204" pitchFamily="34" charset="-128"/>
                  </a:rPr>
                  <a:t>, </a:t>
                </a:r>
                <a:r>
                  <a:rPr lang="it-IT" altLang="it-IT" sz="2000" dirty="0" err="1">
                    <a:ea typeface="ＭＳ Ｐゴシック" panose="020B0600070205080204" pitchFamily="34" charset="-128"/>
                  </a:rPr>
                  <a:t>undergoing</a:t>
                </a:r>
                <a:r>
                  <a:rPr lang="it-IT" altLang="it-IT" sz="2000" dirty="0">
                    <a:ea typeface="ＭＳ Ｐゴシック" panose="020B0600070205080204" pitchFamily="34" charset="-128"/>
                  </a:rPr>
                  <a:t> the </a:t>
                </a:r>
                <a:r>
                  <a:rPr lang="it-IT" altLang="it-IT" sz="2000" dirty="0" err="1">
                    <a:ea typeface="ＭＳ Ｐゴシック" panose="020B0600070205080204" pitchFamily="34" charset="-128"/>
                  </a:rPr>
                  <a:t>reaction</a:t>
                </a:r>
                <a:r>
                  <a:rPr lang="it-IT" altLang="it-IT" sz="2000" dirty="0">
                    <a:ea typeface="ＭＳ Ｐゴシック" panose="020B0600070205080204" pitchFamily="34" charset="-128"/>
                  </a:rPr>
                  <a:t>: </a:t>
                </a:r>
              </a:p>
              <a:p>
                <a:endParaRPr lang="it-IT" altLang="it-IT" sz="2000" dirty="0">
                  <a:ea typeface="ＭＳ Ｐゴシック" panose="020B0600070205080204" pitchFamily="34" charset="-128"/>
                </a:endParaRPr>
              </a:p>
              <a:p>
                <a:endParaRPr lang="en-US" altLang="it-IT" sz="2000" dirty="0">
                  <a:ea typeface="ＭＳ Ｐゴシック" panose="020B0600070205080204" pitchFamily="34" charset="-128"/>
                </a:endParaRPr>
              </a:p>
            </p:txBody>
          </p:sp>
        </mc:Choice>
        <mc:Fallback xmlns="">
          <p:sp>
            <p:nvSpPr>
              <p:cNvPr id="120834" name="Segnaposto contenuto 2">
                <a:extLst>
                  <a:ext uri="{FF2B5EF4-FFF2-40B4-BE49-F238E27FC236}">
                    <a16:creationId xmlns:a16="http://schemas.microsoft.com/office/drawing/2014/main" id="{62E93D41-D516-1C4E-9CD8-3759D35FF96F}"/>
                  </a:ext>
                </a:extLst>
              </p:cNvPr>
              <p:cNvSpPr>
                <a:spLocks noGrp="1" noRot="1" noChangeAspect="1" noMove="1" noResize="1" noEditPoints="1" noAdjustHandles="1" noChangeArrowheads="1" noChangeShapeType="1" noTextEdit="1"/>
              </p:cNvSpPr>
              <p:nvPr>
                <p:ph idx="1"/>
              </p:nvPr>
            </p:nvSpPr>
            <p:spPr>
              <a:xfrm>
                <a:off x="457200" y="863600"/>
                <a:ext cx="8229600" cy="4525963"/>
              </a:xfrm>
              <a:blipFill>
                <a:blip r:embed="rId2"/>
                <a:stretch>
                  <a:fillRect l="-772" t="-560" r="-617" b="-3922"/>
                </a:stretch>
              </a:blipFill>
            </p:spPr>
            <p:txBody>
              <a:bodyPr/>
              <a:lstStyle/>
              <a:p>
                <a:r>
                  <a:rPr lang="it-IT">
                    <a:noFill/>
                  </a:rPr>
                  <a:t> </a:t>
                </a:r>
              </a:p>
            </p:txBody>
          </p:sp>
        </mc:Fallback>
      </mc:AlternateContent>
      <p:pic>
        <p:nvPicPr>
          <p:cNvPr id="120835" name="Immagine 3">
            <a:extLst>
              <a:ext uri="{FF2B5EF4-FFF2-40B4-BE49-F238E27FC236}">
                <a16:creationId xmlns:a16="http://schemas.microsoft.com/office/drawing/2014/main" id="{8D710FF2-2626-4448-A623-2E60576345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3149600"/>
            <a:ext cx="48260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6" name="Immagine 4">
            <a:extLst>
              <a:ext uri="{FF2B5EF4-FFF2-40B4-BE49-F238E27FC236}">
                <a16:creationId xmlns:a16="http://schemas.microsoft.com/office/drawing/2014/main" id="{08A950A6-2D32-B84C-ACBC-45B9DA5D36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5537200"/>
            <a:ext cx="45085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2BC6C3E6-41EF-754B-9A8F-C1EE95C06103}"/>
              </a:ext>
            </a:extLst>
          </p:cNvPr>
          <p:cNvSpPr>
            <a:spLocks noGrp="1" noChangeArrowheads="1"/>
          </p:cNvSpPr>
          <p:nvPr>
            <p:ph type="title"/>
          </p:nvPr>
        </p:nvSpPr>
        <p:spPr/>
        <p:txBody>
          <a:bodyPr/>
          <a:lstStyle/>
          <a:p>
            <a:pPr eaLnBrk="1" hangingPunct="1"/>
            <a:r>
              <a:rPr lang="en-US" altLang="it-IT" sz="2800" dirty="0" err="1">
                <a:ea typeface="ＭＳ Ｐゴシック" panose="020B0600070205080204" pitchFamily="34" charset="-128"/>
              </a:rPr>
              <a:t>Equazione</a:t>
            </a:r>
            <a:r>
              <a:rPr lang="en-US" altLang="it-IT" sz="2800" dirty="0">
                <a:ea typeface="ＭＳ Ｐゴシック" panose="020B0600070205080204" pitchFamily="34" charset="-128"/>
              </a:rPr>
              <a:t> </a:t>
            </a:r>
            <a:r>
              <a:rPr lang="en-US" altLang="it-IT" sz="2800" dirty="0" err="1">
                <a:ea typeface="ＭＳ Ｐゴシック" panose="020B0600070205080204" pitchFamily="34" charset="-128"/>
              </a:rPr>
              <a:t>della</a:t>
            </a:r>
            <a:r>
              <a:rPr lang="en-US" altLang="it-IT" sz="2800" dirty="0">
                <a:ea typeface="ＭＳ Ｐゴシック" panose="020B0600070205080204" pitchFamily="34" charset="-128"/>
              </a:rPr>
              <a:t> </a:t>
            </a:r>
            <a:r>
              <a:rPr lang="en-US" altLang="it-IT" sz="2800" dirty="0" err="1">
                <a:ea typeface="ＭＳ Ｐゴシック" panose="020B0600070205080204" pitchFamily="34" charset="-128"/>
              </a:rPr>
              <a:t>produzione</a:t>
            </a:r>
            <a:r>
              <a:rPr lang="en-US" altLang="it-IT" sz="2800" dirty="0">
                <a:ea typeface="ＭＳ Ｐゴシック" panose="020B0600070205080204" pitchFamily="34" charset="-128"/>
              </a:rPr>
              <a:t> di </a:t>
            </a:r>
            <a:r>
              <a:rPr lang="en-US" altLang="it-IT" sz="2800" dirty="0" err="1">
                <a:ea typeface="ＭＳ Ｐゴシック" panose="020B0600070205080204" pitchFamily="34" charset="-128"/>
              </a:rPr>
              <a:t>energia</a:t>
            </a:r>
            <a:endParaRPr lang="en-US" altLang="it-IT" sz="2800" dirty="0">
              <a:ea typeface="ＭＳ Ｐゴシック" panose="020B0600070205080204" pitchFamily="34" charset="-128"/>
            </a:endParaRPr>
          </a:p>
        </p:txBody>
      </p:sp>
      <p:sp>
        <p:nvSpPr>
          <p:cNvPr id="102402" name="Rectangle 3">
            <a:extLst>
              <a:ext uri="{FF2B5EF4-FFF2-40B4-BE49-F238E27FC236}">
                <a16:creationId xmlns:a16="http://schemas.microsoft.com/office/drawing/2014/main" id="{BB7C942E-E225-9F4C-A897-54AC1E61585A}"/>
              </a:ext>
            </a:extLst>
          </p:cNvPr>
          <p:cNvSpPr>
            <a:spLocks noChangeArrowheads="1"/>
          </p:cNvSpPr>
          <p:nvPr/>
        </p:nvSpPr>
        <p:spPr bwMode="auto">
          <a:xfrm>
            <a:off x="317500" y="908050"/>
            <a:ext cx="8424863"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400" b="0">
                <a:latin typeface="Gill Sans" panose="020B0502020104020203" pitchFamily="34" charset="-79"/>
                <a:cs typeface="Gill Sans" panose="020B0502020104020203" pitchFamily="34" charset="-79"/>
              </a:rPr>
              <a:t>Se in ogni reazione è rilasciata una quantità di energia L, la quantità di energia rilasciata per unità di massa risulta:</a:t>
            </a:r>
          </a:p>
        </p:txBody>
      </p:sp>
      <p:graphicFrame>
        <p:nvGraphicFramePr>
          <p:cNvPr id="102403" name="Object 2">
            <a:extLst>
              <a:ext uri="{FF2B5EF4-FFF2-40B4-BE49-F238E27FC236}">
                <a16:creationId xmlns:a16="http://schemas.microsoft.com/office/drawing/2014/main" id="{B35C57CC-5CA0-4D4D-A110-46C474F4460B}"/>
              </a:ext>
            </a:extLst>
          </p:cNvPr>
          <p:cNvGraphicFramePr>
            <a:graphicFrameLocks noChangeAspect="1"/>
          </p:cNvGraphicFramePr>
          <p:nvPr/>
        </p:nvGraphicFramePr>
        <p:xfrm>
          <a:off x="2614613" y="1819275"/>
          <a:ext cx="3668712" cy="1068388"/>
        </p:xfrm>
        <a:graphic>
          <a:graphicData uri="http://schemas.openxmlformats.org/presentationml/2006/ole">
            <mc:AlternateContent xmlns:mc="http://schemas.openxmlformats.org/markup-compatibility/2006">
              <mc:Choice xmlns:v="urn:schemas-microsoft-com:vml" Requires="v">
                <p:oleObj name="Equation" r:id="rId2" imgW="1600200" imgH="469900" progId="Equation.3">
                  <p:embed/>
                </p:oleObj>
              </mc:Choice>
              <mc:Fallback>
                <p:oleObj name="Equation" r:id="rId2" imgW="1600200" imgH="469900" progId="Equation.3">
                  <p:embed/>
                  <p:pic>
                    <p:nvPicPr>
                      <p:cNvPr id="102403" name="Object 2">
                        <a:extLst>
                          <a:ext uri="{FF2B5EF4-FFF2-40B4-BE49-F238E27FC236}">
                            <a16:creationId xmlns:a16="http://schemas.microsoft.com/office/drawing/2014/main" id="{B35C57CC-5CA0-4D4D-A110-46C474F44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4613" y="1819275"/>
                        <a:ext cx="3668712" cy="106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404" name="Object 3">
            <a:extLst>
              <a:ext uri="{FF2B5EF4-FFF2-40B4-BE49-F238E27FC236}">
                <a16:creationId xmlns:a16="http://schemas.microsoft.com/office/drawing/2014/main" id="{DE00DCD5-3DF6-F94D-9864-249E22F69783}"/>
              </a:ext>
            </a:extLst>
          </p:cNvPr>
          <p:cNvGraphicFramePr>
            <a:graphicFrameLocks noChangeAspect="1"/>
          </p:cNvGraphicFramePr>
          <p:nvPr>
            <p:extLst>
              <p:ext uri="{D42A27DB-BD31-4B8C-83A1-F6EECF244321}">
                <p14:modId xmlns:p14="http://schemas.microsoft.com/office/powerpoint/2010/main" val="1229321288"/>
              </p:ext>
            </p:extLst>
          </p:nvPr>
        </p:nvGraphicFramePr>
        <p:xfrm>
          <a:off x="3025775" y="3752850"/>
          <a:ext cx="2038350" cy="893763"/>
        </p:xfrm>
        <a:graphic>
          <a:graphicData uri="http://schemas.openxmlformats.org/presentationml/2006/ole">
            <mc:AlternateContent xmlns:mc="http://schemas.openxmlformats.org/markup-compatibility/2006">
              <mc:Choice xmlns:v="urn:schemas-microsoft-com:vml" Requires="v">
                <p:oleObj name="Equation" r:id="rId4" imgW="889000" imgH="393700" progId="Equation.3">
                  <p:embed/>
                </p:oleObj>
              </mc:Choice>
              <mc:Fallback>
                <p:oleObj name="Equation" r:id="rId4" imgW="889000" imgH="393700" progId="Equation.3">
                  <p:embed/>
                  <p:pic>
                    <p:nvPicPr>
                      <p:cNvPr id="102404" name="Object 3">
                        <a:extLst>
                          <a:ext uri="{FF2B5EF4-FFF2-40B4-BE49-F238E27FC236}">
                            <a16:creationId xmlns:a16="http://schemas.microsoft.com/office/drawing/2014/main" id="{DE00DCD5-3DF6-F94D-9864-249E22F697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5775" y="3752850"/>
                        <a:ext cx="2038350" cy="893763"/>
                      </a:xfrm>
                      <a:prstGeom prst="rect">
                        <a:avLst/>
                      </a:prstGeom>
                      <a:noFill/>
                      <a:ln>
                        <a:solidFill>
                          <a:srgbClr val="FF0000"/>
                        </a:solidFill>
                      </a:ln>
                      <a:effectLst/>
                    </p:spPr>
                  </p:pic>
                </p:oleObj>
              </mc:Fallback>
            </mc:AlternateContent>
          </a:graphicData>
        </a:graphic>
      </p:graphicFrame>
      <p:sp>
        <p:nvSpPr>
          <p:cNvPr id="102405" name="Rectangle 6">
            <a:extLst>
              <a:ext uri="{FF2B5EF4-FFF2-40B4-BE49-F238E27FC236}">
                <a16:creationId xmlns:a16="http://schemas.microsoft.com/office/drawing/2014/main" id="{5639E4C7-B79D-9745-BFF6-4E2F632FACAC}"/>
              </a:ext>
            </a:extLst>
          </p:cNvPr>
          <p:cNvSpPr>
            <a:spLocks noChangeArrowheads="1"/>
          </p:cNvSpPr>
          <p:nvPr/>
        </p:nvSpPr>
        <p:spPr bwMode="auto">
          <a:xfrm>
            <a:off x="331788" y="2862263"/>
            <a:ext cx="8496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400" b="0" dirty="0" err="1">
                <a:latin typeface="Gill Sans" panose="020B0502020104020203" pitchFamily="34" charset="-79"/>
                <a:cs typeface="Gill Sans" panose="020B0502020104020203" pitchFamily="34" charset="-79"/>
              </a:rPr>
              <a:t>Quindi</a:t>
            </a:r>
            <a:r>
              <a:rPr lang="en-US" altLang="it-IT" sz="2400" b="0" dirty="0">
                <a:latin typeface="Gill Sans" panose="020B0502020104020203" pitchFamily="34" charset="-79"/>
                <a:cs typeface="Gill Sans" panose="020B0502020104020203" pitchFamily="34" charset="-79"/>
              </a:rPr>
              <a:t> la </a:t>
            </a:r>
            <a:r>
              <a:rPr lang="en-US" altLang="it-IT" sz="2400" b="0" dirty="0" err="1">
                <a:latin typeface="Gill Sans" panose="020B0502020104020203" pitchFamily="34" charset="-79"/>
                <a:cs typeface="Gill Sans" panose="020B0502020104020203" pitchFamily="34" charset="-79"/>
              </a:rPr>
              <a:t>somma</a:t>
            </a:r>
            <a:r>
              <a:rPr lang="en-US" altLang="it-IT" sz="2400" b="0" dirty="0">
                <a:latin typeface="Gill Sans" panose="020B0502020104020203" pitchFamily="34" charset="-79"/>
                <a:cs typeface="Gill Sans" panose="020B0502020104020203" pitchFamily="34" charset="-79"/>
              </a:rPr>
              <a:t> di </a:t>
            </a:r>
            <a:r>
              <a:rPr lang="en-US" altLang="it-IT" sz="2400" b="0" dirty="0" err="1">
                <a:latin typeface="Gill Sans" panose="020B0502020104020203" pitchFamily="34" charset="-79"/>
                <a:cs typeface="Gill Sans" panose="020B0502020104020203" pitchFamily="34" charset="-79"/>
              </a:rPr>
              <a:t>tutte</a:t>
            </a:r>
            <a:r>
              <a:rPr lang="en-US" altLang="it-IT" sz="2400" b="0" dirty="0">
                <a:latin typeface="Gill Sans" panose="020B0502020104020203" pitchFamily="34" charset="-79"/>
                <a:cs typeface="Gill Sans" panose="020B0502020104020203" pitchFamily="34" charset="-79"/>
              </a:rPr>
              <a:t> le </a:t>
            </a:r>
            <a:r>
              <a:rPr lang="en-US" altLang="it-IT" sz="2400" b="0" dirty="0" err="1">
                <a:latin typeface="Gill Sans" panose="020B0502020104020203" pitchFamily="34" charset="-79"/>
                <a:cs typeface="Gill Sans" panose="020B0502020104020203" pitchFamily="34" charset="-79"/>
              </a:rPr>
              <a:t>reazioni</a:t>
            </a:r>
            <a:r>
              <a:rPr lang="en-US" altLang="it-IT" sz="2400" b="0" dirty="0">
                <a:latin typeface="Gill Sans" panose="020B0502020104020203" pitchFamily="34" charset="-79"/>
                <a:cs typeface="Gill Sans" panose="020B0502020104020203" pitchFamily="34" charset="-79"/>
              </a:rPr>
              <a:t> (                      )     ) </a:t>
            </a:r>
            <a:r>
              <a:rPr lang="en-US" altLang="it-IT" sz="2400" b="0" dirty="0" err="1">
                <a:latin typeface="Gill Sans" panose="020B0502020104020203" pitchFamily="34" charset="-79"/>
                <a:cs typeface="Gill Sans" panose="020B0502020104020203" pitchFamily="34" charset="-79"/>
              </a:rPr>
              <a:t>che</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avvengono</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nella</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stella</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generano</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una</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luminosità</a:t>
            </a:r>
            <a:r>
              <a:rPr lang="en-US" altLang="it-IT" sz="2400" b="0" dirty="0">
                <a:latin typeface="Gill Sans" panose="020B0502020104020203" pitchFamily="34" charset="-79"/>
                <a:cs typeface="Gill Sans" panose="020B0502020104020203" pitchFamily="34" charset="-79"/>
              </a:rPr>
              <a:t>:</a:t>
            </a:r>
          </a:p>
        </p:txBody>
      </p:sp>
      <p:sp>
        <p:nvSpPr>
          <p:cNvPr id="102406" name="Rectangle 7">
            <a:extLst>
              <a:ext uri="{FF2B5EF4-FFF2-40B4-BE49-F238E27FC236}">
                <a16:creationId xmlns:a16="http://schemas.microsoft.com/office/drawing/2014/main" id="{4CBA1940-86E8-DC42-A73F-04C2F89027FD}"/>
              </a:ext>
            </a:extLst>
          </p:cNvPr>
          <p:cNvSpPr>
            <a:spLocks noChangeArrowheads="1"/>
          </p:cNvSpPr>
          <p:nvPr/>
        </p:nvSpPr>
        <p:spPr bwMode="auto">
          <a:xfrm>
            <a:off x="319088" y="4681538"/>
            <a:ext cx="8496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400" b="0" dirty="0">
                <a:latin typeface="Gill Sans" panose="020B0502020104020203" pitchFamily="34" charset="-79"/>
                <a:cs typeface="Gill Sans" panose="020B0502020104020203" pitchFamily="34" charset="-79"/>
              </a:rPr>
              <a:t>Questa </a:t>
            </a:r>
            <a:r>
              <a:rPr lang="en-US" altLang="it-IT" sz="2400" b="0" dirty="0" err="1">
                <a:latin typeface="Gill Sans" panose="020B0502020104020203" pitchFamily="34" charset="-79"/>
                <a:cs typeface="Gill Sans" panose="020B0502020104020203" pitchFamily="34" charset="-79"/>
              </a:rPr>
              <a:t>è</a:t>
            </a:r>
            <a:r>
              <a:rPr lang="en-US" altLang="it-IT" sz="2400" b="0" dirty="0">
                <a:latin typeface="Gill Sans" panose="020B0502020104020203" pitchFamily="34" charset="-79"/>
                <a:cs typeface="Gill Sans" panose="020B0502020104020203" pitchFamily="34" charset="-79"/>
              </a:rPr>
              <a:t> la </a:t>
            </a:r>
            <a:r>
              <a:rPr lang="en-US" altLang="it-IT" sz="2400" b="0" dirty="0">
                <a:solidFill>
                  <a:srgbClr val="FF0000"/>
                </a:solidFill>
                <a:latin typeface="Gill Sans" panose="020B0502020104020203" pitchFamily="34" charset="-79"/>
                <a:cs typeface="Gill Sans" panose="020B0502020104020203" pitchFamily="34" charset="-79"/>
              </a:rPr>
              <a:t>4° </a:t>
            </a:r>
            <a:r>
              <a:rPr lang="en-US" altLang="it-IT" sz="2400" b="0" dirty="0" err="1">
                <a:solidFill>
                  <a:srgbClr val="FF0000"/>
                </a:solidFill>
                <a:latin typeface="Gill Sans" panose="020B0502020104020203" pitchFamily="34" charset="-79"/>
                <a:cs typeface="Gill Sans" panose="020B0502020104020203" pitchFamily="34" charset="-79"/>
              </a:rPr>
              <a:t>Equazione</a:t>
            </a:r>
            <a:r>
              <a:rPr lang="en-US" altLang="it-IT" sz="2400" b="0" dirty="0">
                <a:solidFill>
                  <a:srgbClr val="FF0000"/>
                </a:solidFill>
                <a:latin typeface="Gill Sans" panose="020B0502020104020203" pitchFamily="34" charset="-79"/>
                <a:cs typeface="Gill Sans" panose="020B0502020104020203" pitchFamily="34" charset="-79"/>
              </a:rPr>
              <a:t> da </a:t>
            </a:r>
            <a:r>
              <a:rPr lang="en-US" altLang="it-IT" sz="2400" b="0" dirty="0" err="1">
                <a:solidFill>
                  <a:srgbClr val="FF0000"/>
                </a:solidFill>
                <a:latin typeface="Gill Sans" panose="020B0502020104020203" pitchFamily="34" charset="-79"/>
                <a:cs typeface="Gill Sans" panose="020B0502020104020203" pitchFamily="34" charset="-79"/>
              </a:rPr>
              <a:t>considerare</a:t>
            </a:r>
            <a:r>
              <a:rPr lang="en-US" altLang="it-IT" sz="2400" b="0" dirty="0">
                <a:solidFill>
                  <a:srgbClr val="FF0000"/>
                </a:solidFill>
                <a:latin typeface="Gill Sans" panose="020B0502020104020203" pitchFamily="34" charset="-79"/>
                <a:cs typeface="Gill Sans" panose="020B0502020104020203" pitchFamily="34" charset="-79"/>
              </a:rPr>
              <a:t> </a:t>
            </a:r>
            <a:r>
              <a:rPr lang="en-US" altLang="it-IT" sz="2400" b="0" dirty="0" err="1">
                <a:solidFill>
                  <a:srgbClr val="FF0000"/>
                </a:solidFill>
                <a:latin typeface="Gill Sans" panose="020B0502020104020203" pitchFamily="34" charset="-79"/>
                <a:cs typeface="Gill Sans" panose="020B0502020104020203" pitchFamily="34" charset="-79"/>
              </a:rPr>
              <a:t>nel</a:t>
            </a:r>
            <a:r>
              <a:rPr lang="en-US" altLang="it-IT" sz="2400" b="0" dirty="0">
                <a:solidFill>
                  <a:srgbClr val="FF0000"/>
                </a:solidFill>
                <a:latin typeface="Gill Sans" panose="020B0502020104020203" pitchFamily="34" charset="-79"/>
                <a:cs typeface="Gill Sans" panose="020B0502020104020203" pitchFamily="34" charset="-79"/>
              </a:rPr>
              <a:t> </a:t>
            </a:r>
            <a:r>
              <a:rPr lang="en-US" altLang="it-IT" sz="2400" b="0" dirty="0" err="1">
                <a:solidFill>
                  <a:srgbClr val="FF0000"/>
                </a:solidFill>
                <a:latin typeface="Gill Sans" panose="020B0502020104020203" pitchFamily="34" charset="-79"/>
                <a:cs typeface="Gill Sans" panose="020B0502020104020203" pitchFamily="34" charset="-79"/>
              </a:rPr>
              <a:t>calcolo</a:t>
            </a:r>
            <a:r>
              <a:rPr lang="en-US" altLang="it-IT" sz="2400" b="0" dirty="0">
                <a:solidFill>
                  <a:srgbClr val="FF0000"/>
                </a:solidFill>
                <a:latin typeface="Gill Sans" panose="020B0502020104020203" pitchFamily="34" charset="-79"/>
                <a:cs typeface="Gill Sans" panose="020B0502020104020203" pitchFamily="34" charset="-79"/>
              </a:rPr>
              <a:t> di </a:t>
            </a:r>
            <a:r>
              <a:rPr lang="en-US" altLang="it-IT" sz="2400" b="0" dirty="0" err="1">
                <a:solidFill>
                  <a:srgbClr val="FF0000"/>
                </a:solidFill>
                <a:latin typeface="Gill Sans" panose="020B0502020104020203" pitchFamily="34" charset="-79"/>
                <a:cs typeface="Gill Sans" panose="020B0502020104020203" pitchFamily="34" charset="-79"/>
              </a:rPr>
              <a:t>una</a:t>
            </a:r>
            <a:r>
              <a:rPr lang="en-US" altLang="it-IT" sz="2400" b="0" dirty="0">
                <a:solidFill>
                  <a:srgbClr val="FF0000"/>
                </a:solidFill>
                <a:latin typeface="Gill Sans" panose="020B0502020104020203" pitchFamily="34" charset="-79"/>
                <a:cs typeface="Gill Sans" panose="020B0502020104020203" pitchFamily="34" charset="-79"/>
              </a:rPr>
              <a:t> </a:t>
            </a:r>
            <a:r>
              <a:rPr lang="en-US" altLang="it-IT" sz="2400" b="0" dirty="0" err="1">
                <a:solidFill>
                  <a:srgbClr val="FF0000"/>
                </a:solidFill>
                <a:latin typeface="Gill Sans" panose="020B0502020104020203" pitchFamily="34" charset="-79"/>
                <a:cs typeface="Gill Sans" panose="020B0502020104020203" pitchFamily="34" charset="-79"/>
              </a:rPr>
              <a:t>struttura</a:t>
            </a:r>
            <a:r>
              <a:rPr lang="en-US" altLang="it-IT" sz="2400" b="0" dirty="0">
                <a:solidFill>
                  <a:srgbClr val="FF0000"/>
                </a:solidFill>
                <a:latin typeface="Gill Sans" panose="020B0502020104020203" pitchFamily="34" charset="-79"/>
                <a:cs typeface="Gill Sans" panose="020B0502020104020203" pitchFamily="34" charset="-79"/>
              </a:rPr>
              <a:t> </a:t>
            </a:r>
            <a:r>
              <a:rPr lang="en-US" altLang="it-IT" sz="2400" b="0" dirty="0" err="1">
                <a:solidFill>
                  <a:srgbClr val="FF0000"/>
                </a:solidFill>
                <a:latin typeface="Gill Sans" panose="020B0502020104020203" pitchFamily="34" charset="-79"/>
                <a:cs typeface="Gill Sans" panose="020B0502020104020203" pitchFamily="34" charset="-79"/>
              </a:rPr>
              <a:t>stellare</a:t>
            </a:r>
            <a:r>
              <a:rPr lang="en-US" altLang="it-IT" sz="2400" b="0" dirty="0">
                <a:latin typeface="Gill Sans" panose="020B0502020104020203" pitchFamily="34" charset="-79"/>
                <a:cs typeface="Gill Sans" panose="020B0502020104020203" pitchFamily="34" charset="-79"/>
              </a:rPr>
              <a:t>. In </a:t>
            </a:r>
            <a:r>
              <a:rPr lang="en-US" altLang="it-IT" sz="2400" b="0" dirty="0" err="1">
                <a:latin typeface="Gill Sans" panose="020B0502020104020203" pitchFamily="34" charset="-79"/>
                <a:cs typeface="Gill Sans" panose="020B0502020104020203" pitchFamily="34" charset="-79"/>
              </a:rPr>
              <a:t>generale</a:t>
            </a:r>
            <a:r>
              <a:rPr lang="en-US" altLang="it-IT" sz="2400" b="0" dirty="0">
                <a:latin typeface="Gill Sans" panose="020B0502020104020203" pitchFamily="34" charset="-79"/>
                <a:cs typeface="Gill Sans" panose="020B0502020104020203" pitchFamily="34" charset="-79"/>
              </a:rPr>
              <a:t>                                    con </a:t>
            </a:r>
            <a:r>
              <a:rPr lang="en-US" altLang="it-IT" sz="2400" b="0" dirty="0" err="1">
                <a:latin typeface="Gill Sans" panose="020B0502020104020203" pitchFamily="34" charset="-79"/>
                <a:cs typeface="Gill Sans" panose="020B0502020104020203" pitchFamily="34" charset="-79"/>
              </a:rPr>
              <a:t>il</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termine</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dovuto</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alla</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gravità</a:t>
            </a:r>
            <a:r>
              <a:rPr lang="en-US" altLang="it-IT" sz="2400" b="0" dirty="0">
                <a:latin typeface="Gill Sans" panose="020B0502020104020203" pitchFamily="34" charset="-79"/>
                <a:cs typeface="Gill Sans" panose="020B0502020104020203" pitchFamily="34" charset="-79"/>
              </a:rPr>
              <a:t> </a:t>
            </a:r>
            <a:r>
              <a:rPr lang="en-US" altLang="it-IT" sz="2400" b="0" dirty="0" err="1">
                <a:latin typeface="Gill Sans" panose="020B0502020104020203" pitchFamily="34" charset="-79"/>
                <a:cs typeface="Gill Sans" panose="020B0502020104020203" pitchFamily="34" charset="-79"/>
              </a:rPr>
              <a:t>trascurabile</a:t>
            </a:r>
            <a:r>
              <a:rPr lang="en-US" altLang="it-IT" sz="2400" b="0" dirty="0">
                <a:latin typeface="Gill Sans" panose="020B0502020104020203" pitchFamily="34" charset="-79"/>
                <a:cs typeface="Gill Sans" panose="020B0502020104020203" pitchFamily="34" charset="-79"/>
              </a:rPr>
              <a:t>.</a:t>
            </a:r>
          </a:p>
          <a:p>
            <a:pPr eaLnBrk="1" hangingPunct="1"/>
            <a:endParaRPr lang="en-US" altLang="it-IT" sz="2400" b="0" dirty="0">
              <a:latin typeface="Gill Sans" panose="020B0502020104020203" pitchFamily="34" charset="-79"/>
              <a:cs typeface="Gill Sans" panose="020B0502020104020203" pitchFamily="34" charset="-79"/>
            </a:endParaRPr>
          </a:p>
        </p:txBody>
      </p:sp>
      <p:pic>
        <p:nvPicPr>
          <p:cNvPr id="102407" name="Immagine 1">
            <a:extLst>
              <a:ext uri="{FF2B5EF4-FFF2-40B4-BE49-F238E27FC236}">
                <a16:creationId xmlns:a16="http://schemas.microsoft.com/office/drawing/2014/main" id="{77B9DA3C-5F6F-7D4C-9D4B-AEBA710693F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2844277"/>
            <a:ext cx="2211212" cy="546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8" name="Immagine 2">
            <a:extLst>
              <a:ext uri="{FF2B5EF4-FFF2-40B4-BE49-F238E27FC236}">
                <a16:creationId xmlns:a16="http://schemas.microsoft.com/office/drawing/2014/main" id="{6B6F27BF-4442-6E43-8EB4-62790ACD199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857750" y="5113338"/>
            <a:ext cx="2171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857" name="Rectangle 2">
                <a:extLst>
                  <a:ext uri="{FF2B5EF4-FFF2-40B4-BE49-F238E27FC236}">
                    <a16:creationId xmlns:a16="http://schemas.microsoft.com/office/drawing/2014/main" id="{8614CC12-7401-8745-B17D-842997F01FBA}"/>
                  </a:ext>
                </a:extLst>
              </p:cNvPr>
              <p:cNvSpPr>
                <a:spLocks noChangeArrowheads="1"/>
              </p:cNvSpPr>
              <p:nvPr/>
            </p:nvSpPr>
            <p:spPr bwMode="auto">
              <a:xfrm>
                <a:off x="152400" y="152400"/>
                <a:ext cx="8763000" cy="6400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92075" tIns="46038" rIns="92075" bIns="46038"/>
              <a:lstStyle>
                <a:lvl1pPr>
                  <a:spcBef>
                    <a:spcPct val="20000"/>
                  </a:spcBef>
                  <a:buChar char="•"/>
                  <a:tabLst>
                    <a:tab pos="5029200" algn="l"/>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5029200" algn="l"/>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50292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5029200" algn="l"/>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5029200" algn="l"/>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5029200" algn="l"/>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5029200" algn="l"/>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5029200" algn="l"/>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5029200" algn="l"/>
                  </a:tabLs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80000"/>
                  </a:lnSpc>
                  <a:spcBef>
                    <a:spcPct val="0"/>
                  </a:spcBef>
                  <a:buNone/>
                </a:pPr>
                <a:r>
                  <a:rPr lang="it-IT" sz="2400" b="0" dirty="0">
                    <a:solidFill>
                      <a:srgbClr val="FF0000"/>
                    </a:solidFill>
                    <a:latin typeface="Gill Sans" panose="020B0502020104020203" pitchFamily="34" charset="-79"/>
                    <a:cs typeface="Gill Sans" panose="020B0502020104020203" pitchFamily="34" charset="-79"/>
                  </a:rPr>
                  <a:t>The Thermal </a:t>
                </a:r>
                <a:r>
                  <a:rPr lang="it-IT" sz="2400" b="0" dirty="0" err="1">
                    <a:solidFill>
                      <a:srgbClr val="FF0000"/>
                    </a:solidFill>
                    <a:latin typeface="Gill Sans" panose="020B0502020104020203" pitchFamily="34" charset="-79"/>
                    <a:cs typeface="Gill Sans" panose="020B0502020104020203" pitchFamily="34" charset="-79"/>
                  </a:rPr>
                  <a:t>Transport</a:t>
                </a:r>
                <a:r>
                  <a:rPr lang="it-IT" sz="2400" b="0" dirty="0">
                    <a:solidFill>
                      <a:srgbClr val="FF0000"/>
                    </a:solidFill>
                    <a:latin typeface="Gill Sans" panose="020B0502020104020203" pitchFamily="34" charset="-79"/>
                    <a:cs typeface="Gill Sans" panose="020B0502020104020203" pitchFamily="34" charset="-79"/>
                  </a:rPr>
                  <a:t> Equation</a:t>
                </a:r>
              </a:p>
              <a:p>
                <a:pPr algn="ctr" eaLnBrk="1" hangingPunct="1">
                  <a:lnSpc>
                    <a:spcPct val="80000"/>
                  </a:lnSpc>
                  <a:spcBef>
                    <a:spcPct val="0"/>
                  </a:spcBef>
                  <a:buFontTx/>
                  <a:buNone/>
                </a:pPr>
                <a:r>
                  <a:rPr lang="en-GB" altLang="it-IT" sz="2400" b="0" dirty="0">
                    <a:solidFill>
                      <a:srgbClr val="0070C0"/>
                    </a:solidFill>
                    <a:latin typeface="Gill Sans" panose="020B0502020104020203" pitchFamily="34" charset="-79"/>
                    <a:cs typeface="Gill Sans" panose="020B0502020104020203" pitchFamily="34" charset="-79"/>
                  </a:rPr>
                  <a:t>Radiative Transport</a:t>
                </a:r>
                <a:endParaRPr lang="en-US" altLang="it-IT" sz="2400" b="0" dirty="0">
                  <a:solidFill>
                    <a:srgbClr val="0070C0"/>
                  </a:solidFill>
                  <a:latin typeface="Gill Sans" panose="020B0502020104020203" pitchFamily="34" charset="-79"/>
                  <a:cs typeface="Gill Sans" panose="020B0502020104020203" pitchFamily="34" charset="-79"/>
                </a:endParaRPr>
              </a:p>
              <a:p>
                <a:pPr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800" b="0" dirty="0">
                    <a:solidFill>
                      <a:srgbClr val="000000"/>
                    </a:solidFill>
                    <a:latin typeface="Gill Sans" panose="020B0502020104020203" pitchFamily="34" charset="-79"/>
                    <a:cs typeface="Gill Sans" panose="020B0502020104020203" pitchFamily="34" charset="-79"/>
                  </a:rPr>
                  <a:t>Energy can be transported through a star by radiation, convection, or conduction. Conduction is unimportant in most gaseous stellar interiors, but the other two processes are important. In stellar atmospheres radiative energy transport is described by:</a:t>
                </a: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800" b="0" dirty="0">
                    <a:solidFill>
                      <a:srgbClr val="000000"/>
                    </a:solidFill>
                    <a:latin typeface="Gill Sans" panose="020B0502020104020203" pitchFamily="34" charset="-79"/>
                    <a:cs typeface="Gill Sans" panose="020B0502020104020203" pitchFamily="34" charset="-79"/>
                  </a:rPr>
                  <a:t>But </a:t>
                </a:r>
                <a14:m>
                  <m:oMath xmlns:m="http://schemas.openxmlformats.org/officeDocument/2006/math">
                    <m:r>
                      <a:rPr lang="en-US" altLang="it-IT" sz="1800" b="0" i="1" dirty="0" smtClean="0">
                        <a:solidFill>
                          <a:srgbClr val="000000"/>
                        </a:solidFill>
                        <a:latin typeface="Cambria Math" panose="02040503050406030204" pitchFamily="18" charset="0"/>
                        <a:cs typeface="Gill Sans" panose="020B0502020104020203" pitchFamily="34" charset="-79"/>
                      </a:rPr>
                      <m:t>𝑃</m:t>
                    </m:r>
                    <m:r>
                      <a:rPr lang="en-US" altLang="it-IT" sz="1800" b="0" i="1" baseline="-25000" dirty="0" err="1">
                        <a:solidFill>
                          <a:srgbClr val="000000"/>
                        </a:solidFill>
                        <a:latin typeface="Cambria Math" panose="02040503050406030204" pitchFamily="18" charset="0"/>
                        <a:cs typeface="Gill Sans" panose="020B0502020104020203" pitchFamily="34" charset="-79"/>
                      </a:rPr>
                      <m:t>𝑟𝑎𝑑</m:t>
                    </m:r>
                    <m:r>
                      <a:rPr lang="en-US" altLang="it-IT" sz="1800" b="0" i="1" dirty="0">
                        <a:solidFill>
                          <a:srgbClr val="000000"/>
                        </a:solidFill>
                        <a:latin typeface="Cambria Math" panose="02040503050406030204" pitchFamily="18" charset="0"/>
                        <a:cs typeface="Gill Sans" panose="020B0502020104020203" pitchFamily="34" charset="-79"/>
                      </a:rPr>
                      <m:t> = ⅓</m:t>
                    </m:r>
                    <m:r>
                      <a:rPr lang="en-US" altLang="it-IT" sz="1800" b="0" i="1" dirty="0">
                        <a:solidFill>
                          <a:srgbClr val="000000"/>
                        </a:solidFill>
                        <a:latin typeface="Cambria Math" panose="02040503050406030204" pitchFamily="18" charset="0"/>
                        <a:cs typeface="Gill Sans" panose="020B0502020104020203" pitchFamily="34" charset="-79"/>
                      </a:rPr>
                      <m:t>𝑎𝑇</m:t>
                    </m:r>
                    <m:r>
                      <a:rPr lang="en-US" altLang="it-IT" sz="1800" b="0" i="1" baseline="30000" dirty="0">
                        <a:solidFill>
                          <a:srgbClr val="000000"/>
                        </a:solidFill>
                        <a:latin typeface="Cambria Math" panose="02040503050406030204" pitchFamily="18" charset="0"/>
                        <a:cs typeface="Gill Sans" panose="020B0502020104020203" pitchFamily="34" charset="-79"/>
                      </a:rPr>
                      <m:t>4</m:t>
                    </m:r>
                  </m:oMath>
                </a14:m>
                <a:r>
                  <a:rPr lang="en-US" altLang="it-IT" sz="1800" b="0" dirty="0">
                    <a:solidFill>
                      <a:srgbClr val="000000"/>
                    </a:solidFill>
                    <a:latin typeface="Gill Sans" panose="020B0502020104020203" pitchFamily="34" charset="-79"/>
                    <a:cs typeface="Gill Sans" panose="020B0502020104020203" pitchFamily="34" charset="-79"/>
                  </a:rPr>
                  <a:t>,  and so:</a:t>
                </a: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800" b="0" dirty="0">
                    <a:solidFill>
                      <a:srgbClr val="000000"/>
                    </a:solidFill>
                    <a:latin typeface="Gill Sans" panose="020B0502020104020203" pitchFamily="34" charset="-79"/>
                    <a:cs typeface="Gill Sans" panose="020B0502020104020203" pitchFamily="34" charset="-79"/>
                  </a:rPr>
                  <a:t>Thus:</a:t>
                </a: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800" b="0" dirty="0">
                    <a:solidFill>
                      <a:srgbClr val="000000"/>
                    </a:solidFill>
                    <a:latin typeface="Gill Sans" panose="020B0502020104020203" pitchFamily="34" charset="-79"/>
                    <a:cs typeface="Gill Sans" panose="020B0502020104020203" pitchFamily="34" charset="-79"/>
                  </a:rPr>
                  <a:t>But </a:t>
                </a:r>
                <a14:m>
                  <m:oMath xmlns:m="http://schemas.openxmlformats.org/officeDocument/2006/math">
                    <m:r>
                      <a:rPr lang="en-US" altLang="it-IT" sz="1800" b="0" i="1" dirty="0" smtClean="0">
                        <a:solidFill>
                          <a:srgbClr val="000000"/>
                        </a:solidFill>
                        <a:latin typeface="Cambria Math" panose="02040503050406030204" pitchFamily="18" charset="0"/>
                        <a:cs typeface="Gill Sans" panose="020B0502020104020203" pitchFamily="34" charset="-79"/>
                      </a:rPr>
                      <m:t>𝐹</m:t>
                    </m:r>
                    <m:r>
                      <a:rPr lang="en-US" altLang="it-IT" sz="1800" b="0" i="1" baseline="-25000" dirty="0" err="1">
                        <a:solidFill>
                          <a:srgbClr val="000000"/>
                        </a:solidFill>
                        <a:latin typeface="Cambria Math" panose="02040503050406030204" pitchFamily="18" charset="0"/>
                        <a:cs typeface="Gill Sans" panose="020B0502020104020203" pitchFamily="34" charset="-79"/>
                      </a:rPr>
                      <m:t>𝑟𝑎𝑑</m:t>
                    </m:r>
                    <m:r>
                      <a:rPr lang="en-US" altLang="it-IT" sz="1800" b="0" i="1" dirty="0">
                        <a:solidFill>
                          <a:srgbClr val="000000"/>
                        </a:solidFill>
                        <a:latin typeface="Cambria Math" panose="02040503050406030204" pitchFamily="18" charset="0"/>
                        <a:cs typeface="Gill Sans" panose="020B0502020104020203" pitchFamily="34" charset="-79"/>
                      </a:rPr>
                      <m:t> = </m:t>
                    </m:r>
                    <m:r>
                      <a:rPr lang="en-US" altLang="it-IT" sz="1800" b="0" i="1" dirty="0" err="1">
                        <a:solidFill>
                          <a:srgbClr val="000000"/>
                        </a:solidFill>
                        <a:latin typeface="Cambria Math" panose="02040503050406030204" pitchFamily="18" charset="0"/>
                        <a:cs typeface="Gill Sans" panose="020B0502020104020203" pitchFamily="34" charset="-79"/>
                      </a:rPr>
                      <m:t>𝐿</m:t>
                    </m:r>
                    <m:r>
                      <a:rPr lang="it-IT" altLang="it-IT" sz="1800" b="0" i="1" dirty="0" smtClean="0">
                        <a:solidFill>
                          <a:srgbClr val="000000"/>
                        </a:solidFill>
                        <a:latin typeface="Cambria Math" panose="02040503050406030204" pitchFamily="18" charset="0"/>
                        <a:cs typeface="Gill Sans" panose="020B0502020104020203" pitchFamily="34" charset="-79"/>
                      </a:rPr>
                      <m:t>(</m:t>
                    </m:r>
                    <m:r>
                      <a:rPr lang="it-IT" altLang="it-IT" sz="1800" b="0" i="1" dirty="0" smtClean="0">
                        <a:solidFill>
                          <a:srgbClr val="000000"/>
                        </a:solidFill>
                        <a:latin typeface="Cambria Math" panose="02040503050406030204" pitchFamily="18" charset="0"/>
                        <a:cs typeface="Gill Sans" panose="020B0502020104020203" pitchFamily="34" charset="-79"/>
                      </a:rPr>
                      <m:t>𝑟</m:t>
                    </m:r>
                    <m:r>
                      <a:rPr lang="it-IT" altLang="it-IT" sz="1800" b="0" i="1" dirty="0" smtClean="0">
                        <a:solidFill>
                          <a:srgbClr val="000000"/>
                        </a:solidFill>
                        <a:latin typeface="Cambria Math" panose="02040503050406030204" pitchFamily="18" charset="0"/>
                        <a:cs typeface="Gill Sans" panose="020B0502020104020203" pitchFamily="34" charset="-79"/>
                      </a:rPr>
                      <m:t>)/4</m:t>
                    </m:r>
                    <m:r>
                      <a:rPr lang="el-GR" altLang="it-IT" sz="1800" b="0" i="1" dirty="0">
                        <a:solidFill>
                          <a:srgbClr val="000000"/>
                        </a:solidFill>
                        <a:latin typeface="Cambria Math" panose="02040503050406030204" pitchFamily="18" charset="0"/>
                        <a:cs typeface="Gill Sans" panose="020B0502020104020203" pitchFamily="34" charset="-79"/>
                      </a:rPr>
                      <m:t>𝜋</m:t>
                    </m:r>
                    <m:r>
                      <a:rPr lang="en-US" altLang="it-IT" sz="1800" b="0" i="1" dirty="0">
                        <a:solidFill>
                          <a:srgbClr val="000000"/>
                        </a:solidFill>
                        <a:latin typeface="Cambria Math" panose="02040503050406030204" pitchFamily="18" charset="0"/>
                        <a:cs typeface="Gill Sans" panose="020B0502020104020203" pitchFamily="34" charset="-79"/>
                      </a:rPr>
                      <m:t>𝑟</m:t>
                    </m:r>
                    <m:r>
                      <a:rPr lang="en-US" altLang="it-IT" sz="1800" b="0" i="1" baseline="30000" dirty="0">
                        <a:solidFill>
                          <a:srgbClr val="000000"/>
                        </a:solidFill>
                        <a:latin typeface="Cambria Math" panose="02040503050406030204" pitchFamily="18" charset="0"/>
                        <a:cs typeface="Gill Sans" panose="020B0502020104020203" pitchFamily="34" charset="-79"/>
                      </a:rPr>
                      <m:t>2</m:t>
                    </m:r>
                  </m:oMath>
                </a14:m>
                <a:r>
                  <a:rPr lang="en-US" altLang="it-IT" sz="1800" b="0" dirty="0">
                    <a:solidFill>
                      <a:srgbClr val="000000"/>
                    </a:solidFill>
                    <a:latin typeface="Gill Sans" panose="020B0502020104020203" pitchFamily="34" charset="-79"/>
                    <a:cs typeface="Gill Sans" panose="020B0502020104020203" pitchFamily="34" charset="-79"/>
                  </a:rPr>
                  <a:t>, giving, for radiative energy transport:</a:t>
                </a: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p:txBody>
          </p:sp>
        </mc:Choice>
        <mc:Fallback xmlns="">
          <p:sp>
            <p:nvSpPr>
              <p:cNvPr id="121857" name="Rectangle 2">
                <a:extLst>
                  <a:ext uri="{FF2B5EF4-FFF2-40B4-BE49-F238E27FC236}">
                    <a16:creationId xmlns:a16="http://schemas.microsoft.com/office/drawing/2014/main" id="{8614CC12-7401-8745-B17D-842997F01FBA}"/>
                  </a:ext>
                </a:extLst>
              </p:cNvPr>
              <p:cNvSpPr>
                <a:spLocks noRot="1" noChangeAspect="1" noMove="1" noResize="1" noEditPoints="1" noAdjustHandles="1" noChangeArrowheads="1" noChangeShapeType="1" noTextEdit="1"/>
              </p:cNvSpPr>
              <p:nvPr/>
            </p:nvSpPr>
            <p:spPr bwMode="auto">
              <a:xfrm>
                <a:off x="152400" y="152400"/>
                <a:ext cx="8763000" cy="6400800"/>
              </a:xfrm>
              <a:prstGeom prst="rect">
                <a:avLst/>
              </a:prstGeom>
              <a:blipFill>
                <a:blip r:embed="rId3"/>
                <a:stretch>
                  <a:fillRect l="-580" t="-2183" r="-5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noFill/>
                  </a:rPr>
                  <a:t> </a:t>
                </a:r>
              </a:p>
            </p:txBody>
          </p:sp>
        </mc:Fallback>
      </mc:AlternateContent>
      <p:graphicFrame>
        <p:nvGraphicFramePr>
          <p:cNvPr id="121858" name="Object 3">
            <a:extLst>
              <a:ext uri="{FF2B5EF4-FFF2-40B4-BE49-F238E27FC236}">
                <a16:creationId xmlns:a16="http://schemas.microsoft.com/office/drawing/2014/main" id="{956E962D-49D5-D44D-9EFB-538EC1A101E8}"/>
              </a:ext>
            </a:extLst>
          </p:cNvPr>
          <p:cNvGraphicFramePr>
            <a:graphicFrameLocks noChangeAspect="1"/>
          </p:cNvGraphicFramePr>
          <p:nvPr/>
        </p:nvGraphicFramePr>
        <p:xfrm>
          <a:off x="3505200" y="1981200"/>
          <a:ext cx="2184400" cy="787400"/>
        </p:xfrm>
        <a:graphic>
          <a:graphicData uri="http://schemas.openxmlformats.org/presentationml/2006/ole">
            <mc:AlternateContent xmlns:mc="http://schemas.openxmlformats.org/markup-compatibility/2006">
              <mc:Choice xmlns:v="urn:schemas-microsoft-com:vml" Requires="v">
                <p:oleObj name="Equation" r:id="rId4" imgW="25158700" imgH="9067800" progId="Equation.3">
                  <p:embed/>
                </p:oleObj>
              </mc:Choice>
              <mc:Fallback>
                <p:oleObj name="Equation" r:id="rId4" imgW="25158700" imgH="9067800" progId="Equation.3">
                  <p:embed/>
                  <p:pic>
                    <p:nvPicPr>
                      <p:cNvPr id="121858" name="Object 3">
                        <a:extLst>
                          <a:ext uri="{FF2B5EF4-FFF2-40B4-BE49-F238E27FC236}">
                            <a16:creationId xmlns:a16="http://schemas.microsoft.com/office/drawing/2014/main" id="{956E962D-49D5-D44D-9EFB-538EC1A101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981200"/>
                        <a:ext cx="21844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1859" name="Object 4">
            <a:extLst>
              <a:ext uri="{FF2B5EF4-FFF2-40B4-BE49-F238E27FC236}">
                <a16:creationId xmlns:a16="http://schemas.microsoft.com/office/drawing/2014/main" id="{3A42F1B0-D781-4A48-8A83-BD8F2C384020}"/>
              </a:ext>
            </a:extLst>
          </p:cNvPr>
          <p:cNvGraphicFramePr>
            <a:graphicFrameLocks noChangeAspect="1"/>
          </p:cNvGraphicFramePr>
          <p:nvPr/>
        </p:nvGraphicFramePr>
        <p:xfrm>
          <a:off x="3505200" y="2895600"/>
          <a:ext cx="3648075" cy="841375"/>
        </p:xfrm>
        <a:graphic>
          <a:graphicData uri="http://schemas.openxmlformats.org/presentationml/2006/ole">
            <mc:AlternateContent xmlns:mc="http://schemas.openxmlformats.org/markup-compatibility/2006">
              <mc:Choice xmlns:v="urn:schemas-microsoft-com:vml" Requires="v">
                <p:oleObj name="Equation" r:id="rId6" imgW="41833800" imgH="9652000" progId="Equation.3">
                  <p:embed/>
                </p:oleObj>
              </mc:Choice>
              <mc:Fallback>
                <p:oleObj name="Equation" r:id="rId6" imgW="41833800" imgH="9652000" progId="Equation.3">
                  <p:embed/>
                  <p:pic>
                    <p:nvPicPr>
                      <p:cNvPr id="121859" name="Object 4">
                        <a:extLst>
                          <a:ext uri="{FF2B5EF4-FFF2-40B4-BE49-F238E27FC236}">
                            <a16:creationId xmlns:a16="http://schemas.microsoft.com/office/drawing/2014/main" id="{3A42F1B0-D781-4A48-8A83-BD8F2C3840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5200" y="2895600"/>
                        <a:ext cx="3648075"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1860" name="Object 5">
            <a:extLst>
              <a:ext uri="{FF2B5EF4-FFF2-40B4-BE49-F238E27FC236}">
                <a16:creationId xmlns:a16="http://schemas.microsoft.com/office/drawing/2014/main" id="{A071AD95-DF91-894C-9283-87EA4F47AFB3}"/>
              </a:ext>
            </a:extLst>
          </p:cNvPr>
          <p:cNvGraphicFramePr>
            <a:graphicFrameLocks noChangeAspect="1"/>
          </p:cNvGraphicFramePr>
          <p:nvPr>
            <p:extLst>
              <p:ext uri="{D42A27DB-BD31-4B8C-83A1-F6EECF244321}">
                <p14:modId xmlns:p14="http://schemas.microsoft.com/office/powerpoint/2010/main" val="3242984291"/>
              </p:ext>
            </p:extLst>
          </p:nvPr>
        </p:nvGraphicFramePr>
        <p:xfrm>
          <a:off x="3505200" y="3782218"/>
          <a:ext cx="2320925" cy="788988"/>
        </p:xfrm>
        <a:graphic>
          <a:graphicData uri="http://schemas.openxmlformats.org/presentationml/2006/ole">
            <mc:AlternateContent xmlns:mc="http://schemas.openxmlformats.org/markup-compatibility/2006">
              <mc:Choice xmlns:v="urn:schemas-microsoft-com:vml" Requires="v">
                <p:oleObj name="Equation" r:id="rId8" imgW="26619200" imgH="9067800" progId="Equation.3">
                  <p:embed/>
                </p:oleObj>
              </mc:Choice>
              <mc:Fallback>
                <p:oleObj name="Equation" r:id="rId8" imgW="26619200" imgH="9067800" progId="Equation.3">
                  <p:embed/>
                  <p:pic>
                    <p:nvPicPr>
                      <p:cNvPr id="121860" name="Object 5">
                        <a:extLst>
                          <a:ext uri="{FF2B5EF4-FFF2-40B4-BE49-F238E27FC236}">
                            <a16:creationId xmlns:a16="http://schemas.microsoft.com/office/drawing/2014/main" id="{A071AD95-DF91-894C-9283-87EA4F47AF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5200" y="3782218"/>
                        <a:ext cx="2320925"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1861" name="Object 6">
            <a:extLst>
              <a:ext uri="{FF2B5EF4-FFF2-40B4-BE49-F238E27FC236}">
                <a16:creationId xmlns:a16="http://schemas.microsoft.com/office/drawing/2014/main" id="{BDBF3F83-91E0-4144-8B4A-796E40BCCBC0}"/>
              </a:ext>
            </a:extLst>
          </p:cNvPr>
          <p:cNvGraphicFramePr>
            <a:graphicFrameLocks noChangeAspect="1"/>
          </p:cNvGraphicFramePr>
          <p:nvPr>
            <p:extLst>
              <p:ext uri="{D42A27DB-BD31-4B8C-83A1-F6EECF244321}">
                <p14:modId xmlns:p14="http://schemas.microsoft.com/office/powerpoint/2010/main" val="2874299110"/>
              </p:ext>
            </p:extLst>
          </p:nvPr>
        </p:nvGraphicFramePr>
        <p:xfrm>
          <a:off x="2971800" y="5410200"/>
          <a:ext cx="3208338" cy="1079500"/>
        </p:xfrm>
        <a:graphic>
          <a:graphicData uri="http://schemas.openxmlformats.org/presentationml/2006/ole">
            <mc:AlternateContent xmlns:mc="http://schemas.openxmlformats.org/markup-compatibility/2006">
              <mc:Choice xmlns:v="urn:schemas-microsoft-com:vml" Requires="v">
                <p:oleObj name="Equation" r:id="rId10" imgW="29552900" imgH="9944100" progId="Equation.3">
                  <p:embed/>
                </p:oleObj>
              </mc:Choice>
              <mc:Fallback>
                <p:oleObj name="Equation" r:id="rId10" imgW="29552900" imgH="9944100" progId="Equation.3">
                  <p:embed/>
                  <p:pic>
                    <p:nvPicPr>
                      <p:cNvPr id="121861" name="Object 6">
                        <a:extLst>
                          <a:ext uri="{FF2B5EF4-FFF2-40B4-BE49-F238E27FC236}">
                            <a16:creationId xmlns:a16="http://schemas.microsoft.com/office/drawing/2014/main" id="{BDBF3F83-91E0-4144-8B4A-796E40BCCBC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1800" y="5410200"/>
                        <a:ext cx="3208338" cy="1079500"/>
                      </a:xfrm>
                      <a:prstGeom prst="rect">
                        <a:avLst/>
                      </a:prstGeom>
                      <a:noFill/>
                      <a:ln>
                        <a:solidFill>
                          <a:srgbClr val="FF0000"/>
                        </a:solidFill>
                      </a:ln>
                      <a:effectLst/>
                    </p:spPr>
                  </p:pic>
                </p:oleObj>
              </mc:Fallback>
            </mc:AlternateContent>
          </a:graphicData>
        </a:graphic>
      </p:graphicFrame>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C9DD215A-6A67-6049-A6C5-B1CF3EEDF53A}"/>
                  </a:ext>
                </a:extLst>
              </p:cNvPr>
              <p:cNvSpPr txBox="1"/>
              <p:nvPr/>
            </p:nvSpPr>
            <p:spPr>
              <a:xfrm>
                <a:off x="6795392" y="2082080"/>
                <a:ext cx="100841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α</m:t>
                      </m:r>
                      <m:r>
                        <a:rPr lang="it-IT" b="0" i="0" smtClean="0">
                          <a:latin typeface="Cambria Math" panose="02040503050406030204" pitchFamily="18" charset="0"/>
                        </a:rPr>
                        <m:t>=</m:t>
                      </m:r>
                      <m:r>
                        <m:rPr>
                          <m:sty m:val="p"/>
                        </m:rPr>
                        <a:rPr lang="it-IT" b="0" i="0" smtClean="0">
                          <a:latin typeface="Cambria Math" panose="02040503050406030204" pitchFamily="18" charset="0"/>
                        </a:rPr>
                        <m:t>κρ</m:t>
                      </m:r>
                    </m:oMath>
                  </m:oMathPara>
                </a14:m>
                <a:endParaRPr lang="it-IT" b="0" dirty="0"/>
              </a:p>
            </p:txBody>
          </p:sp>
        </mc:Choice>
        <mc:Fallback xmlns="">
          <p:sp>
            <p:nvSpPr>
              <p:cNvPr id="2" name="CasellaDiTesto 1">
                <a:extLst>
                  <a:ext uri="{FF2B5EF4-FFF2-40B4-BE49-F238E27FC236}">
                    <a16:creationId xmlns:a16="http://schemas.microsoft.com/office/drawing/2014/main" id="{C9DD215A-6A67-6049-A6C5-B1CF3EEDF53A}"/>
                  </a:ext>
                </a:extLst>
              </p:cNvPr>
              <p:cNvSpPr txBox="1">
                <a:spLocks noRot="1" noChangeAspect="1" noMove="1" noResize="1" noEditPoints="1" noAdjustHandles="1" noChangeArrowheads="1" noChangeShapeType="1" noTextEdit="1"/>
              </p:cNvSpPr>
              <p:nvPr/>
            </p:nvSpPr>
            <p:spPr>
              <a:xfrm>
                <a:off x="6795392" y="2082080"/>
                <a:ext cx="1008417" cy="400110"/>
              </a:xfrm>
              <a:prstGeom prst="rect">
                <a:avLst/>
              </a:prstGeom>
              <a:blipFill>
                <a:blip r:embed="rId12"/>
                <a:stretch>
                  <a:fillRect b="-6250"/>
                </a:stretch>
              </a:blipFill>
            </p:spPr>
            <p:txBody>
              <a:bodyPr/>
              <a:lstStyle/>
              <a:p>
                <a:r>
                  <a:rPr lang="it-IT">
                    <a:noFill/>
                  </a:rPr>
                  <a:t> </a:t>
                </a:r>
              </a:p>
            </p:txBody>
          </p:sp>
        </mc:Fallback>
      </mc:AlternateContent>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a:xfrm>
            <a:off x="457200" y="274638"/>
            <a:ext cx="8229600" cy="604837"/>
          </a:xfrm>
        </p:spPr>
        <p:txBody>
          <a:bodyPr/>
          <a:lstStyle/>
          <a:p>
            <a:pPr eaLnBrk="1" hangingPunct="1"/>
            <a:r>
              <a:rPr lang="en-US" sz="1800" dirty="0" err="1">
                <a:solidFill>
                  <a:srgbClr val="FF0000"/>
                </a:solidFill>
                <a:latin typeface="Tahoma" charset="0"/>
                <a:ea typeface="ＭＳ Ｐゴシック" charset="0"/>
                <a:cs typeface="ＭＳ Ｐゴシック" charset="0"/>
              </a:rPr>
              <a:t>Trasporto</a:t>
            </a:r>
            <a:r>
              <a:rPr lang="en-US" sz="1800" dirty="0">
                <a:solidFill>
                  <a:srgbClr val="FF0000"/>
                </a:solidFill>
                <a:latin typeface="Tahoma" charset="0"/>
                <a:ea typeface="ＭＳ Ｐゴシック" charset="0"/>
                <a:cs typeface="ＭＳ Ｐゴシック" charset="0"/>
              </a:rPr>
              <a:t> di </a:t>
            </a:r>
            <a:r>
              <a:rPr lang="en-US" sz="1800" dirty="0" err="1">
                <a:solidFill>
                  <a:srgbClr val="FF0000"/>
                </a:solidFill>
                <a:latin typeface="Tahoma" charset="0"/>
                <a:ea typeface="ＭＳ Ｐゴシック" charset="0"/>
                <a:cs typeface="ＭＳ Ｐゴシック" charset="0"/>
              </a:rPr>
              <a:t>energia</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nel</a:t>
            </a:r>
            <a:r>
              <a:rPr lang="en-US" sz="1800" dirty="0">
                <a:solidFill>
                  <a:srgbClr val="FF0000"/>
                </a:solidFill>
                <a:latin typeface="Tahoma" charset="0"/>
                <a:ea typeface="ＭＳ Ｐゴシック" charset="0"/>
                <a:cs typeface="ＭＳ Ｐゴシック" charset="0"/>
              </a:rPr>
              <a:t> Sole</a:t>
            </a:r>
          </a:p>
        </p:txBody>
      </p:sp>
      <p:sp>
        <p:nvSpPr>
          <p:cNvPr id="87042" name="Rectangle 3"/>
          <p:cNvSpPr>
            <a:spLocks noGrp="1" noChangeArrowheads="1"/>
          </p:cNvSpPr>
          <p:nvPr>
            <p:ph type="body" idx="1"/>
          </p:nvPr>
        </p:nvSpPr>
        <p:spPr>
          <a:xfrm>
            <a:off x="473075" y="879475"/>
            <a:ext cx="8362950" cy="1295400"/>
          </a:xfrm>
        </p:spPr>
        <p:txBody>
          <a:bodyPr/>
          <a:lstStyle/>
          <a:p>
            <a:pPr eaLnBrk="1" hangingPunct="1"/>
            <a:r>
              <a:rPr lang="en-US" sz="2400">
                <a:latin typeface="Arial" charset="0"/>
                <a:ea typeface="ＭＳ Ｐゴシック" charset="0"/>
                <a:cs typeface="ＭＳ Ｐゴシック" charset="0"/>
              </a:rPr>
              <a:t>Si trova che se  dlnP/dlnT &gt; 2.5  il metodo più efficiente è quello radiativo.</a:t>
            </a:r>
          </a:p>
        </p:txBody>
      </p:sp>
      <p:pic>
        <p:nvPicPr>
          <p:cNvPr id="87043" name="Picture 4"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8" y="2247900"/>
            <a:ext cx="5024437" cy="410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82488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a:xfrm>
            <a:off x="457200" y="274638"/>
            <a:ext cx="8229600" cy="722012"/>
          </a:xfrm>
        </p:spPr>
        <p:txBody>
          <a:bodyPr/>
          <a:lstStyle/>
          <a:p>
            <a:pPr eaLnBrk="1" hangingPunct="1"/>
            <a:r>
              <a:rPr lang="en-US" sz="1800" dirty="0">
                <a:solidFill>
                  <a:srgbClr val="FF0000"/>
                </a:solidFill>
                <a:latin typeface="Tahoma" charset="0"/>
                <a:ea typeface="ＭＳ Ｐゴシック" charset="0"/>
                <a:cs typeface="ＭＳ Ｐゴシック" charset="0"/>
              </a:rPr>
              <a:t>L</a:t>
            </a:r>
            <a:r>
              <a:rPr lang="ja-JP" altLang="en-US" sz="1800" dirty="0">
                <a:solidFill>
                  <a:srgbClr val="FF0000"/>
                </a:solidFill>
                <a:latin typeface="Tahoma" charset="0"/>
                <a:ea typeface="ＭＳ Ｐゴシック" charset="0"/>
                <a:cs typeface="ＭＳ Ｐゴシック" charset="0"/>
              </a:rPr>
              <a:t>’</a:t>
            </a:r>
            <a:r>
              <a:rPr lang="it-IT" altLang="ja-JP" sz="1800" dirty="0">
                <a:solidFill>
                  <a:srgbClr val="FF0000"/>
                </a:solidFill>
                <a:latin typeface="Tahoma" charset="0"/>
                <a:ea typeface="ＭＳ Ｐゴシック" charset="0"/>
                <a:cs typeface="ＭＳ Ｐゴシック" charset="0"/>
              </a:rPr>
              <a:t>I</a:t>
            </a:r>
            <a:r>
              <a:rPr lang="en-US" altLang="ja-JP" sz="1800" dirty="0" err="1">
                <a:solidFill>
                  <a:srgbClr val="FF0000"/>
                </a:solidFill>
                <a:latin typeface="Tahoma" charset="0"/>
                <a:ea typeface="ＭＳ Ｐゴシック" charset="0"/>
                <a:cs typeface="ＭＳ Ｐゴシック" charset="0"/>
              </a:rPr>
              <a:t>nterno</a:t>
            </a:r>
            <a:r>
              <a:rPr lang="en-US" altLang="ja-JP" sz="1800" dirty="0">
                <a:solidFill>
                  <a:srgbClr val="FF0000"/>
                </a:solidFill>
                <a:latin typeface="Tahoma" charset="0"/>
                <a:ea typeface="ＭＳ Ｐゴシック" charset="0"/>
                <a:cs typeface="ＭＳ Ｐゴシック" charset="0"/>
              </a:rPr>
              <a:t> del Sole</a:t>
            </a:r>
            <a:endParaRPr lang="en-US" sz="1800" dirty="0">
              <a:solidFill>
                <a:srgbClr val="FF0000"/>
              </a:solidFill>
              <a:latin typeface="Tahoma" charset="0"/>
              <a:ea typeface="ＭＳ Ｐゴシック" charset="0"/>
              <a:cs typeface="ＭＳ Ｐゴシック" charset="0"/>
            </a:endParaRPr>
          </a:p>
        </p:txBody>
      </p:sp>
      <p:pic>
        <p:nvPicPr>
          <p:cNvPr id="88066" name="Picture 4" descr="sundi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1898650"/>
            <a:ext cx="4859337" cy="3470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8067" name="Picture 5" descr="Fig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878013"/>
            <a:ext cx="3752850" cy="3387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8068" name="Text Box 7"/>
          <p:cNvSpPr txBox="1">
            <a:spLocks noChangeArrowheads="1"/>
          </p:cNvSpPr>
          <p:nvPr/>
        </p:nvSpPr>
        <p:spPr bwMode="auto">
          <a:xfrm>
            <a:off x="1419225" y="1168400"/>
            <a:ext cx="3962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000" b="1">
                <a:solidFill>
                  <a:schemeClr val="tx1"/>
                </a:solidFill>
                <a:latin typeface="Arial" charset="0"/>
                <a:ea typeface="ＭＳ Ｐゴシック" charset="0"/>
                <a:cs typeface="ＭＳ Ｐゴシック" charset="0"/>
              </a:defRPr>
            </a:lvl1pPr>
            <a:lvl2pPr marL="742950" indent="-285750" eaLnBrk="0" hangingPunct="0">
              <a:defRPr sz="2000" b="1">
                <a:solidFill>
                  <a:schemeClr val="tx1"/>
                </a:solidFill>
                <a:latin typeface="Arial" charset="0"/>
                <a:ea typeface="ＭＳ Ｐゴシック" charset="0"/>
              </a:defRPr>
            </a:lvl2pPr>
            <a:lvl3pPr marL="1143000" indent="-228600" eaLnBrk="0" hangingPunct="0">
              <a:defRPr sz="2000" b="1">
                <a:solidFill>
                  <a:schemeClr val="tx1"/>
                </a:solidFill>
                <a:latin typeface="Arial" charset="0"/>
                <a:ea typeface="ＭＳ Ｐゴシック" charset="0"/>
              </a:defRPr>
            </a:lvl3pPr>
            <a:lvl4pPr marL="1600200" indent="-228600" eaLnBrk="0" hangingPunct="0">
              <a:defRPr sz="2000" b="1">
                <a:solidFill>
                  <a:schemeClr val="tx1"/>
                </a:solidFill>
                <a:latin typeface="Arial" charset="0"/>
                <a:ea typeface="ＭＳ Ｐゴシック" charset="0"/>
              </a:defRPr>
            </a:lvl4pPr>
            <a:lvl5pPr marL="2057400" indent="-228600" eaLnBrk="0" hangingPunct="0">
              <a:defRPr sz="2000" b="1">
                <a:solidFill>
                  <a:schemeClr val="tx1"/>
                </a:solidFill>
                <a:latin typeface="Arial" charset="0"/>
                <a:ea typeface="ＭＳ Ｐゴシック" charset="0"/>
              </a:defRPr>
            </a:lvl5pPr>
            <a:lvl6pPr marL="2514600" indent="-228600" eaLnBrk="0" fontAlgn="base" hangingPunct="0">
              <a:spcBef>
                <a:spcPct val="0"/>
              </a:spcBef>
              <a:spcAft>
                <a:spcPct val="0"/>
              </a:spcAft>
              <a:defRPr sz="2000" b="1">
                <a:solidFill>
                  <a:schemeClr val="tx1"/>
                </a:solidFill>
                <a:latin typeface="Arial" charset="0"/>
                <a:ea typeface="ＭＳ Ｐゴシック" charset="0"/>
              </a:defRPr>
            </a:lvl6pPr>
            <a:lvl7pPr marL="2971800" indent="-228600" eaLnBrk="0" fontAlgn="base" hangingPunct="0">
              <a:spcBef>
                <a:spcPct val="0"/>
              </a:spcBef>
              <a:spcAft>
                <a:spcPct val="0"/>
              </a:spcAft>
              <a:defRPr sz="2000" b="1">
                <a:solidFill>
                  <a:schemeClr val="tx1"/>
                </a:solidFill>
                <a:latin typeface="Arial" charset="0"/>
                <a:ea typeface="ＭＳ Ｐゴシック" charset="0"/>
              </a:defRPr>
            </a:lvl7pPr>
            <a:lvl8pPr marL="3429000" indent="-228600" eaLnBrk="0" fontAlgn="base" hangingPunct="0">
              <a:spcBef>
                <a:spcPct val="0"/>
              </a:spcBef>
              <a:spcAft>
                <a:spcPct val="0"/>
              </a:spcAft>
              <a:defRPr sz="2000" b="1">
                <a:solidFill>
                  <a:schemeClr val="tx1"/>
                </a:solidFill>
                <a:latin typeface="Arial" charset="0"/>
                <a:ea typeface="ＭＳ Ｐゴシック" charset="0"/>
              </a:defRPr>
            </a:lvl8pPr>
            <a:lvl9pPr marL="3886200" indent="-228600" eaLnBrk="0" fontAlgn="base" hangingPunct="0">
              <a:spcBef>
                <a:spcPct val="0"/>
              </a:spcBef>
              <a:spcAft>
                <a:spcPct val="0"/>
              </a:spcAft>
              <a:defRPr sz="2000" b="1">
                <a:solidFill>
                  <a:schemeClr val="tx1"/>
                </a:solidFill>
                <a:latin typeface="Arial" charset="0"/>
                <a:ea typeface="ＭＳ Ｐゴシック" charset="0"/>
              </a:defRPr>
            </a:lvl9pPr>
          </a:lstStyle>
          <a:p>
            <a:pPr eaLnBrk="1" hangingPunct="1">
              <a:spcBef>
                <a:spcPct val="50000"/>
              </a:spcBef>
            </a:pPr>
            <a:r>
              <a:rPr lang="en-US"/>
              <a:t>Esistono tre regioni nel Sole</a:t>
            </a:r>
          </a:p>
        </p:txBody>
      </p:sp>
    </p:spTree>
    <p:extLst>
      <p:ext uri="{BB962C8B-B14F-4D97-AF65-F5344CB8AC3E}">
        <p14:creationId xmlns:p14="http://schemas.microsoft.com/office/powerpoint/2010/main" val="3799073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2">
            <a:extLst>
              <a:ext uri="{FF2B5EF4-FFF2-40B4-BE49-F238E27FC236}">
                <a16:creationId xmlns:a16="http://schemas.microsoft.com/office/drawing/2014/main" id="{3E75EB1B-BE96-164B-B9DA-D46BA00D5AD8}"/>
              </a:ext>
            </a:extLst>
          </p:cNvPr>
          <p:cNvGraphicFramePr>
            <a:graphicFrameLocks noChangeAspect="1"/>
          </p:cNvGraphicFramePr>
          <p:nvPr/>
        </p:nvGraphicFramePr>
        <p:xfrm>
          <a:off x="3495675" y="709613"/>
          <a:ext cx="1873250" cy="796925"/>
        </p:xfrm>
        <a:graphic>
          <a:graphicData uri="http://schemas.openxmlformats.org/presentationml/2006/ole">
            <mc:AlternateContent xmlns:mc="http://schemas.openxmlformats.org/markup-compatibility/2006">
              <mc:Choice xmlns:v="urn:schemas-microsoft-com:vml" Requires="v">
                <p:oleObj name="Equation" r:id="rId2" imgW="927100" imgH="393700" progId="Equation.3">
                  <p:embed/>
                </p:oleObj>
              </mc:Choice>
              <mc:Fallback>
                <p:oleObj name="Equation" r:id="rId2" imgW="927100" imgH="393700" progId="Equation.3">
                  <p:embed/>
                  <p:pic>
                    <p:nvPicPr>
                      <p:cNvPr id="69634" name="Object 2">
                        <a:extLst>
                          <a:ext uri="{FF2B5EF4-FFF2-40B4-BE49-F238E27FC236}">
                            <a16:creationId xmlns:a16="http://schemas.microsoft.com/office/drawing/2014/main" id="{3E75EB1B-BE96-164B-B9DA-D46BA00D5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5675" y="709613"/>
                        <a:ext cx="1873250"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635" name="Object 3">
            <a:extLst>
              <a:ext uri="{FF2B5EF4-FFF2-40B4-BE49-F238E27FC236}">
                <a16:creationId xmlns:a16="http://schemas.microsoft.com/office/drawing/2014/main" id="{01FA4A89-CD6A-9448-AA1F-65694CDA931C}"/>
              </a:ext>
            </a:extLst>
          </p:cNvPr>
          <p:cNvGraphicFramePr>
            <a:graphicFrameLocks noChangeAspect="1"/>
          </p:cNvGraphicFramePr>
          <p:nvPr/>
        </p:nvGraphicFramePr>
        <p:xfrm>
          <a:off x="3378200" y="1592263"/>
          <a:ext cx="1584325" cy="701675"/>
        </p:xfrm>
        <a:graphic>
          <a:graphicData uri="http://schemas.openxmlformats.org/presentationml/2006/ole">
            <mc:AlternateContent xmlns:mc="http://schemas.openxmlformats.org/markup-compatibility/2006">
              <mc:Choice xmlns:v="urn:schemas-microsoft-com:vml" Requires="v">
                <p:oleObj name="Equation" r:id="rId4" imgW="889000" imgH="393700" progId="Equation.3">
                  <p:embed/>
                </p:oleObj>
              </mc:Choice>
              <mc:Fallback>
                <p:oleObj name="Equation" r:id="rId4" imgW="889000" imgH="393700" progId="Equation.3">
                  <p:embed/>
                  <p:pic>
                    <p:nvPicPr>
                      <p:cNvPr id="69635" name="Object 3">
                        <a:extLst>
                          <a:ext uri="{FF2B5EF4-FFF2-40B4-BE49-F238E27FC236}">
                            <a16:creationId xmlns:a16="http://schemas.microsoft.com/office/drawing/2014/main" id="{01FA4A89-CD6A-9448-AA1F-65694CDA93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8200" y="1592263"/>
                        <a:ext cx="158432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636" name="Object 4">
            <a:extLst>
              <a:ext uri="{FF2B5EF4-FFF2-40B4-BE49-F238E27FC236}">
                <a16:creationId xmlns:a16="http://schemas.microsoft.com/office/drawing/2014/main" id="{8122B4D5-175F-D54D-9B42-C65E2037F370}"/>
              </a:ext>
            </a:extLst>
          </p:cNvPr>
          <p:cNvGraphicFramePr>
            <a:graphicFrameLocks noChangeAspect="1"/>
          </p:cNvGraphicFramePr>
          <p:nvPr/>
        </p:nvGraphicFramePr>
        <p:xfrm>
          <a:off x="3659188" y="5481638"/>
          <a:ext cx="1116012" cy="771525"/>
        </p:xfrm>
        <a:graphic>
          <a:graphicData uri="http://schemas.openxmlformats.org/presentationml/2006/ole">
            <mc:AlternateContent xmlns:mc="http://schemas.openxmlformats.org/markup-compatibility/2006">
              <mc:Choice xmlns:v="urn:schemas-microsoft-com:vml" Requires="v">
                <p:oleObj name="Equation" r:id="rId6" imgW="622300" imgH="431800" progId="Equation.3">
                  <p:embed/>
                </p:oleObj>
              </mc:Choice>
              <mc:Fallback>
                <p:oleObj name="Equation" r:id="rId6" imgW="622300" imgH="431800" progId="Equation.3">
                  <p:embed/>
                  <p:pic>
                    <p:nvPicPr>
                      <p:cNvPr id="69636" name="Object 4">
                        <a:extLst>
                          <a:ext uri="{FF2B5EF4-FFF2-40B4-BE49-F238E27FC236}">
                            <a16:creationId xmlns:a16="http://schemas.microsoft.com/office/drawing/2014/main" id="{8122B4D5-175F-D54D-9B42-C65E2037F3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9188" y="5481638"/>
                        <a:ext cx="1116012"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9637" name="Rectangle 6">
            <a:extLst>
              <a:ext uri="{FF2B5EF4-FFF2-40B4-BE49-F238E27FC236}">
                <a16:creationId xmlns:a16="http://schemas.microsoft.com/office/drawing/2014/main" id="{38EF4949-AD21-7148-8B4C-2756E9A2E47F}"/>
              </a:ext>
            </a:extLst>
          </p:cNvPr>
          <p:cNvSpPr>
            <a:spLocks noChangeArrowheads="1"/>
          </p:cNvSpPr>
          <p:nvPr/>
        </p:nvSpPr>
        <p:spPr bwMode="auto">
          <a:xfrm>
            <a:off x="0" y="831850"/>
            <a:ext cx="28797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Equilibrio idrostatico</a:t>
            </a:r>
          </a:p>
        </p:txBody>
      </p:sp>
      <p:sp>
        <p:nvSpPr>
          <p:cNvPr id="69638" name="Rectangle 7">
            <a:extLst>
              <a:ext uri="{FF2B5EF4-FFF2-40B4-BE49-F238E27FC236}">
                <a16:creationId xmlns:a16="http://schemas.microsoft.com/office/drawing/2014/main" id="{00839724-EE48-6845-B29D-3FED2E58999F}"/>
              </a:ext>
            </a:extLst>
          </p:cNvPr>
          <p:cNvSpPr>
            <a:spLocks noChangeArrowheads="1"/>
          </p:cNvSpPr>
          <p:nvPr/>
        </p:nvSpPr>
        <p:spPr bwMode="auto">
          <a:xfrm>
            <a:off x="0" y="1625600"/>
            <a:ext cx="28797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dirty="0" err="1"/>
              <a:t>Conservazione</a:t>
            </a:r>
            <a:r>
              <a:rPr lang="en-US" altLang="it-IT" sz="2000" b="0" dirty="0"/>
              <a:t> </a:t>
            </a:r>
            <a:r>
              <a:rPr lang="en-US" altLang="it-IT" sz="2000" b="0" dirty="0" err="1"/>
              <a:t>della</a:t>
            </a:r>
            <a:r>
              <a:rPr lang="en-US" altLang="it-IT" sz="2000" b="0" dirty="0"/>
              <a:t> Massa:</a:t>
            </a:r>
          </a:p>
        </p:txBody>
      </p:sp>
      <p:graphicFrame>
        <p:nvGraphicFramePr>
          <p:cNvPr id="69639" name="Object 6">
            <a:extLst>
              <a:ext uri="{FF2B5EF4-FFF2-40B4-BE49-F238E27FC236}">
                <a16:creationId xmlns:a16="http://schemas.microsoft.com/office/drawing/2014/main" id="{5D1C6528-84AE-E145-8C9F-BA8D310F6CB3}"/>
              </a:ext>
            </a:extLst>
          </p:cNvPr>
          <p:cNvGraphicFramePr>
            <a:graphicFrameLocks noChangeAspect="1"/>
          </p:cNvGraphicFramePr>
          <p:nvPr/>
        </p:nvGraphicFramePr>
        <p:xfrm>
          <a:off x="3235325" y="3349625"/>
          <a:ext cx="2576513" cy="858838"/>
        </p:xfrm>
        <a:graphic>
          <a:graphicData uri="http://schemas.openxmlformats.org/presentationml/2006/ole">
            <mc:AlternateContent xmlns:mc="http://schemas.openxmlformats.org/markup-compatibility/2006">
              <mc:Choice xmlns:v="urn:schemas-microsoft-com:vml" Requires="v">
                <p:oleObj name="Equation" r:id="rId8" imgW="1181100" imgH="393700" progId="Equation.3">
                  <p:embed/>
                </p:oleObj>
              </mc:Choice>
              <mc:Fallback>
                <p:oleObj name="Equation" r:id="rId8" imgW="1181100" imgH="393700" progId="Equation.3">
                  <p:embed/>
                  <p:pic>
                    <p:nvPicPr>
                      <p:cNvPr id="69639" name="Object 6">
                        <a:extLst>
                          <a:ext uri="{FF2B5EF4-FFF2-40B4-BE49-F238E27FC236}">
                            <a16:creationId xmlns:a16="http://schemas.microsoft.com/office/drawing/2014/main" id="{5D1C6528-84AE-E145-8C9F-BA8D310F6C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5325" y="3349625"/>
                        <a:ext cx="2576513"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640" name="Object 7">
            <a:extLst>
              <a:ext uri="{FF2B5EF4-FFF2-40B4-BE49-F238E27FC236}">
                <a16:creationId xmlns:a16="http://schemas.microsoft.com/office/drawing/2014/main" id="{5B35C900-2006-1F4C-8681-3387D9AAD0C7}"/>
              </a:ext>
            </a:extLst>
          </p:cNvPr>
          <p:cNvGraphicFramePr>
            <a:graphicFrameLocks noChangeAspect="1"/>
          </p:cNvGraphicFramePr>
          <p:nvPr/>
        </p:nvGraphicFramePr>
        <p:xfrm>
          <a:off x="3119438" y="4365625"/>
          <a:ext cx="3213100" cy="933450"/>
        </p:xfrm>
        <a:graphic>
          <a:graphicData uri="http://schemas.openxmlformats.org/presentationml/2006/ole">
            <mc:AlternateContent xmlns:mc="http://schemas.openxmlformats.org/markup-compatibility/2006">
              <mc:Choice xmlns:v="urn:schemas-microsoft-com:vml" Requires="v">
                <p:oleObj name="Equation" r:id="rId10" imgW="1574800" imgH="457200" progId="Equation.3">
                  <p:embed/>
                </p:oleObj>
              </mc:Choice>
              <mc:Fallback>
                <p:oleObj name="Equation" r:id="rId10" imgW="1574800" imgH="457200" progId="Equation.3">
                  <p:embed/>
                  <p:pic>
                    <p:nvPicPr>
                      <p:cNvPr id="69640" name="Object 7">
                        <a:extLst>
                          <a:ext uri="{FF2B5EF4-FFF2-40B4-BE49-F238E27FC236}">
                            <a16:creationId xmlns:a16="http://schemas.microsoft.com/office/drawing/2014/main" id="{5B35C900-2006-1F4C-8681-3387D9AAD0C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9438" y="4365625"/>
                        <a:ext cx="3213100"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9641" name="Rectangle 14">
            <a:extLst>
              <a:ext uri="{FF2B5EF4-FFF2-40B4-BE49-F238E27FC236}">
                <a16:creationId xmlns:a16="http://schemas.microsoft.com/office/drawing/2014/main" id="{17FE9B96-CAA1-0241-B879-571AE40B6643}"/>
              </a:ext>
            </a:extLst>
          </p:cNvPr>
          <p:cNvSpPr>
            <a:spLocks noChangeArrowheads="1"/>
          </p:cNvSpPr>
          <p:nvPr/>
        </p:nvSpPr>
        <p:spPr bwMode="auto">
          <a:xfrm>
            <a:off x="6751638" y="4568825"/>
            <a:ext cx="16573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r>
              <a:rPr lang="en-US" altLang="it-IT" sz="2000" b="0"/>
              <a:t>Convezione</a:t>
            </a:r>
          </a:p>
        </p:txBody>
      </p:sp>
      <p:sp>
        <p:nvSpPr>
          <p:cNvPr id="69642" name="Rectangle 15">
            <a:extLst>
              <a:ext uri="{FF2B5EF4-FFF2-40B4-BE49-F238E27FC236}">
                <a16:creationId xmlns:a16="http://schemas.microsoft.com/office/drawing/2014/main" id="{6067AC90-4160-C84D-A1A2-21865ED899CA}"/>
              </a:ext>
            </a:extLst>
          </p:cNvPr>
          <p:cNvSpPr>
            <a:spLocks noChangeArrowheads="1"/>
          </p:cNvSpPr>
          <p:nvPr/>
        </p:nvSpPr>
        <p:spPr bwMode="auto">
          <a:xfrm>
            <a:off x="6753225" y="3533775"/>
            <a:ext cx="16573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r>
              <a:rPr lang="en-US" altLang="it-IT" sz="2000" b="0"/>
              <a:t>Radiazione</a:t>
            </a:r>
          </a:p>
        </p:txBody>
      </p:sp>
      <p:sp>
        <p:nvSpPr>
          <p:cNvPr id="69643" name="Rectangle 18">
            <a:extLst>
              <a:ext uri="{FF2B5EF4-FFF2-40B4-BE49-F238E27FC236}">
                <a16:creationId xmlns:a16="http://schemas.microsoft.com/office/drawing/2014/main" id="{6399362F-ABCD-A241-BE32-1BD7D2059DAA}"/>
              </a:ext>
            </a:extLst>
          </p:cNvPr>
          <p:cNvSpPr>
            <a:spLocks noChangeArrowheads="1"/>
          </p:cNvSpPr>
          <p:nvPr/>
        </p:nvSpPr>
        <p:spPr bwMode="auto">
          <a:xfrm>
            <a:off x="0" y="4029075"/>
            <a:ext cx="28797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Trasporto dell</a:t>
            </a:r>
            <a:r>
              <a:rPr lang="ja-JP" altLang="en-US" sz="2000" b="0"/>
              <a:t>’</a:t>
            </a:r>
            <a:r>
              <a:rPr lang="en-US" altLang="ja-JP" sz="2000" b="0"/>
              <a:t> Energia:</a:t>
            </a:r>
            <a:endParaRPr lang="en-US" altLang="it-IT" sz="2000" b="0"/>
          </a:p>
        </p:txBody>
      </p:sp>
      <p:sp>
        <p:nvSpPr>
          <p:cNvPr id="69644" name="Rectangle 19">
            <a:extLst>
              <a:ext uri="{FF2B5EF4-FFF2-40B4-BE49-F238E27FC236}">
                <a16:creationId xmlns:a16="http://schemas.microsoft.com/office/drawing/2014/main" id="{50BBF5AD-4F78-0745-B76B-23A6632C5866}"/>
              </a:ext>
            </a:extLst>
          </p:cNvPr>
          <p:cNvSpPr>
            <a:spLocks noChangeArrowheads="1"/>
          </p:cNvSpPr>
          <p:nvPr/>
        </p:nvSpPr>
        <p:spPr bwMode="auto">
          <a:xfrm>
            <a:off x="0" y="5602288"/>
            <a:ext cx="28797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a:t>Equazione di Stato </a:t>
            </a:r>
          </a:p>
        </p:txBody>
      </p:sp>
      <p:sp>
        <p:nvSpPr>
          <p:cNvPr id="69645" name="Line 20">
            <a:extLst>
              <a:ext uri="{FF2B5EF4-FFF2-40B4-BE49-F238E27FC236}">
                <a16:creationId xmlns:a16="http://schemas.microsoft.com/office/drawing/2014/main" id="{4CF2A6B5-530A-484B-874C-6A2E66B1B871}"/>
              </a:ext>
            </a:extLst>
          </p:cNvPr>
          <p:cNvSpPr>
            <a:spLocks noChangeShapeType="1"/>
          </p:cNvSpPr>
          <p:nvPr/>
        </p:nvSpPr>
        <p:spPr bwMode="auto">
          <a:xfrm flipV="1">
            <a:off x="2184400" y="3792538"/>
            <a:ext cx="881063" cy="55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it-IT"/>
          </a:p>
        </p:txBody>
      </p:sp>
      <p:sp>
        <p:nvSpPr>
          <p:cNvPr id="69646" name="Line 21">
            <a:extLst>
              <a:ext uri="{FF2B5EF4-FFF2-40B4-BE49-F238E27FC236}">
                <a16:creationId xmlns:a16="http://schemas.microsoft.com/office/drawing/2014/main" id="{E09D934C-5E76-8049-8884-95004FAEB62E}"/>
              </a:ext>
            </a:extLst>
          </p:cNvPr>
          <p:cNvSpPr>
            <a:spLocks noChangeShapeType="1"/>
          </p:cNvSpPr>
          <p:nvPr/>
        </p:nvSpPr>
        <p:spPr bwMode="auto">
          <a:xfrm>
            <a:off x="2151063" y="4538663"/>
            <a:ext cx="812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it-IT"/>
          </a:p>
        </p:txBody>
      </p:sp>
      <p:graphicFrame>
        <p:nvGraphicFramePr>
          <p:cNvPr id="16" name="Object 3">
            <a:extLst>
              <a:ext uri="{FF2B5EF4-FFF2-40B4-BE49-F238E27FC236}">
                <a16:creationId xmlns:a16="http://schemas.microsoft.com/office/drawing/2014/main" id="{32EDBFC0-445B-BE4C-BE49-72B137900EE2}"/>
              </a:ext>
            </a:extLst>
          </p:cNvPr>
          <p:cNvGraphicFramePr>
            <a:graphicFrameLocks noChangeAspect="1"/>
          </p:cNvGraphicFramePr>
          <p:nvPr/>
        </p:nvGraphicFramePr>
        <p:xfrm>
          <a:off x="3330575" y="2425242"/>
          <a:ext cx="2038350" cy="893763"/>
        </p:xfrm>
        <a:graphic>
          <a:graphicData uri="http://schemas.openxmlformats.org/presentationml/2006/ole">
            <mc:AlternateContent xmlns:mc="http://schemas.openxmlformats.org/markup-compatibility/2006">
              <mc:Choice xmlns:v="urn:schemas-microsoft-com:vml" Requires="v">
                <p:oleObj name="Equation" r:id="rId12" imgW="889000" imgH="393700" progId="Equation.3">
                  <p:embed/>
                </p:oleObj>
              </mc:Choice>
              <mc:Fallback>
                <p:oleObj name="Equation" r:id="rId12" imgW="889000" imgH="393700" progId="Equation.3">
                  <p:embed/>
                  <p:pic>
                    <p:nvPicPr>
                      <p:cNvPr id="16" name="Object 3">
                        <a:extLst>
                          <a:ext uri="{FF2B5EF4-FFF2-40B4-BE49-F238E27FC236}">
                            <a16:creationId xmlns:a16="http://schemas.microsoft.com/office/drawing/2014/main" id="{32EDBFC0-445B-BE4C-BE49-72B137900EE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30575" y="2425242"/>
                        <a:ext cx="2038350"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0" name="Rectangle 2">
            <a:extLst>
              <a:ext uri="{FF2B5EF4-FFF2-40B4-BE49-F238E27FC236}">
                <a16:creationId xmlns:a16="http://schemas.microsoft.com/office/drawing/2014/main" id="{F3A8CBC1-4D18-1948-81B8-848D16D7C78A}"/>
              </a:ext>
            </a:extLst>
          </p:cNvPr>
          <p:cNvSpPr txBox="1">
            <a:spLocks noChangeArrowheads="1"/>
          </p:cNvSpPr>
          <p:nvPr/>
        </p:nvSpPr>
        <p:spPr>
          <a:xfrm>
            <a:off x="250825" y="-182319"/>
            <a:ext cx="8545512" cy="1126434"/>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it-IT" sz="2400">
                <a:solidFill>
                  <a:srgbClr val="FF0000"/>
                </a:solidFill>
                <a:ea typeface="ＭＳ Ｐゴシック" panose="020B0600070205080204" pitchFamily="34" charset="-128"/>
              </a:rPr>
              <a:t>Equations of a Static Stellar Structure </a:t>
            </a:r>
            <a:endParaRPr lang="en-US" altLang="it-IT" sz="2400" dirty="0">
              <a:solidFill>
                <a:srgbClr val="FF0000"/>
              </a:solidFill>
              <a:ea typeface="ＭＳ Ｐゴシック" panose="020B0600070205080204" pitchFamily="34" charset="-128"/>
            </a:endParaRPr>
          </a:p>
        </p:txBody>
      </p:sp>
      <p:sp>
        <p:nvSpPr>
          <p:cNvPr id="22" name="Rectangle 7">
            <a:extLst>
              <a:ext uri="{FF2B5EF4-FFF2-40B4-BE49-F238E27FC236}">
                <a16:creationId xmlns:a16="http://schemas.microsoft.com/office/drawing/2014/main" id="{6505F40D-83CB-E149-BC74-88B67A6E687E}"/>
              </a:ext>
            </a:extLst>
          </p:cNvPr>
          <p:cNvSpPr>
            <a:spLocks noChangeArrowheads="1"/>
          </p:cNvSpPr>
          <p:nvPr/>
        </p:nvSpPr>
        <p:spPr bwMode="auto">
          <a:xfrm>
            <a:off x="-1" y="2601857"/>
            <a:ext cx="2879725" cy="747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it-IT" sz="2000" b="0" dirty="0" err="1"/>
              <a:t>Conservazione</a:t>
            </a:r>
            <a:r>
              <a:rPr lang="en-US" altLang="it-IT" sz="2000" b="0" dirty="0"/>
              <a:t> </a:t>
            </a:r>
            <a:r>
              <a:rPr lang="en-US" altLang="it-IT" sz="2000" b="0" dirty="0" err="1"/>
              <a:t>dell’energia</a:t>
            </a:r>
            <a:endParaRPr lang="en-US" altLang="it-IT" sz="2000" b="0" dirty="0"/>
          </a:p>
        </p:txBody>
      </p:sp>
    </p:spTree>
    <p:extLst>
      <p:ext uri="{BB962C8B-B14F-4D97-AF65-F5344CB8AC3E}">
        <p14:creationId xmlns:p14="http://schemas.microsoft.com/office/powerpoint/2010/main" val="4197662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6">
            <a:extLst>
              <a:ext uri="{FF2B5EF4-FFF2-40B4-BE49-F238E27FC236}">
                <a16:creationId xmlns:a16="http://schemas.microsoft.com/office/drawing/2014/main" id="{0D52830D-11B0-EF4D-8C0D-1EDA441D0D02}"/>
              </a:ext>
            </a:extLst>
          </p:cNvPr>
          <p:cNvSpPr>
            <a:spLocks noChangeArrowheads="1"/>
          </p:cNvSpPr>
          <p:nvPr/>
        </p:nvSpPr>
        <p:spPr bwMode="auto">
          <a:xfrm>
            <a:off x="203200" y="1028700"/>
            <a:ext cx="8763000" cy="532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har char="•"/>
              <a:tabLst>
                <a:tab pos="457200" algn="l"/>
                <a:tab pos="1147763" algn="l"/>
                <a:tab pos="1482725" algn="l"/>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457200" algn="l"/>
                <a:tab pos="1147763" algn="l"/>
                <a:tab pos="1482725" algn="l"/>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457200" algn="l"/>
                <a:tab pos="1147763" algn="l"/>
                <a:tab pos="1482725"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457200" algn="l"/>
                <a:tab pos="1147763" algn="l"/>
                <a:tab pos="1482725" algn="l"/>
              </a:tabLst>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20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The parameters used for studying and modeling stellar interiors include:</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r	=	radial distance from the </a:t>
            </a:r>
            <a:r>
              <a:rPr lang="en-US" altLang="it-IT" sz="2000" b="0" dirty="0" err="1">
                <a:solidFill>
                  <a:srgbClr val="000000"/>
                </a:solidFill>
                <a:latin typeface="Gill Sans" panose="020B0502020104020203" pitchFamily="34" charset="-79"/>
                <a:cs typeface="Gill Sans" panose="020B0502020104020203" pitchFamily="34" charset="-79"/>
              </a:rPr>
              <a:t>centre</a:t>
            </a:r>
            <a:r>
              <a:rPr lang="en-US" altLang="it-IT" sz="2000" b="0" dirty="0">
                <a:solidFill>
                  <a:srgbClr val="000000"/>
                </a:solidFill>
                <a:latin typeface="Gill Sans" panose="020B0502020104020203" pitchFamily="34" charset="-79"/>
                <a:cs typeface="Gill Sans" panose="020B0502020104020203" pitchFamily="34" charset="-79"/>
              </a:rPr>
              <a:t> of the star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M(r)	=	mass interior to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T(r)	=	temperature at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P(r)	=	pressure at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L(r)	=	luminosity at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a:t>
            </a:r>
            <a:r>
              <a:rPr lang="el-GR" altLang="it-IT" sz="2000" b="0" dirty="0">
                <a:solidFill>
                  <a:srgbClr val="000000"/>
                </a:solidFill>
                <a:latin typeface="Tahoma" panose="020B0604030504040204" pitchFamily="34" charset="0"/>
                <a:cs typeface="Gill Sans" panose="020B0502020104020203" pitchFamily="34" charset="-79"/>
              </a:rPr>
              <a:t>ε</a:t>
            </a:r>
            <a:r>
              <a:rPr lang="en-US" altLang="it-IT" sz="2000" b="0" dirty="0">
                <a:solidFill>
                  <a:srgbClr val="000000"/>
                </a:solidFill>
                <a:latin typeface="Gill Sans" panose="020B0502020104020203" pitchFamily="34" charset="-79"/>
                <a:cs typeface="Gill Sans" panose="020B0502020104020203" pitchFamily="34" charset="-79"/>
              </a:rPr>
              <a:t>(r)	=	energy generation at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a:t>
            </a:r>
            <a:r>
              <a:rPr lang="el-GR" altLang="it-IT" sz="2000" b="0" dirty="0">
                <a:solidFill>
                  <a:srgbClr val="000000"/>
                </a:solidFill>
                <a:latin typeface="Tahoma" panose="020B0604030504040204" pitchFamily="34" charset="0"/>
                <a:cs typeface="Gill Sans" panose="020B0502020104020203" pitchFamily="34" charset="-79"/>
              </a:rPr>
              <a:t>κ</a:t>
            </a:r>
            <a:r>
              <a:rPr lang="en-US" altLang="it-IT" sz="2000" b="0" dirty="0">
                <a:solidFill>
                  <a:srgbClr val="000000"/>
                </a:solidFill>
                <a:latin typeface="Gill Sans" panose="020B0502020104020203" pitchFamily="34" charset="-79"/>
                <a:cs typeface="Gill Sans" panose="020B0502020104020203" pitchFamily="34" charset="-79"/>
              </a:rPr>
              <a:t>(r)	=	opacity at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a:t>
            </a:r>
            <a:r>
              <a:rPr lang="el-GR" altLang="it-IT" sz="2000" b="0" dirty="0">
                <a:solidFill>
                  <a:srgbClr val="000000"/>
                </a:solidFill>
                <a:latin typeface="Tahoma" panose="020B0604030504040204" pitchFamily="34" charset="0"/>
                <a:cs typeface="Gill Sans" panose="020B0502020104020203" pitchFamily="34" charset="-79"/>
              </a:rPr>
              <a:t>ρ</a:t>
            </a:r>
            <a:r>
              <a:rPr lang="en-US" altLang="it-IT" sz="2000" b="0" dirty="0">
                <a:solidFill>
                  <a:srgbClr val="000000"/>
                </a:solidFill>
                <a:latin typeface="Gill Sans" panose="020B0502020104020203" pitchFamily="34" charset="-79"/>
                <a:cs typeface="Gill Sans" panose="020B0502020104020203" pitchFamily="34" charset="-79"/>
              </a:rPr>
              <a:t>(r)	=	density at r</a:t>
            </a:r>
            <a:endParaRPr lang="el-GR" altLang="it-IT" sz="2000" b="0" dirty="0">
              <a:solidFill>
                <a:srgbClr val="000000"/>
              </a:solidFill>
              <a:latin typeface="Tahoma" panose="020B0604030504040204" pitchFamily="34" charset="0"/>
              <a:cs typeface="Gill Sans" panose="020B0502020104020203" pitchFamily="34" charset="-79"/>
            </a:endParaRPr>
          </a:p>
          <a:p>
            <a:pPr algn="just" eaLnBrk="1" hangingPunct="1">
              <a:spcBef>
                <a:spcPct val="0"/>
              </a:spcBef>
              <a:buFontTx/>
              <a:buNone/>
            </a:pPr>
            <a:endParaRPr lang="en-US" altLang="it-IT" sz="20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In modern models mass M is used as the dependent variable rather than radial distance r, but at this level is more intuitive to study the stellar interiors using the geometrical variable r.</a:t>
            </a:r>
          </a:p>
        </p:txBody>
      </p:sp>
      <p:sp>
        <p:nvSpPr>
          <p:cNvPr id="49154" name="Titolo 2">
            <a:extLst>
              <a:ext uri="{FF2B5EF4-FFF2-40B4-BE49-F238E27FC236}">
                <a16:creationId xmlns:a16="http://schemas.microsoft.com/office/drawing/2014/main" id="{AFA68675-D20A-A341-9E48-7E2F0D8DE79E}"/>
              </a:ext>
            </a:extLst>
          </p:cNvPr>
          <p:cNvSpPr>
            <a:spLocks noGrp="1" noChangeArrowheads="1"/>
          </p:cNvSpPr>
          <p:nvPr>
            <p:ph type="title"/>
          </p:nvPr>
        </p:nvSpPr>
        <p:spPr/>
        <p:txBody>
          <a:bodyPr>
            <a:normAutofit fontScale="90000"/>
          </a:bodyPr>
          <a:lstStyle/>
          <a:p>
            <a:r>
              <a:rPr lang="en-US" altLang="it-IT">
                <a:solidFill>
                  <a:srgbClr val="FF0000"/>
                </a:solidFill>
                <a:ea typeface="ＭＳ Ｐゴシック" panose="020B0600070205080204" pitchFamily="34" charset="-128"/>
              </a:rPr>
              <a:t>Equation of a Static Stellar Structure </a:t>
            </a:r>
            <a:endParaRPr lang="en-GB" altLang="it-IT">
              <a:ea typeface="ＭＳ Ｐゴシック" panose="020B0600070205080204" pitchFamily="34" charset="-128"/>
            </a:endParaRPr>
          </a:p>
        </p:txBody>
      </p:sp>
    </p:spTree>
    <p:extLst>
      <p:ext uri="{BB962C8B-B14F-4D97-AF65-F5344CB8AC3E}">
        <p14:creationId xmlns:p14="http://schemas.microsoft.com/office/powerpoint/2010/main" val="1419035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AB09A0E1-7567-0B46-BB59-DCAD71FF68C2}"/>
              </a:ext>
            </a:extLst>
          </p:cNvPr>
          <p:cNvSpPr>
            <a:spLocks noChangeArrowheads="1"/>
          </p:cNvSpPr>
          <p:nvPr/>
        </p:nvSpPr>
        <p:spPr bwMode="auto">
          <a:xfrm>
            <a:off x="152400" y="965200"/>
            <a:ext cx="87630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har char="•"/>
              <a:tabLst>
                <a:tab pos="914400" algn="l"/>
                <a:tab pos="1371600" algn="l"/>
                <a:tab pos="2062163" algn="l"/>
                <a:tab pos="2397125" algn="l"/>
                <a:tab pos="5029200" algn="l"/>
                <a:tab pos="5486400" algn="l"/>
                <a:tab pos="6176963" algn="l"/>
                <a:tab pos="6511925" algn="l"/>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914400" algn="l"/>
                <a:tab pos="1371600" algn="l"/>
                <a:tab pos="2062163" algn="l"/>
                <a:tab pos="2397125" algn="l"/>
                <a:tab pos="5029200" algn="l"/>
                <a:tab pos="5486400" algn="l"/>
                <a:tab pos="6176963" algn="l"/>
                <a:tab pos="6511925" algn="l"/>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914400" algn="l"/>
                <a:tab pos="1371600" algn="l"/>
                <a:tab pos="2062163" algn="l"/>
                <a:tab pos="2397125" algn="l"/>
                <a:tab pos="5029200" algn="l"/>
                <a:tab pos="5486400" algn="l"/>
                <a:tab pos="6176963" algn="l"/>
                <a:tab pos="6511925"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914400" algn="l"/>
                <a:tab pos="1371600" algn="l"/>
                <a:tab pos="2062163" algn="l"/>
                <a:tab pos="2397125" algn="l"/>
                <a:tab pos="5029200" algn="l"/>
                <a:tab pos="5486400" algn="l"/>
                <a:tab pos="6176963" algn="l"/>
                <a:tab pos="6511925" algn="l"/>
              </a:tabLst>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At the </a:t>
            </a:r>
            <a:r>
              <a:rPr lang="en-US" altLang="ja-JP" sz="2000" b="0" dirty="0">
                <a:solidFill>
                  <a:srgbClr val="000000"/>
                </a:solidFill>
                <a:latin typeface="Gill Sans" panose="020B0502020104020203" pitchFamily="34" charset="-79"/>
                <a:cs typeface="Gill Sans" panose="020B0502020104020203" pitchFamily="34" charset="-79"/>
              </a:rPr>
              <a:t>boundaries of the star the corresponding values are:</a:t>
            </a:r>
          </a:p>
          <a:p>
            <a:pPr algn="just" eaLnBrk="1" hangingPunct="1">
              <a:spcBef>
                <a:spcPct val="0"/>
              </a:spcBef>
              <a:buFontTx/>
              <a:buNone/>
            </a:pPr>
            <a:endParaRPr lang="en-US" altLang="it-IT" sz="20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At the </a:t>
            </a:r>
            <a:r>
              <a:rPr lang="en-US" altLang="it-IT" sz="2000" b="0" dirty="0" err="1">
                <a:solidFill>
                  <a:srgbClr val="000000"/>
                </a:solidFill>
                <a:latin typeface="Gill Sans" panose="020B0502020104020203" pitchFamily="34" charset="-79"/>
                <a:cs typeface="Gill Sans" panose="020B0502020104020203" pitchFamily="34" charset="-79"/>
              </a:rPr>
              <a:t>centre</a:t>
            </a:r>
            <a:r>
              <a:rPr lang="en-US" altLang="it-IT" sz="2000" b="0" dirty="0">
                <a:solidFill>
                  <a:srgbClr val="000000"/>
                </a:solidFill>
                <a:latin typeface="Gill Sans" panose="020B0502020104020203" pitchFamily="34" charset="-79"/>
                <a:cs typeface="Gill Sans" panose="020B0502020104020203" pitchFamily="34" charset="-79"/>
              </a:rPr>
              <a:t>:		At the surface:</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r	=	0		r	=	R</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M(r)	=	0	 M(r)	=	M</a:t>
            </a:r>
            <a:r>
              <a:rPr lang="en-US" altLang="it-IT" sz="2000" b="0" baseline="-25000" dirty="0">
                <a:solidFill>
                  <a:srgbClr val="000000"/>
                </a:solidFill>
                <a:latin typeface="Gill Sans" panose="020B0502020104020203" pitchFamily="34" charset="-79"/>
                <a:cs typeface="Gill Sans" panose="020B0502020104020203" pitchFamily="34" charset="-79"/>
              </a:rPr>
              <a:t>*</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T(r)	=	T</a:t>
            </a:r>
            <a:r>
              <a:rPr lang="en-US" altLang="it-IT" sz="2000" b="0" baseline="-25000" dirty="0">
                <a:solidFill>
                  <a:srgbClr val="000000"/>
                </a:solidFill>
                <a:latin typeface="Gill Sans" panose="020B0502020104020203" pitchFamily="34" charset="-79"/>
                <a:cs typeface="Gill Sans" panose="020B0502020104020203" pitchFamily="34" charset="-79"/>
              </a:rPr>
              <a:t>c</a:t>
            </a:r>
            <a:r>
              <a:rPr lang="en-US" altLang="it-IT" sz="2000" b="0" dirty="0">
                <a:solidFill>
                  <a:srgbClr val="000000"/>
                </a:solidFill>
                <a:latin typeface="Gill Sans" panose="020B0502020104020203" pitchFamily="34" charset="-79"/>
                <a:cs typeface="Gill Sans" panose="020B0502020104020203" pitchFamily="34" charset="-79"/>
              </a:rPr>
              <a:t>	 T(r)	=	0 (or </a:t>
            </a:r>
            <a:r>
              <a:rPr lang="en-US" altLang="it-IT" sz="2000" b="0" dirty="0" err="1">
                <a:solidFill>
                  <a:srgbClr val="000000"/>
                </a:solidFill>
                <a:latin typeface="Gill Sans" panose="020B0502020104020203" pitchFamily="34" charset="-79"/>
                <a:cs typeface="Gill Sans" panose="020B0502020104020203" pitchFamily="34" charset="-79"/>
              </a:rPr>
              <a:t>T</a:t>
            </a:r>
            <a:r>
              <a:rPr lang="en-US" altLang="it-IT" sz="2000" b="0" baseline="-25000" dirty="0" err="1">
                <a:solidFill>
                  <a:srgbClr val="000000"/>
                </a:solidFill>
                <a:latin typeface="Gill Sans" panose="020B0502020104020203" pitchFamily="34" charset="-79"/>
                <a:cs typeface="Gill Sans" panose="020B0502020104020203" pitchFamily="34" charset="-79"/>
              </a:rPr>
              <a:t>eff</a:t>
            </a:r>
            <a:r>
              <a:rPr lang="en-US" altLang="it-IT" sz="2000" b="0" dirty="0">
                <a:solidFill>
                  <a:srgbClr val="000000"/>
                </a:solidFill>
                <a:latin typeface="Gill Sans" panose="020B0502020104020203" pitchFamily="34" charset="-79"/>
                <a:cs typeface="Gill Sans" panose="020B0502020104020203" pitchFamily="34" charset="-79"/>
              </a:rPr>
              <a:t>)</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P(r)	=	P</a:t>
            </a:r>
            <a:r>
              <a:rPr lang="en-US" altLang="it-IT" sz="2000" b="0" baseline="-25000" dirty="0">
                <a:solidFill>
                  <a:srgbClr val="000000"/>
                </a:solidFill>
                <a:latin typeface="Gill Sans" panose="020B0502020104020203" pitchFamily="34" charset="-79"/>
                <a:cs typeface="Gill Sans" panose="020B0502020104020203" pitchFamily="34" charset="-79"/>
              </a:rPr>
              <a:t>c</a:t>
            </a:r>
            <a:r>
              <a:rPr lang="en-US" altLang="it-IT" sz="2000" b="0" dirty="0">
                <a:solidFill>
                  <a:srgbClr val="000000"/>
                </a:solidFill>
                <a:latin typeface="Gill Sans" panose="020B0502020104020203" pitchFamily="34" charset="-79"/>
                <a:cs typeface="Gill Sans" panose="020B0502020104020203" pitchFamily="34" charset="-79"/>
              </a:rPr>
              <a:t>	 P(r)	=	0</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L(r)	=	</a:t>
            </a:r>
            <a:r>
              <a:rPr lang="en-US" altLang="it-IT" sz="2000" b="0" dirty="0" err="1">
                <a:solidFill>
                  <a:srgbClr val="000000"/>
                </a:solidFill>
                <a:latin typeface="Gill Sans" panose="020B0502020104020203" pitchFamily="34" charset="-79"/>
                <a:cs typeface="Gill Sans" panose="020B0502020104020203" pitchFamily="34" charset="-79"/>
              </a:rPr>
              <a:t>L</a:t>
            </a:r>
            <a:r>
              <a:rPr lang="en-US" altLang="it-IT" sz="2000" b="0" baseline="-25000" dirty="0" err="1">
                <a:solidFill>
                  <a:srgbClr val="000000"/>
                </a:solidFill>
                <a:latin typeface="Gill Sans" panose="020B0502020104020203" pitchFamily="34" charset="-79"/>
                <a:cs typeface="Gill Sans" panose="020B0502020104020203" pitchFamily="34" charset="-79"/>
              </a:rPr>
              <a:t>c</a:t>
            </a:r>
            <a:r>
              <a:rPr lang="en-US" altLang="it-IT" sz="2000" b="0" dirty="0">
                <a:solidFill>
                  <a:srgbClr val="000000"/>
                </a:solidFill>
                <a:latin typeface="Gill Sans" panose="020B0502020104020203" pitchFamily="34" charset="-79"/>
                <a:cs typeface="Gill Sans" panose="020B0502020104020203" pitchFamily="34" charset="-79"/>
              </a:rPr>
              <a:t>	 L(r)	=	L</a:t>
            </a:r>
            <a:r>
              <a:rPr lang="en-US" altLang="it-IT" sz="2000" b="0" baseline="-25000" dirty="0">
                <a:solidFill>
                  <a:srgbClr val="000000"/>
                </a:solidFill>
                <a:latin typeface="Gill Sans" panose="020B0502020104020203" pitchFamily="34" charset="-79"/>
                <a:cs typeface="Gill Sans" panose="020B0502020104020203" pitchFamily="34" charset="-79"/>
              </a:rPr>
              <a:t>*</a:t>
            </a:r>
          </a:p>
          <a:p>
            <a:pPr algn="just" eaLnBrk="1" hangingPunct="1">
              <a:lnSpc>
                <a:spcPct val="135000"/>
              </a:lnSpc>
              <a:spcBef>
                <a:spcPct val="0"/>
              </a:spcBef>
              <a:buFontTx/>
              <a:buNone/>
            </a:pPr>
            <a:r>
              <a:rPr lang="en-US" altLang="it-IT" sz="2000" b="0" dirty="0">
                <a:solidFill>
                  <a:srgbClr val="000000"/>
                </a:solidFill>
                <a:latin typeface="Gill Sans" panose="020B0502020104020203" pitchFamily="34" charset="-79"/>
                <a:cs typeface="Gill Sans" panose="020B0502020104020203" pitchFamily="34" charset="-79"/>
              </a:rPr>
              <a:t>		</a:t>
            </a:r>
            <a:r>
              <a:rPr lang="el-GR" altLang="it-IT" sz="2000" b="0" dirty="0">
                <a:solidFill>
                  <a:srgbClr val="000000"/>
                </a:solidFill>
                <a:latin typeface="Tahoma" panose="020B0604030504040204" pitchFamily="34" charset="0"/>
                <a:cs typeface="Gill Sans" panose="020B0502020104020203" pitchFamily="34" charset="-79"/>
              </a:rPr>
              <a:t>ρ</a:t>
            </a:r>
            <a:r>
              <a:rPr lang="en-US" altLang="it-IT" sz="2000" b="0" dirty="0">
                <a:solidFill>
                  <a:srgbClr val="000000"/>
                </a:solidFill>
                <a:latin typeface="Gill Sans" panose="020B0502020104020203" pitchFamily="34" charset="-79"/>
                <a:cs typeface="Gill Sans" panose="020B0502020104020203" pitchFamily="34" charset="-79"/>
              </a:rPr>
              <a:t>(r)	=	</a:t>
            </a:r>
            <a:r>
              <a:rPr lang="el-GR" altLang="it-IT" sz="2000" b="0" dirty="0">
                <a:solidFill>
                  <a:srgbClr val="000000"/>
                </a:solidFill>
                <a:latin typeface="Tahoma" panose="020B0604030504040204" pitchFamily="34" charset="0"/>
                <a:cs typeface="Gill Sans" panose="020B0502020104020203" pitchFamily="34" charset="-79"/>
              </a:rPr>
              <a:t>ρ</a:t>
            </a:r>
            <a:r>
              <a:rPr lang="en-US" altLang="it-IT" sz="2000" b="0" baseline="-25000" dirty="0">
                <a:solidFill>
                  <a:srgbClr val="000000"/>
                </a:solidFill>
                <a:latin typeface="Gill Sans" panose="020B0502020104020203" pitchFamily="34" charset="-79"/>
                <a:cs typeface="Gill Sans" panose="020B0502020104020203" pitchFamily="34" charset="-79"/>
              </a:rPr>
              <a:t>c</a:t>
            </a:r>
            <a:r>
              <a:rPr lang="en-US" altLang="it-IT" sz="2000" b="0" dirty="0">
                <a:solidFill>
                  <a:srgbClr val="000000"/>
                </a:solidFill>
                <a:latin typeface="Gill Sans" panose="020B0502020104020203" pitchFamily="34" charset="-79"/>
                <a:cs typeface="Gill Sans" panose="020B0502020104020203" pitchFamily="34" charset="-79"/>
              </a:rPr>
              <a:t>	 </a:t>
            </a:r>
            <a:r>
              <a:rPr lang="el-GR" altLang="it-IT" sz="2000" b="0" dirty="0">
                <a:solidFill>
                  <a:srgbClr val="000000"/>
                </a:solidFill>
                <a:latin typeface="Tahoma" panose="020B0604030504040204" pitchFamily="34" charset="0"/>
                <a:cs typeface="Gill Sans" panose="020B0502020104020203" pitchFamily="34" charset="-79"/>
              </a:rPr>
              <a:t>ρ</a:t>
            </a:r>
            <a:r>
              <a:rPr lang="en-US" altLang="it-IT" sz="2000" b="0" dirty="0">
                <a:solidFill>
                  <a:srgbClr val="000000"/>
                </a:solidFill>
                <a:latin typeface="Gill Sans" panose="020B0502020104020203" pitchFamily="34" charset="-79"/>
                <a:cs typeface="Gill Sans" panose="020B0502020104020203" pitchFamily="34" charset="-79"/>
              </a:rPr>
              <a:t>(r)	=	0</a:t>
            </a:r>
            <a:endParaRPr lang="el-GR" altLang="it-IT" sz="2000" b="0" dirty="0">
              <a:solidFill>
                <a:srgbClr val="000000"/>
              </a:solidFill>
              <a:latin typeface="Tahoma" panose="020B0604030504040204" pitchFamily="34" charset="0"/>
              <a:cs typeface="Gill Sans" panose="020B0502020104020203" pitchFamily="34" charset="-79"/>
            </a:endParaRPr>
          </a:p>
          <a:p>
            <a:pPr algn="just" eaLnBrk="1" hangingPunct="1">
              <a:spcBef>
                <a:spcPct val="0"/>
              </a:spcBef>
              <a:buFontTx/>
              <a:buNone/>
            </a:pPr>
            <a:endParaRPr lang="en-US" altLang="it-IT" sz="1800" b="0" dirty="0">
              <a:solidFill>
                <a:srgbClr val="000000"/>
              </a:solidFill>
              <a:latin typeface="Gill Sans" panose="020B0502020104020203" pitchFamily="34" charset="-79"/>
              <a:cs typeface="Gill Sans" panose="020B0502020104020203" pitchFamily="34" charset="-79"/>
            </a:endParaRPr>
          </a:p>
          <a:p>
            <a:pPr algn="just" eaLnBrk="1" hangingPunct="1">
              <a:spcBef>
                <a:spcPct val="0"/>
              </a:spcBef>
              <a:buFontTx/>
              <a:buNone/>
            </a:pPr>
            <a:r>
              <a:rPr lang="en-US" altLang="it-IT" sz="1800" b="0" dirty="0">
                <a:solidFill>
                  <a:srgbClr val="000000"/>
                </a:solidFill>
                <a:latin typeface="Gill Sans" panose="020B0502020104020203" pitchFamily="34" charset="-79"/>
                <a:cs typeface="Gill Sans" panose="020B0502020104020203" pitchFamily="34" charset="-79"/>
              </a:rPr>
              <a:t>Note: Rotation and magnetic fields are usually ignored in most models (i.e. spherical symmetry is imposed), as well as any temporal changes (i.e. radial pulsation).</a:t>
            </a:r>
          </a:p>
          <a:p>
            <a:pPr algn="just" eaLnBrk="1" hangingPunct="1">
              <a:spcBef>
                <a:spcPct val="0"/>
              </a:spcBef>
              <a:buFontTx/>
              <a:buNone/>
            </a:pPr>
            <a:endParaRPr lang="en-US" altLang="it-IT" sz="2000" b="0" dirty="0">
              <a:solidFill>
                <a:srgbClr val="000000"/>
              </a:solidFill>
              <a:latin typeface="Gill Sans" panose="020B0502020104020203" pitchFamily="34" charset="-79"/>
              <a:cs typeface="Gill Sans" panose="020B0502020104020203" pitchFamily="34" charset="-79"/>
            </a:endParaRPr>
          </a:p>
        </p:txBody>
      </p:sp>
      <p:sp>
        <p:nvSpPr>
          <p:cNvPr id="50178" name="Titolo 1">
            <a:extLst>
              <a:ext uri="{FF2B5EF4-FFF2-40B4-BE49-F238E27FC236}">
                <a16:creationId xmlns:a16="http://schemas.microsoft.com/office/drawing/2014/main" id="{AC11A83C-BCAD-3B48-9E7D-EB67B3054CB0}"/>
              </a:ext>
            </a:extLst>
          </p:cNvPr>
          <p:cNvSpPr txBox="1">
            <a:spLocks/>
          </p:cNvSpPr>
          <p:nvPr/>
        </p:nvSpPr>
        <p:spPr bwMode="auto">
          <a:xfrm>
            <a:off x="457200" y="274638"/>
            <a:ext cx="82296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it-IT" sz="2000" b="0">
                <a:solidFill>
                  <a:srgbClr val="FF0000"/>
                </a:solidFill>
                <a:latin typeface="Gill Sans" panose="020B0502020104020203" pitchFamily="34" charset="-79"/>
                <a:cs typeface="Gill Sans" panose="020B0502020104020203" pitchFamily="34" charset="-79"/>
              </a:rPr>
              <a:t>Equation of a Static Stellar Structure </a:t>
            </a:r>
          </a:p>
        </p:txBody>
      </p:sp>
    </p:spTree>
    <p:extLst>
      <p:ext uri="{BB962C8B-B14F-4D97-AF65-F5344CB8AC3E}">
        <p14:creationId xmlns:p14="http://schemas.microsoft.com/office/powerpoint/2010/main" val="3594352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ChangeArrowheads="1"/>
          </p:cNvSpPr>
          <p:nvPr/>
        </p:nvSpPr>
        <p:spPr bwMode="auto">
          <a:xfrm>
            <a:off x="152400" y="152400"/>
            <a:ext cx="8763000" cy="640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algn="ctr">
              <a:lnSpc>
                <a:spcPct val="80000"/>
              </a:lnSpc>
              <a:tabLst>
                <a:tab pos="5029200" algn="l"/>
              </a:tabLst>
              <a:defRPr/>
            </a:pPr>
            <a:r>
              <a:rPr lang="en-GB" sz="2400" b="0" dirty="0">
                <a:solidFill>
                  <a:srgbClr val="FF0000"/>
                </a:solidFill>
              </a:rPr>
              <a:t>Stellar Models</a:t>
            </a:r>
            <a:endParaRPr lang="en-US" sz="2400" b="0" dirty="0">
              <a:solidFill>
                <a:srgbClr val="FF0000"/>
              </a:solidFill>
            </a:endParaRPr>
          </a:p>
          <a:p>
            <a:pPr>
              <a:tabLst>
                <a:tab pos="5029200" algn="l"/>
              </a:tabLst>
              <a:defRPr/>
            </a:pPr>
            <a:endParaRPr lang="en-US" sz="1800" dirty="0">
              <a:solidFill>
                <a:schemeClr val="accent4"/>
              </a:solidFill>
            </a:endParaRPr>
          </a:p>
          <a:p>
            <a:pPr algn="just">
              <a:tabLst>
                <a:tab pos="5029200" algn="l"/>
              </a:tabLst>
              <a:defRPr/>
            </a:pPr>
            <a:endParaRPr lang="en-US" sz="1800" dirty="0">
              <a:solidFill>
                <a:schemeClr val="accent4"/>
              </a:solidFill>
            </a:endParaRPr>
          </a:p>
        </p:txBody>
      </p:sp>
      <p:pic>
        <p:nvPicPr>
          <p:cNvPr id="143362" name="Picture 3" descr="Figure 10"/>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a:stretch>
            <a:fillRect/>
          </a:stretch>
        </p:blipFill>
        <p:spPr bwMode="auto">
          <a:xfrm>
            <a:off x="5092700" y="952500"/>
            <a:ext cx="3903663" cy="3259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3971" name="Rectangle 4"/>
          <p:cNvSpPr>
            <a:spLocks noChangeArrowheads="1"/>
          </p:cNvSpPr>
          <p:nvPr/>
        </p:nvSpPr>
        <p:spPr bwMode="auto">
          <a:xfrm>
            <a:off x="101600" y="749300"/>
            <a:ext cx="4953000" cy="327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algn="just">
              <a:tabLst>
                <a:tab pos="5029200" algn="l"/>
              </a:tabLst>
              <a:defRPr/>
            </a:pPr>
            <a:r>
              <a:rPr lang="en-US" sz="1800" b="0" dirty="0">
                <a:solidFill>
                  <a:srgbClr val="000000"/>
                </a:solidFill>
                <a:latin typeface="+mj-lt"/>
              </a:rPr>
              <a:t>Models are constructed numerically using the differential equations as difference equations. They are also rearranged so that the dependent variable is mass rather than radius.</a:t>
            </a:r>
          </a:p>
          <a:p>
            <a:pPr algn="just">
              <a:tabLst>
                <a:tab pos="5029200" algn="l"/>
              </a:tabLst>
              <a:defRPr/>
            </a:pPr>
            <a:endParaRPr lang="en-US" dirty="0">
              <a:solidFill>
                <a:srgbClr val="000000"/>
              </a:solidFill>
              <a:latin typeface="+mj-lt"/>
            </a:endParaRPr>
          </a:p>
          <a:p>
            <a:pPr algn="just">
              <a:tabLst>
                <a:tab pos="5029200" algn="l"/>
              </a:tabLst>
              <a:defRPr/>
            </a:pPr>
            <a:r>
              <a:rPr lang="en-US" sz="1800" b="0" dirty="0">
                <a:solidFill>
                  <a:srgbClr val="000000"/>
                </a:solidFill>
                <a:latin typeface="+mj-lt"/>
              </a:rPr>
              <a:t>Models are then denoted by the number of mass cells they contain. Spherical symmetry is also assumed, although that assumption is relaxed in more recent models.</a:t>
            </a:r>
          </a:p>
        </p:txBody>
      </p:sp>
    </p:spTree>
    <p:extLst>
      <p:ext uri="{BB962C8B-B14F-4D97-AF65-F5344CB8AC3E}">
        <p14:creationId xmlns:p14="http://schemas.microsoft.com/office/powerpoint/2010/main" val="342279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Picture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55650"/>
            <a:ext cx="8610600" cy="5391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2" name="Titolo 1"/>
          <p:cNvSpPr>
            <a:spLocks noGrp="1"/>
          </p:cNvSpPr>
          <p:nvPr>
            <p:ph type="title"/>
          </p:nvPr>
        </p:nvSpPr>
        <p:spPr>
          <a:xfrm>
            <a:off x="457200" y="274638"/>
            <a:ext cx="8229600" cy="481012"/>
          </a:xfrm>
        </p:spPr>
        <p:txBody>
          <a:bodyPr>
            <a:noAutofit/>
          </a:bodyPr>
          <a:lstStyle/>
          <a:p>
            <a:r>
              <a:rPr lang="en-GB" sz="2800" dirty="0">
                <a:solidFill>
                  <a:srgbClr val="FF0000"/>
                </a:solidFill>
              </a:rPr>
              <a:t>Stellar Models</a:t>
            </a:r>
            <a:br>
              <a:rPr lang="en-US" sz="2800" dirty="0">
                <a:solidFill>
                  <a:srgbClr val="FF0000"/>
                </a:solidFill>
              </a:rPr>
            </a:br>
            <a:endParaRPr lang="en-US" sz="2800" dirty="0"/>
          </a:p>
        </p:txBody>
      </p:sp>
    </p:spTree>
    <p:extLst>
      <p:ext uri="{BB962C8B-B14F-4D97-AF65-F5344CB8AC3E}">
        <p14:creationId xmlns:p14="http://schemas.microsoft.com/office/powerpoint/2010/main" val="423269613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ChangeArrowheads="1"/>
          </p:cNvSpPr>
          <p:nvPr>
            <p:ph type="title"/>
          </p:nvPr>
        </p:nvSpPr>
        <p:spPr>
          <a:xfrm>
            <a:off x="457200" y="274638"/>
            <a:ext cx="8229600" cy="344487"/>
          </a:xfrm>
        </p:spPr>
        <p:txBody>
          <a:bodyPr>
            <a:noAutofit/>
          </a:bodyPr>
          <a:lstStyle/>
          <a:p>
            <a:pPr eaLnBrk="1" hangingPunct="1"/>
            <a:r>
              <a:rPr lang="en-US" sz="2400" dirty="0">
                <a:solidFill>
                  <a:srgbClr val="FF0000"/>
                </a:solidFill>
                <a:latin typeface="Tahoma" charset="0"/>
                <a:ea typeface="ＭＳ Ｐゴシック" charset="0"/>
                <a:cs typeface="ＭＳ Ｐゴシック" charset="0"/>
              </a:rPr>
              <a:t>Il </a:t>
            </a:r>
            <a:r>
              <a:rPr lang="en-US" sz="2400" dirty="0" err="1">
                <a:solidFill>
                  <a:srgbClr val="FF0000"/>
                </a:solidFill>
                <a:latin typeface="Tahoma" charset="0"/>
                <a:ea typeface="ＭＳ Ｐゴシック" charset="0"/>
                <a:cs typeface="ＭＳ Ｐゴシック" charset="0"/>
              </a:rPr>
              <a:t>Modello</a:t>
            </a:r>
            <a:r>
              <a:rPr lang="en-US" sz="2400" dirty="0">
                <a:solidFill>
                  <a:srgbClr val="FF0000"/>
                </a:solidFill>
                <a:latin typeface="Tahoma" charset="0"/>
                <a:ea typeface="ＭＳ Ｐゴシック" charset="0"/>
                <a:cs typeface="ＭＳ Ｐゴシック" charset="0"/>
              </a:rPr>
              <a:t> </a:t>
            </a:r>
            <a:r>
              <a:rPr lang="en-US" sz="2400" dirty="0" err="1">
                <a:solidFill>
                  <a:srgbClr val="FF0000"/>
                </a:solidFill>
                <a:latin typeface="Tahoma" charset="0"/>
                <a:ea typeface="ＭＳ Ｐゴシック" charset="0"/>
                <a:cs typeface="ＭＳ Ｐゴシック" charset="0"/>
              </a:rPr>
              <a:t>Solare</a:t>
            </a:r>
            <a:endParaRPr lang="en-US" sz="2400" dirty="0">
              <a:solidFill>
                <a:srgbClr val="FF0000"/>
              </a:solidFill>
              <a:latin typeface="Tahoma" charset="0"/>
              <a:ea typeface="ＭＳ Ｐゴシック" charset="0"/>
              <a:cs typeface="ＭＳ Ｐゴシック" charset="0"/>
            </a:endParaRPr>
          </a:p>
        </p:txBody>
      </p:sp>
      <p:pic>
        <p:nvPicPr>
          <p:cNvPr id="86019" name="Picture 4"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287" y="1116909"/>
            <a:ext cx="7060025" cy="52149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CasellaDiTesto 3">
            <a:extLst>
              <a:ext uri="{FF2B5EF4-FFF2-40B4-BE49-F238E27FC236}">
                <a16:creationId xmlns:a16="http://schemas.microsoft.com/office/drawing/2014/main" id="{CBBE0133-AC09-9447-9494-F74EF2C900A3}"/>
              </a:ext>
            </a:extLst>
          </p:cNvPr>
          <p:cNvSpPr txBox="1"/>
          <p:nvPr/>
        </p:nvSpPr>
        <p:spPr>
          <a:xfrm>
            <a:off x="3631095" y="747577"/>
            <a:ext cx="2794804" cy="369332"/>
          </a:xfrm>
          <a:prstGeom prst="rect">
            <a:avLst/>
          </a:prstGeom>
          <a:noFill/>
        </p:spPr>
        <p:txBody>
          <a:bodyPr wrap="none" rtlCol="0">
            <a:spAutoFit/>
          </a:bodyPr>
          <a:lstStyle/>
          <a:p>
            <a:r>
              <a:rPr lang="en-GB" dirty="0"/>
              <a:t>(Temperature and Pressure)</a:t>
            </a:r>
          </a:p>
        </p:txBody>
      </p:sp>
    </p:spTree>
    <p:extLst>
      <p:ext uri="{BB962C8B-B14F-4D97-AF65-F5344CB8AC3E}">
        <p14:creationId xmlns:p14="http://schemas.microsoft.com/office/powerpoint/2010/main" val="1692264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Figure 11">
            <a:extLst>
              <a:ext uri="{FF2B5EF4-FFF2-40B4-BE49-F238E27FC236}">
                <a16:creationId xmlns:a16="http://schemas.microsoft.com/office/drawing/2014/main" id="{09A1AFEC-EAA5-F34E-BFDF-69A0A9CD2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950" y="1202635"/>
            <a:ext cx="6504100" cy="4668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a:extLst>
              <a:ext uri="{FF2B5EF4-FFF2-40B4-BE49-F238E27FC236}">
                <a16:creationId xmlns:a16="http://schemas.microsoft.com/office/drawing/2014/main" id="{CC85CB63-0CC1-644D-8559-8DFCE466399D}"/>
              </a:ext>
            </a:extLst>
          </p:cNvPr>
          <p:cNvSpPr>
            <a:spLocks noGrp="1" noChangeArrowheads="1"/>
          </p:cNvSpPr>
          <p:nvPr>
            <p:ph type="title"/>
          </p:nvPr>
        </p:nvSpPr>
        <p:spPr>
          <a:xfrm>
            <a:off x="457200" y="274638"/>
            <a:ext cx="8229600" cy="344487"/>
          </a:xfrm>
        </p:spPr>
        <p:txBody>
          <a:bodyPr>
            <a:noAutofit/>
          </a:bodyPr>
          <a:lstStyle/>
          <a:p>
            <a:pPr eaLnBrk="1" hangingPunct="1"/>
            <a:r>
              <a:rPr lang="en-US" sz="2400" dirty="0">
                <a:solidFill>
                  <a:srgbClr val="FF0000"/>
                </a:solidFill>
                <a:latin typeface="Tahoma" charset="0"/>
                <a:ea typeface="ＭＳ Ｐゴシック" charset="0"/>
                <a:cs typeface="ＭＳ Ｐゴシック" charset="0"/>
              </a:rPr>
              <a:t>Il </a:t>
            </a:r>
            <a:r>
              <a:rPr lang="en-US" sz="2400" dirty="0" err="1">
                <a:solidFill>
                  <a:srgbClr val="FF0000"/>
                </a:solidFill>
                <a:latin typeface="Tahoma" charset="0"/>
                <a:ea typeface="ＭＳ Ｐゴシック" charset="0"/>
                <a:cs typeface="ＭＳ Ｐゴシック" charset="0"/>
              </a:rPr>
              <a:t>Modello</a:t>
            </a:r>
            <a:r>
              <a:rPr lang="en-US" sz="2400" dirty="0">
                <a:solidFill>
                  <a:srgbClr val="FF0000"/>
                </a:solidFill>
                <a:latin typeface="Tahoma" charset="0"/>
                <a:ea typeface="ＭＳ Ｐゴシック" charset="0"/>
                <a:cs typeface="ＭＳ Ｐゴシック" charset="0"/>
              </a:rPr>
              <a:t> </a:t>
            </a:r>
            <a:r>
              <a:rPr lang="en-US" sz="2400" dirty="0" err="1">
                <a:solidFill>
                  <a:srgbClr val="FF0000"/>
                </a:solidFill>
                <a:latin typeface="Tahoma" charset="0"/>
                <a:ea typeface="ＭＳ Ｐゴシック" charset="0"/>
                <a:cs typeface="ＭＳ Ｐゴシック" charset="0"/>
              </a:rPr>
              <a:t>Solare</a:t>
            </a:r>
            <a:endParaRPr lang="en-US" sz="2400" dirty="0">
              <a:solidFill>
                <a:srgbClr val="FF0000"/>
              </a:solidFill>
              <a:latin typeface="Tahoma" charset="0"/>
              <a:ea typeface="ＭＳ Ｐゴシック" charset="0"/>
              <a:cs typeface="ＭＳ Ｐゴシック" charset="0"/>
            </a:endParaRPr>
          </a:p>
        </p:txBody>
      </p:sp>
      <p:sp>
        <p:nvSpPr>
          <p:cNvPr id="6" name="CasellaDiTesto 5">
            <a:extLst>
              <a:ext uri="{FF2B5EF4-FFF2-40B4-BE49-F238E27FC236}">
                <a16:creationId xmlns:a16="http://schemas.microsoft.com/office/drawing/2014/main" id="{60AECFAD-5B70-8341-A53C-B864AC6A82A2}"/>
              </a:ext>
            </a:extLst>
          </p:cNvPr>
          <p:cNvSpPr txBox="1"/>
          <p:nvPr/>
        </p:nvSpPr>
        <p:spPr>
          <a:xfrm>
            <a:off x="3583588" y="726214"/>
            <a:ext cx="1976823" cy="369332"/>
          </a:xfrm>
          <a:prstGeom prst="rect">
            <a:avLst/>
          </a:prstGeom>
          <a:noFill/>
        </p:spPr>
        <p:txBody>
          <a:bodyPr wrap="none" rtlCol="0">
            <a:spAutoFit/>
          </a:bodyPr>
          <a:lstStyle/>
          <a:p>
            <a:r>
              <a:rPr lang="en-GB" dirty="0"/>
              <a:t>(Density and Mass)</a:t>
            </a:r>
          </a:p>
        </p:txBody>
      </p:sp>
    </p:spTree>
    <p:extLst>
      <p:ext uri="{BB962C8B-B14F-4D97-AF65-F5344CB8AC3E}">
        <p14:creationId xmlns:p14="http://schemas.microsoft.com/office/powerpoint/2010/main" val="923636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457200" y="274638"/>
            <a:ext cx="8229600" cy="545187"/>
          </a:xfrm>
        </p:spPr>
        <p:txBody>
          <a:bodyPr/>
          <a:lstStyle/>
          <a:p>
            <a:pPr eaLnBrk="1" hangingPunct="1"/>
            <a:r>
              <a:rPr lang="en-US" sz="1800" dirty="0" err="1">
                <a:solidFill>
                  <a:srgbClr val="FF0000"/>
                </a:solidFill>
                <a:latin typeface="Tahoma" charset="0"/>
                <a:ea typeface="ＭＳ Ｐゴシック" charset="0"/>
                <a:cs typeface="ＭＳ Ｐゴシック" charset="0"/>
              </a:rPr>
              <a:t>Distribuzione</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della</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Luminosità</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prodotta</a:t>
            </a:r>
            <a:endParaRPr lang="en-US" sz="1800" dirty="0">
              <a:solidFill>
                <a:srgbClr val="FF0000"/>
              </a:solidFill>
              <a:latin typeface="Tahoma" charset="0"/>
              <a:ea typeface="ＭＳ Ｐゴシック" charset="0"/>
              <a:cs typeface="ＭＳ Ｐゴシック" charset="0"/>
            </a:endParaRPr>
          </a:p>
        </p:txBody>
      </p:sp>
      <p:pic>
        <p:nvPicPr>
          <p:cNvPr id="91138" name="Picture 5"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0019" y="1185173"/>
            <a:ext cx="6303962" cy="464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1139" name="Text Box 7"/>
          <p:cNvSpPr txBox="1">
            <a:spLocks noChangeArrowheads="1"/>
          </p:cNvSpPr>
          <p:nvPr/>
        </p:nvSpPr>
        <p:spPr bwMode="auto">
          <a:xfrm>
            <a:off x="2363788" y="5921375"/>
            <a:ext cx="39735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charset="0"/>
                <a:ea typeface="ＭＳ Ｐゴシック" charset="0"/>
                <a:cs typeface="ＭＳ Ｐゴシック" charset="0"/>
              </a:defRPr>
            </a:lvl1pPr>
            <a:lvl2pPr marL="742950" indent="-285750" eaLnBrk="0" hangingPunct="0">
              <a:defRPr sz="2000" b="1">
                <a:solidFill>
                  <a:schemeClr val="tx1"/>
                </a:solidFill>
                <a:latin typeface="Arial" charset="0"/>
                <a:ea typeface="ＭＳ Ｐゴシック" charset="0"/>
              </a:defRPr>
            </a:lvl2pPr>
            <a:lvl3pPr marL="1143000" indent="-228600" eaLnBrk="0" hangingPunct="0">
              <a:defRPr sz="2000" b="1">
                <a:solidFill>
                  <a:schemeClr val="tx1"/>
                </a:solidFill>
                <a:latin typeface="Arial" charset="0"/>
                <a:ea typeface="ＭＳ Ｐゴシック" charset="0"/>
              </a:defRPr>
            </a:lvl3pPr>
            <a:lvl4pPr marL="1600200" indent="-228600" eaLnBrk="0" hangingPunct="0">
              <a:defRPr sz="2000" b="1">
                <a:solidFill>
                  <a:schemeClr val="tx1"/>
                </a:solidFill>
                <a:latin typeface="Arial" charset="0"/>
                <a:ea typeface="ＭＳ Ｐゴシック" charset="0"/>
              </a:defRPr>
            </a:lvl4pPr>
            <a:lvl5pPr marL="2057400" indent="-228600" eaLnBrk="0" hangingPunct="0">
              <a:defRPr sz="2000" b="1">
                <a:solidFill>
                  <a:schemeClr val="tx1"/>
                </a:solidFill>
                <a:latin typeface="Arial" charset="0"/>
                <a:ea typeface="ＭＳ Ｐゴシック" charset="0"/>
              </a:defRPr>
            </a:lvl5pPr>
            <a:lvl6pPr marL="2514600" indent="-228600" eaLnBrk="0" fontAlgn="base" hangingPunct="0">
              <a:spcBef>
                <a:spcPct val="0"/>
              </a:spcBef>
              <a:spcAft>
                <a:spcPct val="0"/>
              </a:spcAft>
              <a:defRPr sz="2000" b="1">
                <a:solidFill>
                  <a:schemeClr val="tx1"/>
                </a:solidFill>
                <a:latin typeface="Arial" charset="0"/>
                <a:ea typeface="ＭＳ Ｐゴシック" charset="0"/>
              </a:defRPr>
            </a:lvl6pPr>
            <a:lvl7pPr marL="2971800" indent="-228600" eaLnBrk="0" fontAlgn="base" hangingPunct="0">
              <a:spcBef>
                <a:spcPct val="0"/>
              </a:spcBef>
              <a:spcAft>
                <a:spcPct val="0"/>
              </a:spcAft>
              <a:defRPr sz="2000" b="1">
                <a:solidFill>
                  <a:schemeClr val="tx1"/>
                </a:solidFill>
                <a:latin typeface="Arial" charset="0"/>
                <a:ea typeface="ＭＳ Ｐゴシック" charset="0"/>
              </a:defRPr>
            </a:lvl7pPr>
            <a:lvl8pPr marL="3429000" indent="-228600" eaLnBrk="0" fontAlgn="base" hangingPunct="0">
              <a:spcBef>
                <a:spcPct val="0"/>
              </a:spcBef>
              <a:spcAft>
                <a:spcPct val="0"/>
              </a:spcAft>
              <a:defRPr sz="2000" b="1">
                <a:solidFill>
                  <a:schemeClr val="tx1"/>
                </a:solidFill>
                <a:latin typeface="Arial" charset="0"/>
                <a:ea typeface="ＭＳ Ｐゴシック" charset="0"/>
              </a:defRPr>
            </a:lvl8pPr>
            <a:lvl9pPr marL="3886200" indent="-228600" eaLnBrk="0" fontAlgn="base" hangingPunct="0">
              <a:spcBef>
                <a:spcPct val="0"/>
              </a:spcBef>
              <a:spcAft>
                <a:spcPct val="0"/>
              </a:spcAft>
              <a:defRPr sz="2000" b="1">
                <a:solidFill>
                  <a:schemeClr val="tx1"/>
                </a:solidFill>
                <a:latin typeface="Arial" charset="0"/>
                <a:ea typeface="ＭＳ Ｐゴシック" charset="0"/>
              </a:defRPr>
            </a:lvl9pPr>
          </a:lstStyle>
          <a:p>
            <a:pPr eaLnBrk="1" hangingPunct="1"/>
            <a:r>
              <a:rPr lang="en-US"/>
              <a:t>Il massimo si ha intorno a 0.1 R</a:t>
            </a:r>
          </a:p>
        </p:txBody>
      </p:sp>
      <p:sp>
        <p:nvSpPr>
          <p:cNvPr id="2" name="CasellaDiTesto 1">
            <a:extLst>
              <a:ext uri="{FF2B5EF4-FFF2-40B4-BE49-F238E27FC236}">
                <a16:creationId xmlns:a16="http://schemas.microsoft.com/office/drawing/2014/main" id="{04A45A25-4F70-B145-A3F7-67DC59707869}"/>
              </a:ext>
            </a:extLst>
          </p:cNvPr>
          <p:cNvSpPr txBox="1"/>
          <p:nvPr/>
        </p:nvSpPr>
        <p:spPr>
          <a:xfrm>
            <a:off x="4028661" y="815841"/>
            <a:ext cx="1350050" cy="369332"/>
          </a:xfrm>
          <a:prstGeom prst="rect">
            <a:avLst/>
          </a:prstGeom>
          <a:noFill/>
        </p:spPr>
        <p:txBody>
          <a:bodyPr wrap="none" rtlCol="0">
            <a:spAutoFit/>
          </a:bodyPr>
          <a:lstStyle/>
          <a:p>
            <a:r>
              <a:rPr lang="en-GB" dirty="0"/>
              <a:t>(Luminosity)</a:t>
            </a:r>
          </a:p>
        </p:txBody>
      </p:sp>
    </p:spTree>
    <p:extLst>
      <p:ext uri="{BB962C8B-B14F-4D97-AF65-F5344CB8AC3E}">
        <p14:creationId xmlns:p14="http://schemas.microsoft.com/office/powerpoint/2010/main" val="1034063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p:txBody>
          <a:bodyPr/>
          <a:lstStyle/>
          <a:p>
            <a:pPr eaLnBrk="1" hangingPunct="1"/>
            <a:r>
              <a:rPr lang="en-US" sz="1800" dirty="0" err="1">
                <a:solidFill>
                  <a:srgbClr val="FF0000"/>
                </a:solidFill>
                <a:latin typeface="Tahoma" charset="0"/>
                <a:ea typeface="ＭＳ Ｐゴシック" charset="0"/>
                <a:cs typeface="ＭＳ Ｐゴシック" charset="0"/>
              </a:rPr>
              <a:t>Distribuzione</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degli</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elementi</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nel</a:t>
            </a:r>
            <a:r>
              <a:rPr lang="en-US" sz="1800" dirty="0">
                <a:solidFill>
                  <a:srgbClr val="FF0000"/>
                </a:solidFill>
                <a:latin typeface="Tahoma" charset="0"/>
                <a:ea typeface="ＭＳ Ｐゴシック" charset="0"/>
                <a:cs typeface="ＭＳ Ｐゴシック" charset="0"/>
              </a:rPr>
              <a:t> Sole</a:t>
            </a:r>
          </a:p>
        </p:txBody>
      </p:sp>
      <p:pic>
        <p:nvPicPr>
          <p:cNvPr id="89090" name="Picture 5"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488" y="1330325"/>
            <a:ext cx="6804025" cy="5527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091" name="Line 7"/>
          <p:cNvSpPr>
            <a:spLocks noChangeShapeType="1"/>
          </p:cNvSpPr>
          <p:nvPr/>
        </p:nvSpPr>
        <p:spPr bwMode="auto">
          <a:xfrm flipH="1">
            <a:off x="3743325" y="1454150"/>
            <a:ext cx="15875" cy="47418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Tree>
    <p:extLst>
      <p:ext uri="{BB962C8B-B14F-4D97-AF65-F5344CB8AC3E}">
        <p14:creationId xmlns:p14="http://schemas.microsoft.com/office/powerpoint/2010/main" val="2102445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a:xfrm>
            <a:off x="457200" y="274638"/>
            <a:ext cx="8229600" cy="849312"/>
          </a:xfrm>
        </p:spPr>
        <p:txBody>
          <a:bodyPr/>
          <a:lstStyle/>
          <a:p>
            <a:pPr eaLnBrk="1" hangingPunct="1"/>
            <a:r>
              <a:rPr lang="en-US" sz="1800" dirty="0" err="1">
                <a:solidFill>
                  <a:srgbClr val="FF0000"/>
                </a:solidFill>
                <a:latin typeface="Tahoma" charset="0"/>
                <a:ea typeface="ＭＳ Ｐゴシック" charset="0"/>
                <a:cs typeface="ＭＳ Ｐゴシック" charset="0"/>
              </a:rPr>
              <a:t>Osservazione</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Diretta</a:t>
            </a:r>
            <a:r>
              <a:rPr lang="en-US" sz="1800" dirty="0">
                <a:solidFill>
                  <a:srgbClr val="FF0000"/>
                </a:solidFill>
                <a:latin typeface="Tahoma" charset="0"/>
                <a:ea typeface="ＭＳ Ｐゴシック" charset="0"/>
                <a:cs typeface="ＭＳ Ｐゴシック" charset="0"/>
              </a:rPr>
              <a:t> del Core </a:t>
            </a:r>
            <a:r>
              <a:rPr lang="en-US" sz="1800" dirty="0" err="1">
                <a:solidFill>
                  <a:srgbClr val="FF0000"/>
                </a:solidFill>
                <a:latin typeface="Tahoma" charset="0"/>
                <a:ea typeface="ＭＳ Ｐゴシック" charset="0"/>
                <a:cs typeface="ＭＳ Ｐゴシック" charset="0"/>
              </a:rPr>
              <a:t>Solare</a:t>
            </a:r>
            <a:r>
              <a:rPr lang="en-US" sz="1800" dirty="0">
                <a:solidFill>
                  <a:srgbClr val="FF0000"/>
                </a:solidFill>
                <a:latin typeface="Tahoma" charset="0"/>
                <a:ea typeface="ＭＳ Ｐゴシック" charset="0"/>
                <a:cs typeface="ＭＳ Ｐゴシック" charset="0"/>
              </a:rPr>
              <a:t>: I </a:t>
            </a:r>
            <a:r>
              <a:rPr lang="en-US" sz="1800" dirty="0" err="1">
                <a:solidFill>
                  <a:srgbClr val="FF0000"/>
                </a:solidFill>
                <a:latin typeface="Tahoma" charset="0"/>
                <a:ea typeface="ＭＳ Ｐゴシック" charset="0"/>
                <a:cs typeface="ＭＳ Ｐゴシック" charset="0"/>
              </a:rPr>
              <a:t>neutrini</a:t>
            </a:r>
            <a:endParaRPr lang="en-US" sz="1800" dirty="0">
              <a:solidFill>
                <a:srgbClr val="FF0000"/>
              </a:solidFill>
              <a:latin typeface="Tahoma" charset="0"/>
              <a:ea typeface="ＭＳ Ｐゴシック" charset="0"/>
              <a:cs typeface="ＭＳ Ｐゴシック" charset="0"/>
            </a:endParaRPr>
          </a:p>
        </p:txBody>
      </p:sp>
      <p:sp>
        <p:nvSpPr>
          <p:cNvPr id="3" name="CasellaDiTesto 2"/>
          <p:cNvSpPr txBox="1"/>
          <p:nvPr/>
        </p:nvSpPr>
        <p:spPr>
          <a:xfrm>
            <a:off x="284922" y="903344"/>
            <a:ext cx="8703630" cy="5139869"/>
          </a:xfrm>
          <a:prstGeom prst="rect">
            <a:avLst/>
          </a:prstGeom>
          <a:noFill/>
        </p:spPr>
        <p:txBody>
          <a:bodyPr wrap="square" rtlCol="0">
            <a:spAutoFit/>
          </a:bodyPr>
          <a:lstStyle/>
          <a:p>
            <a:r>
              <a:rPr lang="it-IT" b="0" dirty="0"/>
              <a:t>Abbiamo visto che nel Sole la principale fonte di energia è data dalla catena </a:t>
            </a:r>
            <a:r>
              <a:rPr lang="it-IT" b="0" dirty="0" err="1"/>
              <a:t>p</a:t>
            </a:r>
            <a:r>
              <a:rPr lang="it-IT" b="0" dirty="0"/>
              <a:t>-p. </a:t>
            </a:r>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dirty="0"/>
          </a:p>
          <a:p>
            <a:r>
              <a:rPr lang="it-IT" sz="1800" b="0" dirty="0"/>
              <a:t>L’energia media dei neutrini solari è &lt;1 MeV (= 1.6 x 10</a:t>
            </a:r>
            <a:r>
              <a:rPr lang="it-IT" sz="1800" b="0" baseline="30000" dirty="0"/>
              <a:t>-13</a:t>
            </a:r>
            <a:r>
              <a:rPr lang="it-IT" sz="1800" b="0" dirty="0"/>
              <a:t> </a:t>
            </a:r>
            <a:r>
              <a:rPr lang="it-IT" sz="1800" b="0" dirty="0" err="1"/>
              <a:t>J</a:t>
            </a:r>
            <a:r>
              <a:rPr lang="it-IT" sz="1800" b="0" dirty="0"/>
              <a:t>) </a:t>
            </a:r>
            <a:r>
              <a:rPr lang="it-IT" sz="1800" b="0" dirty="0" err="1"/>
              <a:t>around</a:t>
            </a:r>
            <a:r>
              <a:rPr lang="it-IT" sz="1800" b="0" dirty="0"/>
              <a:t> 0.2 MeV. </a:t>
            </a:r>
          </a:p>
          <a:p>
            <a:r>
              <a:rPr lang="it-IT" sz="1800" b="0" dirty="0"/>
              <a:t>La sezione d’urto per lo </a:t>
            </a:r>
            <a:r>
              <a:rPr lang="it-IT" sz="1800" b="0" dirty="0" err="1"/>
              <a:t>scattering</a:t>
            </a:r>
            <a:r>
              <a:rPr lang="it-IT" sz="1800" b="0" dirty="0"/>
              <a:t> dei neutrini con la materia è dell’ordine di 10</a:t>
            </a:r>
            <a:r>
              <a:rPr lang="it-IT" sz="1800" b="0" baseline="30000" dirty="0"/>
              <a:t>-44 </a:t>
            </a:r>
            <a:r>
              <a:rPr lang="it-IT" sz="1800" b="0" dirty="0"/>
              <a:t>cm</a:t>
            </a:r>
            <a:r>
              <a:rPr lang="it-IT" sz="1800" b="0" baseline="30000" dirty="0"/>
              <a:t>2</a:t>
            </a:r>
            <a:r>
              <a:rPr lang="it-IT" sz="1800" b="0" dirty="0"/>
              <a:t> e quindi il cammino libero medio di un neutrino è:  </a:t>
            </a:r>
          </a:p>
          <a:p>
            <a:endParaRPr lang="it-IT" b="0" dirty="0"/>
          </a:p>
          <a:p>
            <a:endParaRPr lang="it-IT" b="0" dirty="0"/>
          </a:p>
          <a:p>
            <a:endParaRPr lang="it-IT" b="0" dirty="0"/>
          </a:p>
          <a:p>
            <a:r>
              <a:rPr lang="it-IT" sz="1400" b="0" dirty="0"/>
              <a:t>Quindi i neutrini sfuggono dal Sole senza interagire [                                     ]</a:t>
            </a:r>
          </a:p>
        </p:txBody>
      </p:sp>
      <p:pic>
        <p:nvPicPr>
          <p:cNvPr id="4" name="Immagine 3"/>
          <p:cNvPicPr>
            <a:picLocks noChangeAspect="1"/>
          </p:cNvPicPr>
          <p:nvPr/>
        </p:nvPicPr>
        <p:blipFill rotWithShape="1">
          <a:blip r:embed="rId2"/>
          <a:srcRect t="3163"/>
          <a:stretch/>
        </p:blipFill>
        <p:spPr>
          <a:xfrm>
            <a:off x="284922" y="1674759"/>
            <a:ext cx="4027177" cy="2183240"/>
          </a:xfrm>
          <a:prstGeom prst="rect">
            <a:avLst/>
          </a:prstGeom>
        </p:spPr>
      </p:pic>
      <p:pic>
        <p:nvPicPr>
          <p:cNvPr id="5" name="Immagine 4"/>
          <p:cNvPicPr>
            <a:picLocks noChangeAspect="1"/>
          </p:cNvPicPr>
          <p:nvPr/>
        </p:nvPicPr>
        <p:blipFill>
          <a:blip r:embed="rId3"/>
          <a:stretch>
            <a:fillRect/>
          </a:stretch>
        </p:blipFill>
        <p:spPr>
          <a:xfrm>
            <a:off x="1302422" y="5183241"/>
            <a:ext cx="6290631" cy="606481"/>
          </a:xfrm>
          <a:prstGeom prst="rect">
            <a:avLst/>
          </a:prstGeom>
        </p:spPr>
      </p:pic>
      <p:pic>
        <p:nvPicPr>
          <p:cNvPr id="6" name="Immagine 5"/>
          <p:cNvPicPr>
            <a:picLocks noChangeAspect="1"/>
          </p:cNvPicPr>
          <p:nvPr/>
        </p:nvPicPr>
        <p:blipFill>
          <a:blip r:embed="rId4"/>
          <a:stretch>
            <a:fillRect/>
          </a:stretch>
        </p:blipFill>
        <p:spPr>
          <a:xfrm>
            <a:off x="4572000" y="5745285"/>
            <a:ext cx="1680070" cy="209371"/>
          </a:xfrm>
          <a:prstGeom prst="rect">
            <a:avLst/>
          </a:prstGeom>
        </p:spPr>
      </p:pic>
      <p:pic>
        <p:nvPicPr>
          <p:cNvPr id="7" name="Immagine 6">
            <a:extLst>
              <a:ext uri="{FF2B5EF4-FFF2-40B4-BE49-F238E27FC236}">
                <a16:creationId xmlns:a16="http://schemas.microsoft.com/office/drawing/2014/main" id="{8F3531AE-5B6C-D547-8CE5-0DFB3E3D688D}"/>
              </a:ext>
            </a:extLst>
          </p:cNvPr>
          <p:cNvPicPr>
            <a:picLocks noChangeAspect="1"/>
          </p:cNvPicPr>
          <p:nvPr/>
        </p:nvPicPr>
        <p:blipFill>
          <a:blip r:embed="rId5"/>
          <a:stretch>
            <a:fillRect/>
          </a:stretch>
        </p:blipFill>
        <p:spPr>
          <a:xfrm>
            <a:off x="4447738" y="1573132"/>
            <a:ext cx="2723144" cy="2097987"/>
          </a:xfrm>
          <a:prstGeom prst="rect">
            <a:avLst/>
          </a:prstGeom>
        </p:spPr>
      </p:pic>
    </p:spTree>
    <p:extLst>
      <p:ext uri="{BB962C8B-B14F-4D97-AF65-F5344CB8AC3E}">
        <p14:creationId xmlns:p14="http://schemas.microsoft.com/office/powerpoint/2010/main" val="2144773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a:xfrm>
            <a:off x="457200" y="274638"/>
            <a:ext cx="8229600" cy="849312"/>
          </a:xfrm>
        </p:spPr>
        <p:txBody>
          <a:bodyPr/>
          <a:lstStyle/>
          <a:p>
            <a:pPr eaLnBrk="1" hangingPunct="1"/>
            <a:r>
              <a:rPr lang="en-US" sz="1800" dirty="0" err="1">
                <a:solidFill>
                  <a:srgbClr val="FF0000"/>
                </a:solidFill>
                <a:latin typeface="Tahoma" charset="0"/>
                <a:ea typeface="ＭＳ Ｐゴシック" charset="0"/>
                <a:cs typeface="ＭＳ Ｐゴシック" charset="0"/>
              </a:rPr>
              <a:t>Osservazione</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Diretta</a:t>
            </a:r>
            <a:r>
              <a:rPr lang="en-US" sz="1800" dirty="0">
                <a:solidFill>
                  <a:srgbClr val="FF0000"/>
                </a:solidFill>
                <a:latin typeface="Tahoma" charset="0"/>
                <a:ea typeface="ＭＳ Ｐゴシック" charset="0"/>
                <a:cs typeface="ＭＳ Ｐゴシック" charset="0"/>
              </a:rPr>
              <a:t> del Core </a:t>
            </a:r>
            <a:r>
              <a:rPr lang="en-US" sz="1800" dirty="0" err="1">
                <a:solidFill>
                  <a:srgbClr val="FF0000"/>
                </a:solidFill>
                <a:latin typeface="Tahoma" charset="0"/>
                <a:ea typeface="ＭＳ Ｐゴシック" charset="0"/>
                <a:cs typeface="ＭＳ Ｐゴシック" charset="0"/>
              </a:rPr>
              <a:t>Solare</a:t>
            </a:r>
            <a:r>
              <a:rPr lang="en-US" sz="1800" dirty="0">
                <a:solidFill>
                  <a:srgbClr val="FF0000"/>
                </a:solidFill>
                <a:latin typeface="Tahoma" charset="0"/>
                <a:ea typeface="ＭＳ Ｐゴシック" charset="0"/>
                <a:cs typeface="ＭＳ Ｐゴシック" charset="0"/>
              </a:rPr>
              <a:t>: I </a:t>
            </a:r>
            <a:r>
              <a:rPr lang="en-US" sz="1800" dirty="0" err="1">
                <a:solidFill>
                  <a:srgbClr val="FF0000"/>
                </a:solidFill>
                <a:latin typeface="Tahoma" charset="0"/>
                <a:ea typeface="ＭＳ Ｐゴシック" charset="0"/>
                <a:cs typeface="ＭＳ Ｐゴシック" charset="0"/>
              </a:rPr>
              <a:t>neutrini</a:t>
            </a:r>
            <a:endParaRPr lang="en-US" sz="1800" dirty="0">
              <a:solidFill>
                <a:srgbClr val="FF0000"/>
              </a:solidFill>
              <a:latin typeface="Tahoma" charset="0"/>
              <a:ea typeface="ＭＳ Ｐゴシック" charset="0"/>
              <a:cs typeface="ＭＳ Ｐゴシック" charset="0"/>
            </a:endParaRPr>
          </a:p>
        </p:txBody>
      </p:sp>
      <p:sp>
        <p:nvSpPr>
          <p:cNvPr id="3" name="CasellaDiTesto 2"/>
          <p:cNvSpPr txBox="1"/>
          <p:nvPr/>
        </p:nvSpPr>
        <p:spPr>
          <a:xfrm>
            <a:off x="637953" y="903344"/>
            <a:ext cx="8263675" cy="5940088"/>
          </a:xfrm>
          <a:prstGeom prst="rect">
            <a:avLst/>
          </a:prstGeom>
          <a:noFill/>
        </p:spPr>
        <p:txBody>
          <a:bodyPr wrap="square" rtlCol="0">
            <a:spAutoFit/>
          </a:bodyPr>
          <a:lstStyle/>
          <a:p>
            <a:r>
              <a:rPr lang="it-IT" b="0" dirty="0"/>
              <a:t>Il flusso totale di neutrini previsto sulla Terra può essere stimato considerando che la reazione </a:t>
            </a:r>
          </a:p>
          <a:p>
            <a:endParaRPr lang="it-IT" b="0" dirty="0"/>
          </a:p>
          <a:p>
            <a:endParaRPr lang="it-IT" b="0" dirty="0"/>
          </a:p>
          <a:p>
            <a:r>
              <a:rPr lang="it-IT" b="0" dirty="0"/>
              <a:t>Produce un’energia </a:t>
            </a:r>
            <a:r>
              <a:rPr lang="it-IT" b="0" dirty="0" err="1"/>
              <a:t>E</a:t>
            </a:r>
            <a:r>
              <a:rPr lang="it-IT" b="0" baseline="-25000" dirty="0" err="1"/>
              <a:t>pp</a:t>
            </a:r>
            <a:r>
              <a:rPr lang="it-IT" b="0" dirty="0"/>
              <a:t>~ 26 </a:t>
            </a:r>
            <a:r>
              <a:rPr lang="it-IT" b="0" dirty="0" err="1"/>
              <a:t>MeV</a:t>
            </a:r>
            <a:r>
              <a:rPr lang="it-IT" b="0" dirty="0"/>
              <a:t>.  Quindi il flusso di neutrini è:</a:t>
            </a:r>
          </a:p>
          <a:p>
            <a:endParaRPr lang="it-IT" b="0" dirty="0"/>
          </a:p>
          <a:p>
            <a:endParaRPr lang="it-IT" b="0" dirty="0"/>
          </a:p>
          <a:p>
            <a:endParaRPr lang="it-IT" b="0" dirty="0"/>
          </a:p>
          <a:p>
            <a:r>
              <a:rPr lang="it-IT" b="0" dirty="0"/>
              <a:t>Con: </a:t>
            </a:r>
          </a:p>
          <a:p>
            <a:endParaRPr lang="it-IT" b="0" dirty="0"/>
          </a:p>
          <a:p>
            <a:endParaRPr lang="it-IT" b="0" dirty="0"/>
          </a:p>
          <a:p>
            <a:endParaRPr lang="it-IT" b="0" dirty="0"/>
          </a:p>
          <a:p>
            <a:endParaRPr lang="it-IT" b="0" dirty="0"/>
          </a:p>
          <a:p>
            <a:endParaRPr lang="it-IT" b="0" dirty="0"/>
          </a:p>
          <a:p>
            <a:endParaRPr lang="it-IT" b="0" dirty="0"/>
          </a:p>
          <a:p>
            <a:r>
              <a:rPr lang="it-IT" b="0" dirty="0"/>
              <a:t>Si ottiene:</a:t>
            </a:r>
          </a:p>
          <a:p>
            <a:endParaRPr lang="it-IT" b="0" dirty="0"/>
          </a:p>
          <a:p>
            <a:endParaRPr lang="it-IT" b="0" dirty="0"/>
          </a:p>
          <a:p>
            <a:endParaRPr lang="it-IT" b="0" dirty="0"/>
          </a:p>
        </p:txBody>
      </p:sp>
      <p:pic>
        <p:nvPicPr>
          <p:cNvPr id="8" name="Immagine 7"/>
          <p:cNvPicPr>
            <a:picLocks noChangeAspect="1"/>
          </p:cNvPicPr>
          <p:nvPr/>
        </p:nvPicPr>
        <p:blipFill>
          <a:blip r:embed="rId2"/>
          <a:stretch>
            <a:fillRect/>
          </a:stretch>
        </p:blipFill>
        <p:spPr>
          <a:xfrm>
            <a:off x="2816876" y="1571006"/>
            <a:ext cx="3110199" cy="363300"/>
          </a:xfrm>
          <a:prstGeom prst="rect">
            <a:avLst/>
          </a:prstGeom>
        </p:spPr>
      </p:pic>
      <p:pic>
        <p:nvPicPr>
          <p:cNvPr id="9" name="Immagine 8"/>
          <p:cNvPicPr>
            <a:picLocks noChangeAspect="1"/>
          </p:cNvPicPr>
          <p:nvPr/>
        </p:nvPicPr>
        <p:blipFill>
          <a:blip r:embed="rId3"/>
          <a:stretch>
            <a:fillRect/>
          </a:stretch>
        </p:blipFill>
        <p:spPr>
          <a:xfrm>
            <a:off x="2816876" y="2541377"/>
            <a:ext cx="2425088" cy="609817"/>
          </a:xfrm>
          <a:prstGeom prst="rect">
            <a:avLst/>
          </a:prstGeom>
        </p:spPr>
      </p:pic>
      <p:pic>
        <p:nvPicPr>
          <p:cNvPr id="10" name="Immagine 9"/>
          <p:cNvPicPr>
            <a:picLocks noChangeAspect="1"/>
          </p:cNvPicPr>
          <p:nvPr/>
        </p:nvPicPr>
        <p:blipFill>
          <a:blip r:embed="rId4"/>
          <a:stretch>
            <a:fillRect/>
          </a:stretch>
        </p:blipFill>
        <p:spPr>
          <a:xfrm>
            <a:off x="704055" y="3646373"/>
            <a:ext cx="2229003" cy="281197"/>
          </a:xfrm>
          <a:prstGeom prst="rect">
            <a:avLst/>
          </a:prstGeom>
        </p:spPr>
      </p:pic>
      <p:pic>
        <p:nvPicPr>
          <p:cNvPr id="11" name="Immagine 10"/>
          <p:cNvPicPr>
            <a:picLocks noChangeAspect="1"/>
          </p:cNvPicPr>
          <p:nvPr/>
        </p:nvPicPr>
        <p:blipFill>
          <a:blip r:embed="rId5"/>
          <a:stretch>
            <a:fillRect/>
          </a:stretch>
        </p:blipFill>
        <p:spPr>
          <a:xfrm>
            <a:off x="704055" y="4119495"/>
            <a:ext cx="2545921" cy="303254"/>
          </a:xfrm>
          <a:prstGeom prst="rect">
            <a:avLst/>
          </a:prstGeom>
        </p:spPr>
      </p:pic>
      <p:pic>
        <p:nvPicPr>
          <p:cNvPr id="12" name="Immagine 11"/>
          <p:cNvPicPr>
            <a:picLocks noChangeAspect="1"/>
          </p:cNvPicPr>
          <p:nvPr/>
        </p:nvPicPr>
        <p:blipFill>
          <a:blip r:embed="rId6"/>
          <a:stretch>
            <a:fillRect/>
          </a:stretch>
        </p:blipFill>
        <p:spPr>
          <a:xfrm>
            <a:off x="704055" y="4481049"/>
            <a:ext cx="1962028" cy="246878"/>
          </a:xfrm>
          <a:prstGeom prst="rect">
            <a:avLst/>
          </a:prstGeom>
        </p:spPr>
      </p:pic>
      <p:pic>
        <p:nvPicPr>
          <p:cNvPr id="13" name="Immagine 12"/>
          <p:cNvPicPr>
            <a:picLocks noChangeAspect="1"/>
          </p:cNvPicPr>
          <p:nvPr/>
        </p:nvPicPr>
        <p:blipFill>
          <a:blip r:embed="rId7"/>
          <a:stretch>
            <a:fillRect/>
          </a:stretch>
        </p:blipFill>
        <p:spPr>
          <a:xfrm>
            <a:off x="2666083" y="5525947"/>
            <a:ext cx="3013114" cy="538931"/>
          </a:xfrm>
          <a:prstGeom prst="rect">
            <a:avLst/>
          </a:prstGeom>
        </p:spPr>
      </p:pic>
    </p:spTree>
    <p:extLst>
      <p:ext uri="{BB962C8B-B14F-4D97-AF65-F5344CB8AC3E}">
        <p14:creationId xmlns:p14="http://schemas.microsoft.com/office/powerpoint/2010/main" val="451576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a:xfrm>
            <a:off x="457200" y="274638"/>
            <a:ext cx="8229600" cy="849312"/>
          </a:xfrm>
        </p:spPr>
        <p:txBody>
          <a:bodyPr/>
          <a:lstStyle/>
          <a:p>
            <a:pPr eaLnBrk="1" hangingPunct="1"/>
            <a:r>
              <a:rPr lang="en-US" sz="1800" dirty="0" err="1">
                <a:solidFill>
                  <a:srgbClr val="FF0000"/>
                </a:solidFill>
                <a:latin typeface="Tahoma" charset="0"/>
                <a:ea typeface="ＭＳ Ｐゴシック" charset="0"/>
                <a:cs typeface="ＭＳ Ｐゴシック" charset="0"/>
              </a:rPr>
              <a:t>Osservazione</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Diretta</a:t>
            </a:r>
            <a:r>
              <a:rPr lang="en-US" sz="1800" dirty="0">
                <a:solidFill>
                  <a:srgbClr val="FF0000"/>
                </a:solidFill>
                <a:latin typeface="Tahoma" charset="0"/>
                <a:ea typeface="ＭＳ Ｐゴシック" charset="0"/>
                <a:cs typeface="ＭＳ Ｐゴシック" charset="0"/>
              </a:rPr>
              <a:t> del Core </a:t>
            </a:r>
            <a:r>
              <a:rPr lang="en-US" sz="1800" dirty="0" err="1">
                <a:solidFill>
                  <a:srgbClr val="FF0000"/>
                </a:solidFill>
                <a:latin typeface="Tahoma" charset="0"/>
                <a:ea typeface="ＭＳ Ｐゴシック" charset="0"/>
                <a:cs typeface="ＭＳ Ｐゴシック" charset="0"/>
              </a:rPr>
              <a:t>Solare</a:t>
            </a:r>
            <a:r>
              <a:rPr lang="en-US" sz="1800" dirty="0">
                <a:solidFill>
                  <a:srgbClr val="FF0000"/>
                </a:solidFill>
                <a:latin typeface="Tahoma" charset="0"/>
                <a:ea typeface="ＭＳ Ｐゴシック" charset="0"/>
                <a:cs typeface="ＭＳ Ｐゴシック" charset="0"/>
              </a:rPr>
              <a:t>: I </a:t>
            </a:r>
            <a:r>
              <a:rPr lang="en-US" sz="1800" dirty="0" err="1">
                <a:solidFill>
                  <a:srgbClr val="FF0000"/>
                </a:solidFill>
                <a:latin typeface="Tahoma" charset="0"/>
                <a:ea typeface="ＭＳ Ｐゴシック" charset="0"/>
                <a:cs typeface="ＭＳ Ｐゴシック" charset="0"/>
              </a:rPr>
              <a:t>neutrini</a:t>
            </a:r>
            <a:endParaRPr lang="en-US" sz="1800" dirty="0">
              <a:solidFill>
                <a:srgbClr val="FF0000"/>
              </a:solidFill>
              <a:latin typeface="Tahoma" charset="0"/>
              <a:ea typeface="ＭＳ Ｐゴシック" charset="0"/>
              <a:cs typeface="ＭＳ Ｐゴシック" charset="0"/>
            </a:endParaRPr>
          </a:p>
        </p:txBody>
      </p:sp>
      <p:sp>
        <p:nvSpPr>
          <p:cNvPr id="3" name="CasellaDiTesto 2"/>
          <p:cNvSpPr txBox="1"/>
          <p:nvPr/>
        </p:nvSpPr>
        <p:spPr>
          <a:xfrm>
            <a:off x="637954" y="929849"/>
            <a:ext cx="8048846" cy="5632311"/>
          </a:xfrm>
          <a:prstGeom prst="rect">
            <a:avLst/>
          </a:prstGeom>
          <a:noFill/>
        </p:spPr>
        <p:txBody>
          <a:bodyPr wrap="square" rtlCol="0">
            <a:spAutoFit/>
          </a:bodyPr>
          <a:lstStyle/>
          <a:p>
            <a:r>
              <a:rPr lang="it-IT" b="0" dirty="0"/>
              <a:t>Una stima accurata del flusso totale di neutrini previsto sulla Terra è:  </a:t>
            </a:r>
          </a:p>
          <a:p>
            <a:endParaRPr lang="it-IT" b="0" dirty="0"/>
          </a:p>
          <a:p>
            <a:r>
              <a:rPr lang="it-IT" b="0" dirty="0"/>
              <a:t>spettro atteso è:</a:t>
            </a:r>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dirty="0"/>
          </a:p>
          <a:p>
            <a:endParaRPr lang="it-IT" b="0"/>
          </a:p>
          <a:p>
            <a:r>
              <a:rPr lang="it-IT" b="0" dirty="0"/>
              <a:t>Difficili da rivelare. La rate di interazione  (pur dipendente dal tipo di materia bersaglio) è dell’ordine di 10</a:t>
            </a:r>
            <a:r>
              <a:rPr lang="it-IT" b="0" baseline="30000" dirty="0"/>
              <a:t>-4</a:t>
            </a:r>
            <a:r>
              <a:rPr lang="it-IT" b="0" dirty="0"/>
              <a:t> interazioni al secondo per 1000 kg di materia! </a:t>
            </a:r>
          </a:p>
        </p:txBody>
      </p:sp>
      <p:pic>
        <p:nvPicPr>
          <p:cNvPr id="2" name="Immagine 1"/>
          <p:cNvPicPr>
            <a:picLocks noChangeAspect="1"/>
          </p:cNvPicPr>
          <p:nvPr/>
        </p:nvPicPr>
        <p:blipFill>
          <a:blip r:embed="rId2"/>
          <a:stretch>
            <a:fillRect/>
          </a:stretch>
        </p:blipFill>
        <p:spPr>
          <a:xfrm>
            <a:off x="3712296" y="1520319"/>
            <a:ext cx="2376201" cy="425012"/>
          </a:xfrm>
          <a:prstGeom prst="rect">
            <a:avLst/>
          </a:prstGeom>
        </p:spPr>
      </p:pic>
      <p:pic>
        <p:nvPicPr>
          <p:cNvPr id="5" name="Immagine 4"/>
          <p:cNvPicPr>
            <a:picLocks noChangeAspect="1"/>
          </p:cNvPicPr>
          <p:nvPr/>
        </p:nvPicPr>
        <p:blipFill>
          <a:blip r:embed="rId3"/>
          <a:stretch>
            <a:fillRect/>
          </a:stretch>
        </p:blipFill>
        <p:spPr>
          <a:xfrm>
            <a:off x="4321800" y="2112112"/>
            <a:ext cx="4044987" cy="3225569"/>
          </a:xfrm>
          <a:prstGeom prst="rect">
            <a:avLst/>
          </a:prstGeom>
        </p:spPr>
      </p:pic>
      <p:pic>
        <p:nvPicPr>
          <p:cNvPr id="8" name="Immagine 7">
            <a:extLst>
              <a:ext uri="{FF2B5EF4-FFF2-40B4-BE49-F238E27FC236}">
                <a16:creationId xmlns:a16="http://schemas.microsoft.com/office/drawing/2014/main" id="{6B0CD9EE-2B95-374B-B72A-19EB9C2BC5B0}"/>
              </a:ext>
            </a:extLst>
          </p:cNvPr>
          <p:cNvPicPr>
            <a:picLocks noChangeAspect="1"/>
          </p:cNvPicPr>
          <p:nvPr/>
        </p:nvPicPr>
        <p:blipFill rotWithShape="1">
          <a:blip r:embed="rId4"/>
          <a:srcRect t="4257" b="12609"/>
          <a:stretch/>
        </p:blipFill>
        <p:spPr>
          <a:xfrm>
            <a:off x="260710" y="2341700"/>
            <a:ext cx="4311290" cy="2858765"/>
          </a:xfrm>
          <a:prstGeom prst="rect">
            <a:avLst/>
          </a:prstGeom>
        </p:spPr>
      </p:pic>
    </p:spTree>
    <p:extLst>
      <p:ext uri="{BB962C8B-B14F-4D97-AF65-F5344CB8AC3E}">
        <p14:creationId xmlns:p14="http://schemas.microsoft.com/office/powerpoint/2010/main" val="1987122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457200" y="274638"/>
            <a:ext cx="8229600" cy="496962"/>
          </a:xfrm>
        </p:spPr>
        <p:txBody>
          <a:bodyPr/>
          <a:lstStyle/>
          <a:p>
            <a:pPr eaLnBrk="1" hangingPunct="1"/>
            <a:r>
              <a:rPr lang="en-US" sz="1800" dirty="0">
                <a:solidFill>
                  <a:srgbClr val="FF0000"/>
                </a:solidFill>
                <a:latin typeface="Tahoma" charset="0"/>
                <a:ea typeface="ＭＳ Ｐゴシック" charset="0"/>
                <a:cs typeface="ＭＳ Ｐゴシック" charset="0"/>
              </a:rPr>
              <a:t>Il </a:t>
            </a:r>
            <a:r>
              <a:rPr lang="en-US" sz="1800" dirty="0" err="1">
                <a:solidFill>
                  <a:srgbClr val="FF0000"/>
                </a:solidFill>
                <a:latin typeface="Tahoma" charset="0"/>
                <a:ea typeface="ＭＳ Ｐゴシック" charset="0"/>
                <a:cs typeface="ＭＳ Ｐゴシック" charset="0"/>
              </a:rPr>
              <a:t>problema</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dei</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neutrini</a:t>
            </a:r>
            <a:r>
              <a:rPr lang="en-US" sz="1800" dirty="0">
                <a:solidFill>
                  <a:srgbClr val="FF0000"/>
                </a:solidFill>
                <a:latin typeface="Tahoma" charset="0"/>
                <a:ea typeface="ＭＳ Ｐゴシック" charset="0"/>
                <a:cs typeface="ＭＳ Ｐゴシック" charset="0"/>
              </a:rPr>
              <a:t> </a:t>
            </a:r>
            <a:r>
              <a:rPr lang="en-US" sz="1800" dirty="0" err="1">
                <a:solidFill>
                  <a:srgbClr val="FF0000"/>
                </a:solidFill>
                <a:latin typeface="Tahoma" charset="0"/>
                <a:ea typeface="ＭＳ Ｐゴシック" charset="0"/>
                <a:cs typeface="ＭＳ Ｐゴシック" charset="0"/>
              </a:rPr>
              <a:t>solari</a:t>
            </a:r>
            <a:endParaRPr lang="en-US" sz="1800" dirty="0">
              <a:solidFill>
                <a:srgbClr val="FF0000"/>
              </a:solidFill>
              <a:latin typeface="Tahoma" charset="0"/>
              <a:ea typeface="ＭＳ Ｐゴシック" charset="0"/>
              <a:cs typeface="ＭＳ Ｐゴシック" charset="0"/>
            </a:endParaRPr>
          </a:p>
        </p:txBody>
      </p:sp>
      <p:sp>
        <p:nvSpPr>
          <p:cNvPr id="94210" name="Rectangle 3"/>
          <p:cNvSpPr>
            <a:spLocks noGrp="1" noChangeArrowheads="1"/>
          </p:cNvSpPr>
          <p:nvPr>
            <p:ph type="body" idx="1"/>
          </p:nvPr>
        </p:nvSpPr>
        <p:spPr>
          <a:xfrm>
            <a:off x="388938" y="958850"/>
            <a:ext cx="8156575" cy="917575"/>
          </a:xfrm>
        </p:spPr>
        <p:txBody>
          <a:bodyPr>
            <a:normAutofit/>
          </a:bodyPr>
          <a:lstStyle/>
          <a:p>
            <a:pPr marL="176213" indent="-176213" eaLnBrk="1" hangingPunct="1">
              <a:lnSpc>
                <a:spcPct val="90000"/>
              </a:lnSpc>
            </a:pPr>
            <a:r>
              <a:rPr lang="en-US" sz="1800" dirty="0" err="1">
                <a:latin typeface="Arial" charset="0"/>
                <a:ea typeface="ＭＳ Ｐゴシック" charset="0"/>
                <a:cs typeface="ＭＳ Ｐゴシック" charset="0"/>
              </a:rPr>
              <a:t>Gli</a:t>
            </a:r>
            <a:r>
              <a:rPr lang="en-US" sz="1800" dirty="0">
                <a:latin typeface="Arial" charset="0"/>
                <a:ea typeface="ＭＳ Ｐゴシック" charset="0"/>
                <a:cs typeface="ＭＳ Ｐゴシック" charset="0"/>
              </a:rPr>
              <a:t> </a:t>
            </a:r>
            <a:r>
              <a:rPr lang="en-US" sz="1800" dirty="0" err="1">
                <a:latin typeface="Arial" charset="0"/>
                <a:ea typeface="ＭＳ Ｐゴシック" charset="0"/>
                <a:cs typeface="ＭＳ Ｐゴシック" charset="0"/>
              </a:rPr>
              <a:t>esperimenti</a:t>
            </a:r>
            <a:r>
              <a:rPr lang="en-US" sz="1800" dirty="0">
                <a:latin typeface="Arial" charset="0"/>
                <a:ea typeface="ＭＳ Ｐゴシック" charset="0"/>
                <a:cs typeface="ＭＳ Ｐゴシック" charset="0"/>
              </a:rPr>
              <a:t> </a:t>
            </a:r>
            <a:r>
              <a:rPr lang="en-US" sz="1800" dirty="0" err="1">
                <a:latin typeface="Arial" charset="0"/>
                <a:ea typeface="ＭＳ Ｐゴシック" charset="0"/>
                <a:cs typeface="ＭＳ Ｐゴシック" charset="0"/>
              </a:rPr>
              <a:t>hanno</a:t>
            </a:r>
            <a:r>
              <a:rPr lang="en-US" sz="1800" dirty="0">
                <a:latin typeface="Arial" charset="0"/>
                <a:ea typeface="ＭＳ Ｐゴシック" charset="0"/>
                <a:cs typeface="ＭＳ Ｐゴシック" charset="0"/>
              </a:rPr>
              <a:t> </a:t>
            </a:r>
            <a:r>
              <a:rPr lang="en-US" sz="1800" dirty="0" err="1">
                <a:latin typeface="Arial" charset="0"/>
                <a:ea typeface="ＭＳ Ｐゴシック" charset="0"/>
                <a:cs typeface="ＭＳ Ｐゴシック" charset="0"/>
              </a:rPr>
              <a:t>misurato</a:t>
            </a:r>
            <a:r>
              <a:rPr lang="en-US" sz="1800" dirty="0">
                <a:latin typeface="Arial" charset="0"/>
                <a:ea typeface="ＭＳ Ｐゴシック" charset="0"/>
                <a:cs typeface="ＭＳ Ｐゴシック" charset="0"/>
              </a:rPr>
              <a:t> un </a:t>
            </a:r>
            <a:r>
              <a:rPr lang="en-US" sz="1800" dirty="0" err="1">
                <a:latin typeface="Arial" charset="0"/>
                <a:ea typeface="ＭＳ Ｐゴシック" charset="0"/>
                <a:cs typeface="ＭＳ Ｐゴシック" charset="0"/>
              </a:rPr>
              <a:t>numero</a:t>
            </a:r>
            <a:r>
              <a:rPr lang="en-US" sz="1800" dirty="0">
                <a:latin typeface="Arial" charset="0"/>
                <a:ea typeface="ＭＳ Ｐゴシック" charset="0"/>
                <a:cs typeface="ＭＳ Ｐゴシック" charset="0"/>
              </a:rPr>
              <a:t> di </a:t>
            </a:r>
            <a:r>
              <a:rPr lang="en-US" sz="1800" dirty="0" err="1">
                <a:latin typeface="Arial" charset="0"/>
                <a:ea typeface="ＭＳ Ｐゴシック" charset="0"/>
                <a:cs typeface="ＭＳ Ｐゴシック" charset="0"/>
              </a:rPr>
              <a:t>neutrini</a:t>
            </a:r>
            <a:r>
              <a:rPr lang="en-US" sz="1800" dirty="0">
                <a:latin typeface="Arial" charset="0"/>
                <a:ea typeface="ＭＳ Ｐゴシック" charset="0"/>
                <a:cs typeface="ＭＳ Ｐゴシック" charset="0"/>
              </a:rPr>
              <a:t> </a:t>
            </a:r>
            <a:r>
              <a:rPr lang="en-US" sz="1800" dirty="0" err="1">
                <a:latin typeface="Arial" charset="0"/>
                <a:ea typeface="ＭＳ Ｐゴシック" charset="0"/>
                <a:cs typeface="ＭＳ Ｐゴシック" charset="0"/>
              </a:rPr>
              <a:t>inferiore</a:t>
            </a:r>
            <a:r>
              <a:rPr lang="en-US" sz="1800" dirty="0">
                <a:latin typeface="Arial" charset="0"/>
                <a:ea typeface="ＭＳ Ｐゴシック" charset="0"/>
                <a:cs typeface="ＭＳ Ｐゴシック" charset="0"/>
              </a:rPr>
              <a:t> a </a:t>
            </a:r>
            <a:r>
              <a:rPr lang="en-US" sz="1800" dirty="0" err="1">
                <a:latin typeface="Arial" charset="0"/>
                <a:ea typeface="ＭＳ Ｐゴシック" charset="0"/>
                <a:cs typeface="ＭＳ Ｐゴシック" charset="0"/>
              </a:rPr>
              <a:t>quanto</a:t>
            </a:r>
            <a:r>
              <a:rPr lang="en-US" sz="1800" dirty="0">
                <a:latin typeface="Arial" charset="0"/>
                <a:ea typeface="ＭＳ Ｐゴシック" charset="0"/>
                <a:cs typeface="ＭＳ Ｐゴシック" charset="0"/>
              </a:rPr>
              <a:t> </a:t>
            </a:r>
            <a:r>
              <a:rPr lang="en-US" sz="1800" dirty="0" err="1">
                <a:latin typeface="Arial" charset="0"/>
                <a:ea typeface="ＭＳ Ｐゴシック" charset="0"/>
                <a:cs typeface="ＭＳ Ｐゴシック" charset="0"/>
              </a:rPr>
              <a:t>previsto</a:t>
            </a:r>
            <a:r>
              <a:rPr lang="en-US" sz="1800" dirty="0">
                <a:latin typeface="Arial" charset="0"/>
                <a:ea typeface="ＭＳ Ｐゴシック" charset="0"/>
                <a:cs typeface="ＭＳ Ｐゴシック" charset="0"/>
              </a:rPr>
              <a:t>.</a:t>
            </a:r>
          </a:p>
        </p:txBody>
      </p:sp>
      <p:sp>
        <p:nvSpPr>
          <p:cNvPr id="94211" name="Rectangle 5"/>
          <p:cNvSpPr>
            <a:spLocks noChangeArrowheads="1"/>
          </p:cNvSpPr>
          <p:nvPr/>
        </p:nvSpPr>
        <p:spPr bwMode="auto">
          <a:xfrm>
            <a:off x="319726" y="3039695"/>
            <a:ext cx="3976688" cy="3733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spcBef>
                <a:spcPct val="20000"/>
              </a:spcBef>
              <a:buFontTx/>
              <a:buChar char="•"/>
            </a:pPr>
            <a:endParaRPr lang="en-US" sz="1600" b="0" dirty="0">
              <a:solidFill>
                <a:srgbClr val="000000"/>
              </a:solidFill>
            </a:endParaRPr>
          </a:p>
          <a:p>
            <a:pPr marL="342900" indent="-342900">
              <a:spcBef>
                <a:spcPct val="20000"/>
              </a:spcBef>
              <a:buFontTx/>
              <a:buChar char="•"/>
            </a:pPr>
            <a:r>
              <a:rPr lang="en-US" sz="1600" b="0" dirty="0" err="1">
                <a:solidFill>
                  <a:srgbClr val="000000"/>
                </a:solidFill>
              </a:rPr>
              <a:t>Attualmente</a:t>
            </a:r>
            <a:r>
              <a:rPr lang="en-US" sz="1600" b="0" dirty="0">
                <a:solidFill>
                  <a:srgbClr val="000000"/>
                </a:solidFill>
              </a:rPr>
              <a:t>, </a:t>
            </a:r>
            <a:r>
              <a:rPr lang="en-US" sz="1600" b="0" dirty="0" err="1">
                <a:solidFill>
                  <a:srgbClr val="000000"/>
                </a:solidFill>
              </a:rPr>
              <a:t>si</a:t>
            </a:r>
            <a:r>
              <a:rPr lang="en-US" sz="1600" b="0" dirty="0">
                <a:solidFill>
                  <a:srgbClr val="000000"/>
                </a:solidFill>
              </a:rPr>
              <a:t> </a:t>
            </a:r>
            <a:r>
              <a:rPr lang="en-US" sz="1600" b="0" dirty="0" err="1">
                <a:solidFill>
                  <a:srgbClr val="000000"/>
                </a:solidFill>
              </a:rPr>
              <a:t>ritiene</a:t>
            </a:r>
            <a:r>
              <a:rPr lang="en-US" sz="1600" b="0" dirty="0">
                <a:solidFill>
                  <a:srgbClr val="000000"/>
                </a:solidFill>
              </a:rPr>
              <a:t>, </a:t>
            </a:r>
            <a:r>
              <a:rPr lang="en-US" sz="1600" b="0" dirty="0" err="1">
                <a:solidFill>
                  <a:srgbClr val="000000"/>
                </a:solidFill>
              </a:rPr>
              <a:t>che</a:t>
            </a:r>
            <a:r>
              <a:rPr lang="en-US" sz="1600" b="0" dirty="0">
                <a:solidFill>
                  <a:srgbClr val="000000"/>
                </a:solidFill>
              </a:rPr>
              <a:t>  </a:t>
            </a:r>
            <a:r>
              <a:rPr lang="en-US" sz="1600" b="0" dirty="0" err="1">
                <a:solidFill>
                  <a:srgbClr val="000000"/>
                </a:solidFill>
              </a:rPr>
              <a:t>i</a:t>
            </a:r>
            <a:r>
              <a:rPr lang="en-US" sz="1600" b="0" dirty="0">
                <a:solidFill>
                  <a:srgbClr val="000000"/>
                </a:solidFill>
              </a:rPr>
              <a:t> </a:t>
            </a:r>
            <a:r>
              <a:rPr lang="en-US" sz="1600" b="0" dirty="0" err="1">
                <a:solidFill>
                  <a:srgbClr val="000000"/>
                </a:solidFill>
              </a:rPr>
              <a:t>neutrini</a:t>
            </a:r>
            <a:r>
              <a:rPr lang="en-US" sz="1600" b="0" dirty="0">
                <a:solidFill>
                  <a:srgbClr val="000000"/>
                </a:solidFill>
              </a:rPr>
              <a:t> </a:t>
            </a:r>
            <a:r>
              <a:rPr lang="en-US" sz="1600" b="0" dirty="0" err="1">
                <a:solidFill>
                  <a:srgbClr val="000000"/>
                </a:solidFill>
              </a:rPr>
              <a:t>possiedono</a:t>
            </a:r>
            <a:r>
              <a:rPr lang="en-US" sz="1600" b="0" dirty="0">
                <a:solidFill>
                  <a:srgbClr val="000000"/>
                </a:solidFill>
              </a:rPr>
              <a:t> </a:t>
            </a:r>
            <a:r>
              <a:rPr lang="en-US" sz="1600" b="0" dirty="0" err="1">
                <a:solidFill>
                  <a:srgbClr val="000000"/>
                </a:solidFill>
              </a:rPr>
              <a:t>una</a:t>
            </a:r>
            <a:r>
              <a:rPr lang="en-US" sz="1600" b="0" dirty="0">
                <a:solidFill>
                  <a:srgbClr val="000000"/>
                </a:solidFill>
              </a:rPr>
              <a:t> </a:t>
            </a:r>
            <a:r>
              <a:rPr lang="en-US" sz="1600" b="0" dirty="0" err="1">
                <a:solidFill>
                  <a:srgbClr val="000000"/>
                </a:solidFill>
              </a:rPr>
              <a:t>massa</a:t>
            </a:r>
            <a:r>
              <a:rPr lang="en-US" sz="1600" b="0" dirty="0">
                <a:solidFill>
                  <a:srgbClr val="000000"/>
                </a:solidFill>
              </a:rPr>
              <a:t> e  </a:t>
            </a:r>
            <a:r>
              <a:rPr lang="en-US" sz="1600" b="0" dirty="0" err="1">
                <a:solidFill>
                  <a:srgbClr val="000000"/>
                </a:solidFill>
              </a:rPr>
              <a:t>che</a:t>
            </a:r>
            <a:r>
              <a:rPr lang="en-US" sz="1600" b="0" dirty="0">
                <a:solidFill>
                  <a:srgbClr val="000000"/>
                </a:solidFill>
              </a:rPr>
              <a:t> </a:t>
            </a:r>
            <a:r>
              <a:rPr lang="en-US" sz="1600" b="0" dirty="0" err="1">
                <a:solidFill>
                  <a:srgbClr val="000000"/>
                </a:solidFill>
              </a:rPr>
              <a:t>possono</a:t>
            </a:r>
            <a:r>
              <a:rPr lang="en-US" sz="1600" b="0" dirty="0">
                <a:solidFill>
                  <a:srgbClr val="000000"/>
                </a:solidFill>
              </a:rPr>
              <a:t> </a:t>
            </a:r>
            <a:r>
              <a:rPr lang="en-US" sz="1600" b="0" dirty="0" err="1">
                <a:solidFill>
                  <a:srgbClr val="000000"/>
                </a:solidFill>
              </a:rPr>
              <a:t>cambiare</a:t>
            </a:r>
            <a:r>
              <a:rPr lang="en-US" sz="1600" b="0" dirty="0">
                <a:solidFill>
                  <a:srgbClr val="000000"/>
                </a:solidFill>
              </a:rPr>
              <a:t> </a:t>
            </a:r>
            <a:r>
              <a:rPr lang="ja-JP" altLang="en-US" sz="1600" b="0" dirty="0">
                <a:solidFill>
                  <a:srgbClr val="000000"/>
                </a:solidFill>
              </a:rPr>
              <a:t>“</a:t>
            </a:r>
            <a:r>
              <a:rPr lang="en-US" altLang="ja-JP" sz="1600" b="0" dirty="0" err="1">
                <a:solidFill>
                  <a:srgbClr val="000000"/>
                </a:solidFill>
              </a:rPr>
              <a:t>flavour</a:t>
            </a:r>
            <a:r>
              <a:rPr lang="ja-JP" altLang="en-US" sz="1600" b="0" dirty="0">
                <a:solidFill>
                  <a:srgbClr val="000000"/>
                </a:solidFill>
              </a:rPr>
              <a:t>”</a:t>
            </a:r>
            <a:r>
              <a:rPr lang="en-US" altLang="ja-JP" sz="1600" b="0" dirty="0">
                <a:solidFill>
                  <a:srgbClr val="000000"/>
                </a:solidFill>
              </a:rPr>
              <a:t> (</a:t>
            </a:r>
            <a:r>
              <a:rPr lang="en-US" altLang="ja-JP" sz="1600" b="0" dirty="0" err="1">
                <a:solidFill>
                  <a:srgbClr val="000000"/>
                </a:solidFill>
              </a:rPr>
              <a:t>sapore</a:t>
            </a:r>
            <a:r>
              <a:rPr lang="en-US" altLang="ja-JP" sz="1600" b="0" dirty="0">
                <a:solidFill>
                  <a:srgbClr val="000000"/>
                </a:solidFill>
              </a:rPr>
              <a:t>)  prima di </a:t>
            </a:r>
            <a:r>
              <a:rPr lang="en-US" altLang="ja-JP" sz="1600" b="0" dirty="0" err="1">
                <a:solidFill>
                  <a:srgbClr val="000000"/>
                </a:solidFill>
              </a:rPr>
              <a:t>arrivare</a:t>
            </a:r>
            <a:r>
              <a:rPr lang="en-US" altLang="ja-JP" sz="1600" b="0" dirty="0">
                <a:solidFill>
                  <a:srgbClr val="000000"/>
                </a:solidFill>
              </a:rPr>
              <a:t> </a:t>
            </a:r>
            <a:r>
              <a:rPr lang="en-US" altLang="ja-JP" sz="1600" b="0" dirty="0" err="1">
                <a:solidFill>
                  <a:srgbClr val="000000"/>
                </a:solidFill>
              </a:rPr>
              <a:t>sulla</a:t>
            </a:r>
            <a:r>
              <a:rPr lang="en-US" altLang="ja-JP" sz="1600" b="0" dirty="0">
                <a:solidFill>
                  <a:srgbClr val="000000"/>
                </a:solidFill>
              </a:rPr>
              <a:t> terra (</a:t>
            </a:r>
            <a:r>
              <a:rPr lang="en-US" altLang="ja-JP" sz="1600" b="0" dirty="0" err="1">
                <a:solidFill>
                  <a:srgbClr val="000000"/>
                </a:solidFill>
              </a:rPr>
              <a:t>oscillazione</a:t>
            </a:r>
            <a:r>
              <a:rPr lang="en-US" altLang="ja-JP" sz="1600" b="0" dirty="0">
                <a:solidFill>
                  <a:srgbClr val="000000"/>
                </a:solidFill>
              </a:rPr>
              <a:t> </a:t>
            </a:r>
            <a:r>
              <a:rPr lang="en-US" altLang="ja-JP" sz="1600" b="0" dirty="0" err="1">
                <a:solidFill>
                  <a:srgbClr val="000000"/>
                </a:solidFill>
              </a:rPr>
              <a:t>dei</a:t>
            </a:r>
            <a:r>
              <a:rPr lang="en-US" altLang="ja-JP" sz="1600" b="0" dirty="0">
                <a:solidFill>
                  <a:srgbClr val="000000"/>
                </a:solidFill>
              </a:rPr>
              <a:t> </a:t>
            </a:r>
            <a:r>
              <a:rPr lang="en-US" altLang="ja-JP" sz="1600" b="0" dirty="0" err="1">
                <a:solidFill>
                  <a:srgbClr val="000000"/>
                </a:solidFill>
              </a:rPr>
              <a:t>neutrini</a:t>
            </a:r>
            <a:r>
              <a:rPr lang="en-US" altLang="ja-JP" sz="1600" b="0" dirty="0">
                <a:solidFill>
                  <a:srgbClr val="000000"/>
                </a:solidFill>
              </a:rPr>
              <a:t>). </a:t>
            </a:r>
          </a:p>
          <a:p>
            <a:pPr marL="342900" indent="-342900">
              <a:spcBef>
                <a:spcPct val="20000"/>
              </a:spcBef>
              <a:buFontTx/>
              <a:buChar char="•"/>
            </a:pPr>
            <a:endParaRPr lang="en-US" sz="1600" b="0" dirty="0">
              <a:solidFill>
                <a:srgbClr val="000000"/>
              </a:solidFill>
            </a:endParaRPr>
          </a:p>
          <a:p>
            <a:pPr marL="342900" indent="-342900">
              <a:spcBef>
                <a:spcPct val="20000"/>
              </a:spcBef>
              <a:buFontTx/>
              <a:buChar char="•"/>
            </a:pPr>
            <a:r>
              <a:rPr lang="en-US" sz="1600" b="0" dirty="0" err="1">
                <a:solidFill>
                  <a:srgbClr val="000000"/>
                </a:solidFill>
              </a:rPr>
              <a:t>Quindi</a:t>
            </a:r>
            <a:r>
              <a:rPr lang="en-US" sz="1600" b="0" dirty="0">
                <a:solidFill>
                  <a:srgbClr val="000000"/>
                </a:solidFill>
              </a:rPr>
              <a:t> I </a:t>
            </a:r>
            <a:r>
              <a:rPr lang="en-US" sz="1600" b="0" dirty="0" err="1">
                <a:solidFill>
                  <a:srgbClr val="000000"/>
                </a:solidFill>
              </a:rPr>
              <a:t>neutrini</a:t>
            </a:r>
            <a:r>
              <a:rPr lang="en-US" sz="1600" b="0" dirty="0">
                <a:solidFill>
                  <a:srgbClr val="000000"/>
                </a:solidFill>
              </a:rPr>
              <a:t> </a:t>
            </a:r>
            <a:r>
              <a:rPr lang="en-US" sz="1600" b="0" dirty="0" err="1">
                <a:solidFill>
                  <a:srgbClr val="000000"/>
                </a:solidFill>
              </a:rPr>
              <a:t>mancanti</a:t>
            </a:r>
            <a:r>
              <a:rPr lang="en-US" sz="1600" b="0" dirty="0">
                <a:solidFill>
                  <a:srgbClr val="000000"/>
                </a:solidFill>
              </a:rPr>
              <a:t> </a:t>
            </a:r>
            <a:r>
              <a:rPr lang="en-US" sz="1600" b="0" dirty="0" err="1">
                <a:solidFill>
                  <a:srgbClr val="000000"/>
                </a:solidFill>
              </a:rPr>
              <a:t>sono</a:t>
            </a:r>
            <a:r>
              <a:rPr lang="en-US" sz="1600" b="0" dirty="0">
                <a:solidFill>
                  <a:srgbClr val="000000"/>
                </a:solidFill>
              </a:rPr>
              <a:t> </a:t>
            </a:r>
            <a:r>
              <a:rPr lang="en-US" sz="1600" b="0" dirty="0" err="1">
                <a:solidFill>
                  <a:srgbClr val="000000"/>
                </a:solidFill>
              </a:rPr>
              <a:t>quei</a:t>
            </a:r>
            <a:r>
              <a:rPr lang="en-US" sz="1600" b="0" dirty="0">
                <a:solidFill>
                  <a:srgbClr val="000000"/>
                </a:solidFill>
              </a:rPr>
              <a:t>  </a:t>
            </a:r>
            <a:r>
              <a:rPr lang="en-US" sz="1600" b="0" dirty="0" err="1">
                <a:solidFill>
                  <a:srgbClr val="000000"/>
                </a:solidFill>
              </a:rPr>
              <a:t>neutrini</a:t>
            </a:r>
            <a:r>
              <a:rPr lang="en-US" sz="1600" b="0" dirty="0">
                <a:solidFill>
                  <a:srgbClr val="000000"/>
                </a:solidFill>
              </a:rPr>
              <a:t> </a:t>
            </a:r>
            <a:r>
              <a:rPr lang="en-US" sz="1600" b="0" dirty="0" err="1">
                <a:solidFill>
                  <a:srgbClr val="000000"/>
                </a:solidFill>
              </a:rPr>
              <a:t>elettronici</a:t>
            </a:r>
            <a:r>
              <a:rPr lang="en-US" sz="1600" b="0" dirty="0">
                <a:solidFill>
                  <a:srgbClr val="000000"/>
                </a:solidFill>
              </a:rPr>
              <a:t> </a:t>
            </a:r>
            <a:r>
              <a:rPr lang="en-US" sz="1600" b="0" dirty="0" err="1">
                <a:solidFill>
                  <a:srgbClr val="000000"/>
                </a:solidFill>
              </a:rPr>
              <a:t>che</a:t>
            </a:r>
            <a:r>
              <a:rPr lang="en-US" sz="1600" b="0" dirty="0">
                <a:solidFill>
                  <a:srgbClr val="000000"/>
                </a:solidFill>
              </a:rPr>
              <a:t> </a:t>
            </a:r>
            <a:r>
              <a:rPr lang="en-US" sz="1600" b="0" dirty="0" err="1">
                <a:solidFill>
                  <a:srgbClr val="000000"/>
                </a:solidFill>
              </a:rPr>
              <a:t>si</a:t>
            </a:r>
            <a:r>
              <a:rPr lang="en-US" sz="1600" b="0" dirty="0">
                <a:solidFill>
                  <a:srgbClr val="000000"/>
                </a:solidFill>
              </a:rPr>
              <a:t> </a:t>
            </a:r>
            <a:r>
              <a:rPr lang="en-US" sz="1600" b="0" dirty="0" err="1">
                <a:solidFill>
                  <a:srgbClr val="000000"/>
                </a:solidFill>
              </a:rPr>
              <a:t>sono</a:t>
            </a:r>
            <a:r>
              <a:rPr lang="en-US" sz="1600" b="0" dirty="0">
                <a:solidFill>
                  <a:srgbClr val="000000"/>
                </a:solidFill>
              </a:rPr>
              <a:t> </a:t>
            </a:r>
            <a:r>
              <a:rPr lang="en-US" sz="1600" b="0" dirty="0" err="1">
                <a:solidFill>
                  <a:srgbClr val="000000"/>
                </a:solidFill>
              </a:rPr>
              <a:t>trasformati</a:t>
            </a:r>
            <a:r>
              <a:rPr lang="en-US" sz="1600" b="0" dirty="0">
                <a:solidFill>
                  <a:srgbClr val="000000"/>
                </a:solidFill>
              </a:rPr>
              <a:t> in uno degli </a:t>
            </a:r>
            <a:r>
              <a:rPr lang="en-US" sz="1600" b="0" dirty="0" err="1">
                <a:solidFill>
                  <a:srgbClr val="000000"/>
                </a:solidFill>
              </a:rPr>
              <a:t>altri</a:t>
            </a:r>
            <a:r>
              <a:rPr lang="en-US" sz="1600" b="0" dirty="0">
                <a:solidFill>
                  <a:srgbClr val="000000"/>
                </a:solidFill>
              </a:rPr>
              <a:t> due tipi (</a:t>
            </a:r>
            <a:r>
              <a:rPr lang="en-US" sz="1600" b="0" dirty="0" err="1">
                <a:solidFill>
                  <a:srgbClr val="000000"/>
                </a:solidFill>
              </a:rPr>
              <a:t>tau,mu</a:t>
            </a:r>
            <a:r>
              <a:rPr lang="en-US" sz="1600" b="0" dirty="0">
                <a:solidFill>
                  <a:srgbClr val="000000"/>
                </a:solidFill>
              </a:rPr>
              <a:t>) </a:t>
            </a:r>
            <a:r>
              <a:rPr lang="en-US" sz="1600" b="0" dirty="0" err="1">
                <a:solidFill>
                  <a:srgbClr val="000000"/>
                </a:solidFill>
              </a:rPr>
              <a:t>lungo</a:t>
            </a:r>
            <a:r>
              <a:rPr lang="en-US" sz="1600" b="0" dirty="0">
                <a:solidFill>
                  <a:srgbClr val="000000"/>
                </a:solidFill>
              </a:rPr>
              <a:t> il </a:t>
            </a:r>
            <a:r>
              <a:rPr lang="en-US" sz="1600" b="0" dirty="0" err="1">
                <a:solidFill>
                  <a:srgbClr val="000000"/>
                </a:solidFill>
              </a:rPr>
              <a:t>tragitto</a:t>
            </a:r>
            <a:r>
              <a:rPr lang="en-US" sz="1600" b="0">
                <a:solidFill>
                  <a:srgbClr val="000000"/>
                </a:solidFill>
              </a:rPr>
              <a:t>.</a:t>
            </a:r>
            <a:endParaRPr lang="en-US" sz="1600" b="0" dirty="0">
              <a:solidFill>
                <a:srgbClr val="000000"/>
              </a:solidFill>
            </a:endParaRPr>
          </a:p>
        </p:txBody>
      </p:sp>
      <p:pic>
        <p:nvPicPr>
          <p:cNvPr id="94213" name="Picture 7" descr="sno_fig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4738" y="1564679"/>
            <a:ext cx="3479536" cy="2633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Rettangolo 1">
            <a:extLst>
              <a:ext uri="{FF2B5EF4-FFF2-40B4-BE49-F238E27FC236}">
                <a16:creationId xmlns:a16="http://schemas.microsoft.com/office/drawing/2014/main" id="{EC819255-2CD8-654B-8E56-5F0027B97475}"/>
              </a:ext>
            </a:extLst>
          </p:cNvPr>
          <p:cNvSpPr/>
          <p:nvPr/>
        </p:nvSpPr>
        <p:spPr>
          <a:xfrm>
            <a:off x="5344738" y="4618755"/>
            <a:ext cx="3204588" cy="1569660"/>
          </a:xfrm>
          <a:prstGeom prst="rect">
            <a:avLst/>
          </a:prstGeom>
        </p:spPr>
        <p:txBody>
          <a:bodyPr wrap="square">
            <a:spAutoFit/>
          </a:bodyPr>
          <a:lstStyle/>
          <a:p>
            <a:r>
              <a:rPr lang="it-IT" sz="1600" dirty="0">
                <a:latin typeface="CMR10"/>
              </a:rPr>
              <a:t>Questo esperimento ha risolto il problema dei neutrini solari. Trovando che solo un 1/3 di neutrini elettronici prodotti  rimangono tali i restanti si trasformano in neutrini tau e mu.</a:t>
            </a:r>
            <a:endParaRPr lang="it-IT" sz="1600" dirty="0"/>
          </a:p>
        </p:txBody>
      </p:sp>
      <p:pic>
        <p:nvPicPr>
          <p:cNvPr id="3" name="Immagine 2">
            <a:extLst>
              <a:ext uri="{FF2B5EF4-FFF2-40B4-BE49-F238E27FC236}">
                <a16:creationId xmlns:a16="http://schemas.microsoft.com/office/drawing/2014/main" id="{1F78D9D7-F43D-9345-84C9-61B6C3E15CA9}"/>
              </a:ext>
            </a:extLst>
          </p:cNvPr>
          <p:cNvPicPr>
            <a:picLocks noChangeAspect="1"/>
          </p:cNvPicPr>
          <p:nvPr/>
        </p:nvPicPr>
        <p:blipFill>
          <a:blip r:embed="rId3"/>
          <a:stretch>
            <a:fillRect/>
          </a:stretch>
        </p:blipFill>
        <p:spPr>
          <a:xfrm>
            <a:off x="211448" y="1539330"/>
            <a:ext cx="5042723" cy="1500365"/>
          </a:xfrm>
          <a:prstGeom prst="rect">
            <a:avLst/>
          </a:prstGeom>
        </p:spPr>
      </p:pic>
    </p:spTree>
    <p:extLst>
      <p:ext uri="{BB962C8B-B14F-4D97-AF65-F5344CB8AC3E}">
        <p14:creationId xmlns:p14="http://schemas.microsoft.com/office/powerpoint/2010/main" val="129089578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a:ln>
              <a:noFill/>
            </a:ln>
            <a:solidFill>
              <a:schemeClr val="tx1"/>
            </a:solidFill>
            <a:effectLst/>
            <a:latin typeface="Arial"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a:ln>
              <a:noFill/>
            </a:ln>
            <a:solidFill>
              <a:schemeClr val="tx1"/>
            </a:solidFill>
            <a:effectLst/>
            <a:latin typeface="Arial" pitchFamily="1"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50667</TotalTime>
  <Words>3110</Words>
  <Application>Microsoft Office PowerPoint</Application>
  <PresentationFormat>On-screen Show (4:3)</PresentationFormat>
  <Paragraphs>415</Paragraphs>
  <Slides>45</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5" baseType="lpstr">
      <vt:lpstr>ＭＳ Ｐゴシック</vt:lpstr>
      <vt:lpstr>Arial</vt:lpstr>
      <vt:lpstr>Cambria Math</vt:lpstr>
      <vt:lpstr>CMR10</vt:lpstr>
      <vt:lpstr>Gill Sans</vt:lpstr>
      <vt:lpstr>Symbol</vt:lpstr>
      <vt:lpstr>Tahoma</vt:lpstr>
      <vt:lpstr>Times New Roman</vt:lpstr>
      <vt:lpstr>Default Design</vt:lpstr>
      <vt:lpstr>Equation</vt:lpstr>
      <vt:lpstr>PowerPoint Presentation</vt:lpstr>
      <vt:lpstr>Required Energy</vt:lpstr>
      <vt:lpstr>Produzione di energia</vt:lpstr>
      <vt:lpstr>PowerPoint Presentation</vt:lpstr>
      <vt:lpstr>Binding Enengy</vt:lpstr>
      <vt:lpstr>Nuclear Fusion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 Reazioni Nucleari possibili: Proton-proton chain (PPI)</vt:lpstr>
      <vt:lpstr>Le Reazioni Nucleari possibili: Proton-proton chain (PPII &amp; PPIII)</vt:lpstr>
      <vt:lpstr>Catena p-p</vt:lpstr>
      <vt:lpstr>Il ciclo  CNO</vt:lpstr>
      <vt:lpstr>p-p chain vs CNO Cycle</vt:lpstr>
      <vt:lpstr>Timescale of the H-burning</vt:lpstr>
      <vt:lpstr>Nucleosintesi degli elementi nell’Universo</vt:lpstr>
      <vt:lpstr>He- Burning: triple-alpha process</vt:lpstr>
      <vt:lpstr>After the He-burning: Carbon burning</vt:lpstr>
      <vt:lpstr>After C-burning: Oxygen burning</vt:lpstr>
      <vt:lpstr>Silicon burning: nuclear statistical equilibrium</vt:lpstr>
      <vt:lpstr>Major nuclear burning processes</vt:lpstr>
      <vt:lpstr>Formation of the Heavier Elements</vt:lpstr>
      <vt:lpstr>Equazione della produzione di energia</vt:lpstr>
      <vt:lpstr>PowerPoint Presentation</vt:lpstr>
      <vt:lpstr>Trasporto di energia nel Sole</vt:lpstr>
      <vt:lpstr>L’Interno del Sole</vt:lpstr>
      <vt:lpstr>PowerPoint Presentation</vt:lpstr>
      <vt:lpstr>Equation of a Static Stellar Structure </vt:lpstr>
      <vt:lpstr>PowerPoint Presentation</vt:lpstr>
      <vt:lpstr>PowerPoint Presentation</vt:lpstr>
      <vt:lpstr>Stellar Models </vt:lpstr>
      <vt:lpstr>Il Modello Solare</vt:lpstr>
      <vt:lpstr>Il Modello Solare</vt:lpstr>
      <vt:lpstr>Distribuzione della Luminosità prodotta</vt:lpstr>
      <vt:lpstr>Distribuzione degli elementi nel Sole</vt:lpstr>
      <vt:lpstr>Osservazione Diretta del Core Solare: I neutrini</vt:lpstr>
      <vt:lpstr>Osservazione Diretta del Core Solare: I neutrini</vt:lpstr>
      <vt:lpstr>Osservazione Diretta del Core Solare: I neutrini</vt:lpstr>
      <vt:lpstr>Il problema dei neutrini solari</vt:lpstr>
    </vt:vector>
  </TitlesOfParts>
  <Company>INFN Perugia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Grandezze Fotometriche</dc:title>
  <dc:creator>Gino Tosti</dc:creator>
  <cp:lastModifiedBy>gino tosti</cp:lastModifiedBy>
  <cp:revision>627</cp:revision>
  <cp:lastPrinted>2013-06-05T06:54:04Z</cp:lastPrinted>
  <dcterms:created xsi:type="dcterms:W3CDTF">2014-04-24T07:29:26Z</dcterms:created>
  <dcterms:modified xsi:type="dcterms:W3CDTF">2026-05-10T20:13:38Z</dcterms:modified>
</cp:coreProperties>
</file>