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691" r:id="rId2"/>
    <p:sldId id="633" r:id="rId3"/>
    <p:sldId id="794" r:id="rId4"/>
    <p:sldId id="802" r:id="rId5"/>
    <p:sldId id="638" r:id="rId6"/>
    <p:sldId id="636" r:id="rId7"/>
    <p:sldId id="637" r:id="rId8"/>
    <p:sldId id="655" r:id="rId9"/>
    <p:sldId id="646" r:id="rId10"/>
    <p:sldId id="640" r:id="rId11"/>
    <p:sldId id="658" r:id="rId12"/>
    <p:sldId id="656" r:id="rId13"/>
    <p:sldId id="657" r:id="rId14"/>
    <p:sldId id="659" r:id="rId15"/>
    <p:sldId id="801" r:id="rId16"/>
    <p:sldId id="660" r:id="rId17"/>
    <p:sldId id="781" r:id="rId18"/>
    <p:sldId id="782" r:id="rId19"/>
    <p:sldId id="795" r:id="rId20"/>
    <p:sldId id="804" r:id="rId21"/>
    <p:sldId id="797" r:id="rId22"/>
    <p:sldId id="796" r:id="rId23"/>
    <p:sldId id="666" r:id="rId24"/>
    <p:sldId id="803" r:id="rId25"/>
    <p:sldId id="783" r:id="rId26"/>
    <p:sldId id="661" r:id="rId27"/>
    <p:sldId id="663" r:id="rId28"/>
    <p:sldId id="662" r:id="rId29"/>
    <p:sldId id="665" r:id="rId30"/>
    <p:sldId id="799" r:id="rId31"/>
    <p:sldId id="800" r:id="rId32"/>
    <p:sldId id="667" r:id="rId33"/>
    <p:sldId id="668" r:id="rId34"/>
    <p:sldId id="669" r:id="rId3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CF6645-5A52-46E5-B47C-3D6FC7F0C64A}" v="75" dt="2026-03-27T09:00:04.6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8"/>
    <p:restoredTop sz="94558"/>
  </p:normalViewPr>
  <p:slideViewPr>
    <p:cSldViewPr>
      <p:cViewPr varScale="1">
        <p:scale>
          <a:sx n="104" d="100"/>
          <a:sy n="104" d="100"/>
        </p:scale>
        <p:origin x="112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6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no tosti" userId="f614b7af894988c3" providerId="LiveId" clId="{45D8D1B5-8849-4E88-A8AF-5557EBB7F985}"/>
    <pc:docChg chg="undo custSel addSld modSld sldOrd">
      <pc:chgData name="gino tosti" userId="f614b7af894988c3" providerId="LiveId" clId="{45D8D1B5-8849-4E88-A8AF-5557EBB7F985}" dt="2026-03-27T09:00:36.217" v="711" actId="729"/>
      <pc:docMkLst>
        <pc:docMk/>
      </pc:docMkLst>
      <pc:sldChg chg="addSp modSp mod modShow">
        <pc:chgData name="gino tosti" userId="f614b7af894988c3" providerId="LiveId" clId="{45D8D1B5-8849-4E88-A8AF-5557EBB7F985}" dt="2026-03-27T09:00:36.217" v="711" actId="729"/>
        <pc:sldMkLst>
          <pc:docMk/>
          <pc:sldMk cId="0" sldId="665"/>
        </pc:sldMkLst>
        <pc:spChg chg="add mod">
          <ac:chgData name="gino tosti" userId="f614b7af894988c3" providerId="LiveId" clId="{45D8D1B5-8849-4E88-A8AF-5557EBB7F985}" dt="2026-03-27T09:00:22.862" v="709" actId="1076"/>
          <ac:spMkLst>
            <pc:docMk/>
            <pc:sldMk cId="0" sldId="665"/>
            <ac:spMk id="3" creationId="{6D065531-8A99-FF6F-556F-DEE6C7C1025C}"/>
          </ac:spMkLst>
        </pc:spChg>
        <pc:spChg chg="add mod">
          <ac:chgData name="gino tosti" userId="f614b7af894988c3" providerId="LiveId" clId="{45D8D1B5-8849-4E88-A8AF-5557EBB7F985}" dt="2026-03-27T09:00:31.959" v="710" actId="1076"/>
          <ac:spMkLst>
            <pc:docMk/>
            <pc:sldMk cId="0" sldId="665"/>
            <ac:spMk id="5" creationId="{5CA943CF-0ADF-C887-3FD4-819A0D4B6E84}"/>
          </ac:spMkLst>
        </pc:spChg>
        <pc:spChg chg="mod">
          <ac:chgData name="gino tosti" userId="f614b7af894988c3" providerId="LiveId" clId="{45D8D1B5-8849-4E88-A8AF-5557EBB7F985}" dt="2026-03-27T09:00:02.326" v="706" actId="20577"/>
          <ac:spMkLst>
            <pc:docMk/>
            <pc:sldMk cId="0" sldId="665"/>
            <ac:spMk id="33794" creationId="{6CBBAC93-C396-7B4B-ADFD-B5975527BF50}"/>
          </ac:spMkLst>
        </pc:spChg>
        <pc:picChg chg="add mod">
          <ac:chgData name="gino tosti" userId="f614b7af894988c3" providerId="LiveId" clId="{45D8D1B5-8849-4E88-A8AF-5557EBB7F985}" dt="2026-03-27T09:00:22.862" v="709" actId="1076"/>
          <ac:picMkLst>
            <pc:docMk/>
            <pc:sldMk cId="0" sldId="665"/>
            <ac:picMk id="2" creationId="{8CA91829-FA60-9218-D8D3-3CAB4AA1F936}"/>
          </ac:picMkLst>
        </pc:picChg>
        <pc:picChg chg="add mod">
          <ac:chgData name="gino tosti" userId="f614b7af894988c3" providerId="LiveId" clId="{45D8D1B5-8849-4E88-A8AF-5557EBB7F985}" dt="2026-03-27T09:00:31.959" v="710" actId="1076"/>
          <ac:picMkLst>
            <pc:docMk/>
            <pc:sldMk cId="0" sldId="665"/>
            <ac:picMk id="4" creationId="{90BAB2B6-7961-3076-4261-5BF91D1212E8}"/>
          </ac:picMkLst>
        </pc:picChg>
      </pc:sldChg>
      <pc:sldChg chg="modSp mod">
        <pc:chgData name="gino tosti" userId="f614b7af894988c3" providerId="LiveId" clId="{45D8D1B5-8849-4E88-A8AF-5557EBB7F985}" dt="2026-03-22T19:55:06.745" v="514" actId="20577"/>
        <pc:sldMkLst>
          <pc:docMk/>
          <pc:sldMk cId="0" sldId="666"/>
        </pc:sldMkLst>
        <pc:spChg chg="mod">
          <ac:chgData name="gino tosti" userId="f614b7af894988c3" providerId="LiveId" clId="{45D8D1B5-8849-4E88-A8AF-5557EBB7F985}" dt="2026-03-22T19:55:06.745" v="514" actId="20577"/>
          <ac:spMkLst>
            <pc:docMk/>
            <pc:sldMk cId="0" sldId="666"/>
            <ac:spMk id="26626" creationId="{6622EC3C-BF62-024A-9AEC-0BB1164A386C}"/>
          </ac:spMkLst>
        </pc:spChg>
      </pc:sldChg>
      <pc:sldChg chg="addSp delSp modSp mod">
        <pc:chgData name="gino tosti" userId="f614b7af894988c3" providerId="LiveId" clId="{45D8D1B5-8849-4E88-A8AF-5557EBB7F985}" dt="2026-03-27T08:52:58.912" v="675" actId="21"/>
        <pc:sldMkLst>
          <pc:docMk/>
          <pc:sldMk cId="0" sldId="667"/>
        </pc:sldMkLst>
        <pc:spChg chg="del mod">
          <ac:chgData name="gino tosti" userId="f614b7af894988c3" providerId="LiveId" clId="{45D8D1B5-8849-4E88-A8AF-5557EBB7F985}" dt="2026-03-27T08:47:19.133" v="581"/>
          <ac:spMkLst>
            <pc:docMk/>
            <pc:sldMk cId="0" sldId="667"/>
            <ac:spMk id="2" creationId="{F3270582-4290-B04F-8F3A-884817A116F9}"/>
          </ac:spMkLst>
        </pc:spChg>
        <pc:spChg chg="add mod">
          <ac:chgData name="gino tosti" userId="f614b7af894988c3" providerId="LiveId" clId="{45D8D1B5-8849-4E88-A8AF-5557EBB7F985}" dt="2026-03-27T08:52:58.912" v="675" actId="21"/>
          <ac:spMkLst>
            <pc:docMk/>
            <pc:sldMk cId="0" sldId="667"/>
            <ac:spMk id="4" creationId="{8F724CEF-6A35-29C5-A709-EC23CBF0F094}"/>
          </ac:spMkLst>
        </pc:spChg>
        <pc:spChg chg="add mod">
          <ac:chgData name="gino tosti" userId="f614b7af894988c3" providerId="LiveId" clId="{45D8D1B5-8849-4E88-A8AF-5557EBB7F985}" dt="2026-03-27T08:52:34.805" v="669" actId="20577"/>
          <ac:spMkLst>
            <pc:docMk/>
            <pc:sldMk cId="0" sldId="667"/>
            <ac:spMk id="5" creationId="{3719FE7D-7563-3863-1976-F588E7761FC8}"/>
          </ac:spMkLst>
        </pc:spChg>
      </pc:sldChg>
      <pc:sldChg chg="addSp modSp mod">
        <pc:chgData name="gino tosti" userId="f614b7af894988c3" providerId="LiveId" clId="{45D8D1B5-8849-4E88-A8AF-5557EBB7F985}" dt="2026-03-27T08:56:21.311" v="697" actId="1076"/>
        <pc:sldMkLst>
          <pc:docMk/>
          <pc:sldMk cId="0" sldId="668"/>
        </pc:sldMkLst>
        <pc:spChg chg="add mod">
          <ac:chgData name="gino tosti" userId="f614b7af894988c3" providerId="LiveId" clId="{45D8D1B5-8849-4E88-A8AF-5557EBB7F985}" dt="2026-03-27T08:56:21.311" v="697" actId="1076"/>
          <ac:spMkLst>
            <pc:docMk/>
            <pc:sldMk cId="0" sldId="668"/>
            <ac:spMk id="7" creationId="{8C6BA3DA-B277-8EBA-1D93-B72A5DFE6421}"/>
          </ac:spMkLst>
        </pc:spChg>
        <pc:spChg chg="mod">
          <ac:chgData name="gino tosti" userId="f614b7af894988c3" providerId="LiveId" clId="{45D8D1B5-8849-4E88-A8AF-5557EBB7F985}" dt="2026-03-27T08:03:48.326" v="554" actId="20577"/>
          <ac:spMkLst>
            <pc:docMk/>
            <pc:sldMk cId="0" sldId="668"/>
            <ac:spMk id="37889" creationId="{2492B851-E38B-824F-91D5-C30ECFD5E600}"/>
          </ac:spMkLst>
        </pc:spChg>
        <pc:picChg chg="mod">
          <ac:chgData name="gino tosti" userId="f614b7af894988c3" providerId="LiveId" clId="{45D8D1B5-8849-4E88-A8AF-5557EBB7F985}" dt="2026-03-27T08:55:54.839" v="684" actId="1076"/>
          <ac:picMkLst>
            <pc:docMk/>
            <pc:sldMk cId="0" sldId="668"/>
            <ac:picMk id="2" creationId="{A22C0974-13DD-6B4F-84C7-C2A99D1132AC}"/>
          </ac:picMkLst>
        </pc:picChg>
        <pc:picChg chg="add mod">
          <ac:chgData name="gino tosti" userId="f614b7af894988c3" providerId="LiveId" clId="{45D8D1B5-8849-4E88-A8AF-5557EBB7F985}" dt="2026-03-27T08:43:24.468" v="566" actId="1076"/>
          <ac:picMkLst>
            <pc:docMk/>
            <pc:sldMk cId="0" sldId="668"/>
            <ac:picMk id="4" creationId="{324856D4-2DF5-6626-0469-883049282A7E}"/>
          </ac:picMkLst>
        </pc:picChg>
        <pc:picChg chg="add mod">
          <ac:chgData name="gino tosti" userId="f614b7af894988c3" providerId="LiveId" clId="{45D8D1B5-8849-4E88-A8AF-5557EBB7F985}" dt="2026-03-27T08:43:35.698" v="569" actId="1076"/>
          <ac:picMkLst>
            <pc:docMk/>
            <pc:sldMk cId="0" sldId="668"/>
            <ac:picMk id="6" creationId="{5A09FD74-7407-DAED-FFF2-1782AC39D4A2}"/>
          </ac:picMkLst>
        </pc:picChg>
        <pc:picChg chg="add mod">
          <ac:chgData name="gino tosti" userId="f614b7af894988c3" providerId="LiveId" clId="{45D8D1B5-8849-4E88-A8AF-5557EBB7F985}" dt="2026-03-27T08:55:59.513" v="686" actId="1076"/>
          <ac:picMkLst>
            <pc:docMk/>
            <pc:sldMk cId="0" sldId="668"/>
            <ac:picMk id="1026" creationId="{BB152DF5-6B4A-D399-F008-E4EDD971B268}"/>
          </ac:picMkLst>
        </pc:picChg>
      </pc:sldChg>
      <pc:sldChg chg="ord">
        <pc:chgData name="gino tosti" userId="f614b7af894988c3" providerId="LiveId" clId="{45D8D1B5-8849-4E88-A8AF-5557EBB7F985}" dt="2026-03-22T20:05:17.463" v="553"/>
        <pc:sldMkLst>
          <pc:docMk/>
          <pc:sldMk cId="0" sldId="781"/>
        </pc:sldMkLst>
      </pc:sldChg>
      <pc:sldChg chg="modSp mod">
        <pc:chgData name="gino tosti" userId="f614b7af894988c3" providerId="LiveId" clId="{45D8D1B5-8849-4E88-A8AF-5557EBB7F985}" dt="2026-03-22T19:26:30.969" v="489" actId="20577"/>
        <pc:sldMkLst>
          <pc:docMk/>
          <pc:sldMk cId="0" sldId="797"/>
        </pc:sldMkLst>
        <pc:spChg chg="mod">
          <ac:chgData name="gino tosti" userId="f614b7af894988c3" providerId="LiveId" clId="{45D8D1B5-8849-4E88-A8AF-5557EBB7F985}" dt="2026-03-22T19:26:30.969" v="489" actId="20577"/>
          <ac:spMkLst>
            <pc:docMk/>
            <pc:sldMk cId="0" sldId="797"/>
            <ac:spMk id="23554" creationId="{1A2A6D0D-C100-6E44-B669-22FAD99F8BB1}"/>
          </ac:spMkLst>
        </pc:spChg>
      </pc:sldChg>
      <pc:sldChg chg="addSp modSp new mod ord">
        <pc:chgData name="gino tosti" userId="f614b7af894988c3" providerId="LiveId" clId="{45D8D1B5-8849-4E88-A8AF-5557EBB7F985}" dt="2026-03-22T17:18:32.969" v="47"/>
        <pc:sldMkLst>
          <pc:docMk/>
          <pc:sldMk cId="2807114403" sldId="803"/>
        </pc:sldMkLst>
        <pc:spChg chg="mod">
          <ac:chgData name="gino tosti" userId="f614b7af894988c3" providerId="LiveId" clId="{45D8D1B5-8849-4E88-A8AF-5557EBB7F985}" dt="2026-03-22T17:11:49.030" v="19" actId="1076"/>
          <ac:spMkLst>
            <pc:docMk/>
            <pc:sldMk cId="2807114403" sldId="803"/>
            <ac:spMk id="2" creationId="{F60E9AD1-DD64-1D1B-9FBE-99F61C3087C8}"/>
          </ac:spMkLst>
        </pc:spChg>
        <pc:spChg chg="add mod">
          <ac:chgData name="gino tosti" userId="f614b7af894988c3" providerId="LiveId" clId="{45D8D1B5-8849-4E88-A8AF-5557EBB7F985}" dt="2026-03-22T17:14:15.815" v="29" actId="1076"/>
          <ac:spMkLst>
            <pc:docMk/>
            <pc:sldMk cId="2807114403" sldId="803"/>
            <ac:spMk id="4" creationId="{46551382-61C4-B6E5-611F-34D8BF908DED}"/>
          </ac:spMkLst>
        </pc:spChg>
        <pc:spChg chg="add mod">
          <ac:chgData name="gino tosti" userId="f614b7af894988c3" providerId="LiveId" clId="{45D8D1B5-8849-4E88-A8AF-5557EBB7F985}" dt="2026-03-22T17:16:55.545" v="39" actId="1076"/>
          <ac:spMkLst>
            <pc:docMk/>
            <pc:sldMk cId="2807114403" sldId="803"/>
            <ac:spMk id="6" creationId="{42E153DC-5625-CFC9-7CA9-DAFBABE0A988}"/>
          </ac:spMkLst>
        </pc:spChg>
        <pc:spChg chg="add mod">
          <ac:chgData name="gino tosti" userId="f614b7af894988c3" providerId="LiveId" clId="{45D8D1B5-8849-4E88-A8AF-5557EBB7F985}" dt="2026-03-22T17:17:43.151" v="43" actId="1076"/>
          <ac:spMkLst>
            <pc:docMk/>
            <pc:sldMk cId="2807114403" sldId="803"/>
            <ac:spMk id="8" creationId="{2D4A1B34-928F-447E-05B5-36429F8D0994}"/>
          </ac:spMkLst>
        </pc:spChg>
        <pc:spChg chg="add mod">
          <ac:chgData name="gino tosti" userId="f614b7af894988c3" providerId="LiveId" clId="{45D8D1B5-8849-4E88-A8AF-5557EBB7F985}" dt="2026-03-22T17:17:56.871" v="45" actId="1076"/>
          <ac:spMkLst>
            <pc:docMk/>
            <pc:sldMk cId="2807114403" sldId="803"/>
            <ac:spMk id="9" creationId="{0CFE0FCC-230F-5BEF-59EE-B2B96042CCDF}"/>
          </ac:spMkLst>
        </pc:spChg>
        <pc:picChg chg="add mod">
          <ac:chgData name="gino tosti" userId="f614b7af894988c3" providerId="LiveId" clId="{45D8D1B5-8849-4E88-A8AF-5557EBB7F985}" dt="2026-03-22T17:14:04.429" v="27" actId="1076"/>
          <ac:picMkLst>
            <pc:docMk/>
            <pc:sldMk cId="2807114403" sldId="803"/>
            <ac:picMk id="1026" creationId="{A35CAB98-EE46-96A6-E55C-C91C9A444365}"/>
          </ac:picMkLst>
        </pc:picChg>
        <pc:picChg chg="add mod">
          <ac:chgData name="gino tosti" userId="f614b7af894988c3" providerId="LiveId" clId="{45D8D1B5-8849-4E88-A8AF-5557EBB7F985}" dt="2026-03-22T17:15:29.539" v="33" actId="1076"/>
          <ac:picMkLst>
            <pc:docMk/>
            <pc:sldMk cId="2807114403" sldId="803"/>
            <ac:picMk id="1028" creationId="{9ACE2073-E607-9772-26A2-3B7F2F9A1C44}"/>
          </ac:picMkLst>
        </pc:picChg>
      </pc:sldChg>
      <pc:sldChg chg="addSp modSp new mod">
        <pc:chgData name="gino tosti" userId="f614b7af894988c3" providerId="LiveId" clId="{45D8D1B5-8849-4E88-A8AF-5557EBB7F985}" dt="2026-03-22T20:03:44.676" v="551" actId="22"/>
        <pc:sldMkLst>
          <pc:docMk/>
          <pc:sldMk cId="386284714" sldId="804"/>
        </pc:sldMkLst>
        <pc:spChg chg="mod">
          <ac:chgData name="gino tosti" userId="f614b7af894988c3" providerId="LiveId" clId="{45D8D1B5-8849-4E88-A8AF-5557EBB7F985}" dt="2026-03-22T20:03:42.062" v="550" actId="20577"/>
          <ac:spMkLst>
            <pc:docMk/>
            <pc:sldMk cId="386284714" sldId="804"/>
            <ac:spMk id="2" creationId="{985E637B-7C40-036C-BD2F-08EDFA9B0F4F}"/>
          </ac:spMkLst>
        </pc:spChg>
        <pc:picChg chg="add">
          <ac:chgData name="gino tosti" userId="f614b7af894988c3" providerId="LiveId" clId="{45D8D1B5-8849-4E88-A8AF-5557EBB7F985}" dt="2026-03-22T20:03:44.676" v="551" actId="22"/>
          <ac:picMkLst>
            <pc:docMk/>
            <pc:sldMk cId="386284714" sldId="804"/>
            <ac:picMk id="4" creationId="{33B58653-E350-2023-1D7E-1D66891DB3A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78D60BA3-A04D-4C4C-B463-65F36C77D9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62B2C5E-2D33-9146-81F0-7231173573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A27B0F9-E437-8441-9824-5C54A2A5C958}" type="datetimeFigureOut">
              <a:rPr lang="it-IT" altLang="it-IT"/>
              <a:pPr>
                <a:defRPr/>
              </a:pPr>
              <a:t>27/03/2026</a:t>
            </a:fld>
            <a:endParaRPr lang="en-GB" alt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DE0AED2-F7B0-9649-A1E9-882641C26A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DEC20BA-1B98-2C4E-AEE2-1567800236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27F54C1-B8C0-AF46-9319-09B11C51B62E}" type="slidenum">
              <a:rPr lang="en-GB" altLang="it-IT"/>
              <a:pPr>
                <a:defRPr/>
              </a:pPr>
              <a:t>‹#›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70745FB9-B161-5646-8913-1126451670C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9C4DB0C1-8BCC-DB44-8557-8CBDA399CDB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itchFamily="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3039978C-9919-8443-8E59-B75035DBF85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8005" name="Rectangle 5">
            <a:extLst>
              <a:ext uri="{FF2B5EF4-FFF2-40B4-BE49-F238E27FC236}">
                <a16:creationId xmlns:a16="http://schemas.microsoft.com/office/drawing/2014/main" id="{3AFADFC0-358F-AD4B-865D-34DFD57E8C7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8006" name="Rectangle 6">
            <a:extLst>
              <a:ext uri="{FF2B5EF4-FFF2-40B4-BE49-F238E27FC236}">
                <a16:creationId xmlns:a16="http://schemas.microsoft.com/office/drawing/2014/main" id="{7E7454E1-3AA3-2440-9638-50F8E9F4DB8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007" name="Rectangle 7">
            <a:extLst>
              <a:ext uri="{FF2B5EF4-FFF2-40B4-BE49-F238E27FC236}">
                <a16:creationId xmlns:a16="http://schemas.microsoft.com/office/drawing/2014/main" id="{94AB7B50-776F-964D-9D35-32A1F43802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AB3174F-5372-2F43-BD89-95149E856B32}" type="slidenum">
              <a:rPr lang="en-US" altLang="it-IT"/>
              <a:pPr>
                <a:defRPr/>
              </a:pPr>
              <a:t>‹#›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" charset="0"/>
        <a:ea typeface="ＭＳ Ｐゴシック" pitchFamily="1" charset="-128"/>
        <a:cs typeface="ＭＳ Ｐゴシック" pitchFamily="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" charset="0"/>
        <a:ea typeface="ＭＳ Ｐゴシック" pitchFamily="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" charset="0"/>
        <a:ea typeface="ＭＳ Ｐゴシック" pitchFamily="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" charset="0"/>
        <a:ea typeface="ＭＳ Ｐゴシック" pitchFamily="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" charset="0"/>
        <a:ea typeface="ＭＳ Ｐゴシック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27C651AE-09A0-6E43-BC1C-D9CA7EA48C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EFE4088-2BC6-1543-A4FF-C1466A7D8687}" type="slidenum">
              <a:rPr lang="en-US" altLang="it-IT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28</a:t>
            </a:fld>
            <a:endParaRPr lang="en-US" altLang="it-IT">
              <a:latin typeface="Arial" panose="020B0604020202020204" pitchFamily="34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ADE0A0FA-5904-6D45-811D-E24518B584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40F1C686-AC65-B648-A470-2EE36EFBDB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it-IT" altLang="it-IT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00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74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5554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66800"/>
            <a:ext cx="38100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38100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04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0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6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012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0686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7387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037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88913"/>
            <a:ext cx="1943100" cy="6440487"/>
          </a:xfrm>
        </p:spPr>
        <p:txBody>
          <a:bodyPr vert="eaVert"/>
          <a:lstStyle/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188913"/>
            <a:ext cx="5678487" cy="6440487"/>
          </a:xfrm>
        </p:spPr>
        <p:txBody>
          <a:bodyPr vert="eaVert"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479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4213" y="188913"/>
            <a:ext cx="7773987" cy="6440487"/>
          </a:xfrm>
        </p:spPr>
        <p:txBody>
          <a:bodyPr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133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188913"/>
            <a:ext cx="7772400" cy="381000"/>
          </a:xfrm>
        </p:spPr>
        <p:txBody>
          <a:bodyPr/>
          <a:lstStyle/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66800"/>
            <a:ext cx="3810000" cy="5562600"/>
          </a:xfrm>
        </p:spPr>
        <p:txBody>
          <a:bodyPr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066800"/>
            <a:ext cx="3810000" cy="2705100"/>
          </a:xfrm>
        </p:spPr>
        <p:txBody>
          <a:bodyPr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24300"/>
            <a:ext cx="3810000" cy="2705100"/>
          </a:xfrm>
        </p:spPr>
        <p:txBody>
          <a:bodyPr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342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188913"/>
            <a:ext cx="7772400" cy="381000"/>
          </a:xfrm>
        </p:spPr>
        <p:txBody>
          <a:bodyPr/>
          <a:lstStyle/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66800"/>
            <a:ext cx="3810000" cy="5562600"/>
          </a:xfrm>
        </p:spPr>
        <p:txBody>
          <a:bodyPr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3810000" cy="5562600"/>
          </a:xfrm>
        </p:spPr>
        <p:txBody>
          <a:bodyPr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582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94BB77A-CDD2-114B-B400-BD08E06506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188913"/>
            <a:ext cx="7772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ADFB364-7DCA-0642-8D63-A537AA8C9C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066800"/>
            <a:ext cx="7702550" cy="545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8" name="CasellaDiTesto 1">
            <a:extLst>
              <a:ext uri="{FF2B5EF4-FFF2-40B4-BE49-F238E27FC236}">
                <a16:creationId xmlns:a16="http://schemas.microsoft.com/office/drawing/2014/main" id="{45C75723-6670-F94D-849A-8D71A4FFF03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674100" y="6524625"/>
            <a:ext cx="4349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1F3549BE-A352-F44F-BF74-B4CFADF9FA97}" type="slidenum">
              <a:rPr lang="en-GB" altLang="it-IT" sz="1200" smtClean="0"/>
              <a:pPr eaLnBrk="1" hangingPunct="1">
                <a:defRPr/>
              </a:pPr>
              <a:t>‹#›</a:t>
            </a:fld>
            <a:endParaRPr lang="en-GB" altLang="it-IT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>
          <a:solidFill>
            <a:srgbClr val="FF3300"/>
          </a:solidFill>
          <a:latin typeface="+mj-lt"/>
          <a:ea typeface="ＭＳ Ｐゴシック" pitchFamily="1" charset="-128"/>
          <a:cs typeface="ＭＳ Ｐゴシック" pitchFamily="1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>
          <a:solidFill>
            <a:srgbClr val="FF3300"/>
          </a:solidFill>
          <a:latin typeface="Tahoma" pitchFamily="1" charset="0"/>
          <a:ea typeface="ＭＳ Ｐゴシック" pitchFamily="1" charset="-128"/>
          <a:cs typeface="ＭＳ Ｐゴシック" pitchFamily="1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>
          <a:solidFill>
            <a:srgbClr val="FF3300"/>
          </a:solidFill>
          <a:latin typeface="Tahoma" pitchFamily="1" charset="0"/>
          <a:ea typeface="ＭＳ Ｐゴシック" pitchFamily="1" charset="-128"/>
          <a:cs typeface="ＭＳ Ｐゴシック" pitchFamily="1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>
          <a:solidFill>
            <a:srgbClr val="FF3300"/>
          </a:solidFill>
          <a:latin typeface="Tahoma" pitchFamily="1" charset="0"/>
          <a:ea typeface="ＭＳ Ｐゴシック" pitchFamily="1" charset="-128"/>
          <a:cs typeface="ＭＳ Ｐゴシック" pitchFamily="1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>
          <a:solidFill>
            <a:srgbClr val="FF3300"/>
          </a:solidFill>
          <a:latin typeface="Tahoma" pitchFamily="1" charset="0"/>
          <a:ea typeface="ＭＳ Ｐゴシック" pitchFamily="1" charset="-128"/>
          <a:cs typeface="ＭＳ Ｐゴシック" pitchFamily="1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2400">
          <a:solidFill>
            <a:srgbClr val="FF3300"/>
          </a:solidFill>
          <a:latin typeface="Tahoma" pitchFamily="1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>
          <a:solidFill>
            <a:srgbClr val="FF3300"/>
          </a:solidFill>
          <a:latin typeface="Tahoma" pitchFamily="1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>
          <a:solidFill>
            <a:srgbClr val="FF3300"/>
          </a:solidFill>
          <a:latin typeface="Tahoma" pitchFamily="1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>
          <a:solidFill>
            <a:srgbClr val="FF3300"/>
          </a:solidFill>
          <a:latin typeface="Tahoma" pitchFamily="1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rgbClr val="000000"/>
          </a:solidFill>
          <a:latin typeface="+mn-lt"/>
          <a:ea typeface="ＭＳ Ｐゴシック" pitchFamily="1" charset="-128"/>
          <a:cs typeface="ＭＳ Ｐゴシック" pitchFamily="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rgbClr val="000000"/>
          </a:solidFill>
          <a:latin typeface="+mn-lt"/>
          <a:ea typeface="ＭＳ Ｐゴシック" pitchFamily="1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rgbClr val="000000"/>
          </a:solidFill>
          <a:latin typeface="+mn-lt"/>
          <a:ea typeface="ＭＳ Ｐゴシック" pitchFamily="1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rgbClr val="000000"/>
          </a:solidFill>
          <a:latin typeface="+mn-lt"/>
          <a:ea typeface="ＭＳ Ｐゴシック" pitchFamily="1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rgbClr val="000000"/>
          </a:solidFill>
          <a:latin typeface="+mn-lt"/>
          <a:ea typeface="ＭＳ Ｐゴシック" pitchFamily="1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accent2"/>
          </a:solidFill>
          <a:latin typeface="+mn-lt"/>
          <a:ea typeface="ＭＳ Ｐゴシック" pitchFamily="1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accent2"/>
          </a:solidFill>
          <a:latin typeface="+mn-lt"/>
          <a:ea typeface="ＭＳ Ｐゴシック" pitchFamily="1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accent2"/>
          </a:solidFill>
          <a:latin typeface="+mn-lt"/>
          <a:ea typeface="ＭＳ Ｐゴシック" pitchFamily="1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accent2"/>
          </a:solidFill>
          <a:latin typeface="+mn-lt"/>
          <a:ea typeface="ＭＳ Ｐゴシック" pitchFamily="1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emf"/><Relationship Id="rId4" Type="http://schemas.openxmlformats.org/officeDocument/2006/relationships/oleObject" Target="../embeddings/oleObject7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ui.adsabs.harvard.edu/abs/2015ApJ...798...88M/abstract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arxiv.org/abs/1905.02734" TargetMode="Externa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emf"/><Relationship Id="rId4" Type="http://schemas.openxmlformats.org/officeDocument/2006/relationships/image" Target="../media/image43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jpeg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>
            <a:extLst>
              <a:ext uri="{FF2B5EF4-FFF2-40B4-BE49-F238E27FC236}">
                <a16:creationId xmlns:a16="http://schemas.microsoft.com/office/drawing/2014/main" id="{B44A20BB-EAEB-F648-A32C-D3F904BCF8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 STRUMENTAZIONE ASTRONOMICA</a:t>
            </a:r>
          </a:p>
        </p:txBody>
      </p:sp>
      <p:sp>
        <p:nvSpPr>
          <p:cNvPr id="4098" name="Rectangle 3">
            <a:extLst>
              <a:ext uri="{FF2B5EF4-FFF2-40B4-BE49-F238E27FC236}">
                <a16:creationId xmlns:a16="http://schemas.microsoft.com/office/drawing/2014/main" id="{1154EA15-C517-6B47-9075-391270399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50" y="201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it-IT">
              <a:solidFill>
                <a:schemeClr val="tx1"/>
              </a:solidFill>
            </a:endParaRPr>
          </a:p>
        </p:txBody>
      </p:sp>
      <p:sp>
        <p:nvSpPr>
          <p:cNvPr id="4099" name="Text Box 4">
            <a:extLst>
              <a:ext uri="{FF2B5EF4-FFF2-40B4-BE49-F238E27FC236}">
                <a16:creationId xmlns:a16="http://schemas.microsoft.com/office/drawing/2014/main" id="{EBFB5851-D0A4-2E4C-95BE-51D1B6F82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013325"/>
            <a:ext cx="81645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it-IT" altLang="it-IT" sz="1400">
              <a:solidFill>
                <a:schemeClr val="accent2"/>
              </a:solidFill>
            </a:endParaRPr>
          </a:p>
        </p:txBody>
      </p:sp>
      <p:grpSp>
        <p:nvGrpSpPr>
          <p:cNvPr id="4100" name="Group 57">
            <a:extLst>
              <a:ext uri="{FF2B5EF4-FFF2-40B4-BE49-F238E27FC236}">
                <a16:creationId xmlns:a16="http://schemas.microsoft.com/office/drawing/2014/main" id="{542EA537-49A9-2B4D-8AAC-DEC7C1620DA8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936625"/>
            <a:ext cx="8342312" cy="1979613"/>
            <a:chOff x="323" y="1292"/>
            <a:chExt cx="5255" cy="1247"/>
          </a:xfrm>
        </p:grpSpPr>
        <p:sp>
          <p:nvSpPr>
            <p:cNvPr id="4103" name="Rectangle 5">
              <a:extLst>
                <a:ext uri="{FF2B5EF4-FFF2-40B4-BE49-F238E27FC236}">
                  <a16:creationId xmlns:a16="http://schemas.microsoft.com/office/drawing/2014/main" id="{9CA97AB5-5E2A-514B-A607-072298020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" y="1525"/>
              <a:ext cx="912" cy="384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it-IT">
                <a:solidFill>
                  <a:schemeClr val="tx1"/>
                </a:solidFill>
              </a:endParaRPr>
            </a:p>
          </p:txBody>
        </p:sp>
        <p:grpSp>
          <p:nvGrpSpPr>
            <p:cNvPr id="4104" name="Group 6">
              <a:extLst>
                <a:ext uri="{FF2B5EF4-FFF2-40B4-BE49-F238E27FC236}">
                  <a16:creationId xmlns:a16="http://schemas.microsoft.com/office/drawing/2014/main" id="{552B16DD-4E75-DE4C-9B23-0278994F68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3" y="1292"/>
              <a:ext cx="2245" cy="903"/>
              <a:chOff x="203" y="1303"/>
              <a:chExt cx="4232" cy="903"/>
            </a:xfrm>
          </p:grpSpPr>
          <p:sp>
            <p:nvSpPr>
              <p:cNvPr id="4113" name="Line 7">
                <a:extLst>
                  <a:ext uri="{FF2B5EF4-FFF2-40B4-BE49-F238E27FC236}">
                    <a16:creationId xmlns:a16="http://schemas.microsoft.com/office/drawing/2014/main" id="{94FF4816-CEE7-C844-8225-E6503E5339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5" y="1344"/>
                <a:ext cx="384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114" name="Line 8">
                <a:extLst>
                  <a:ext uri="{FF2B5EF4-FFF2-40B4-BE49-F238E27FC236}">
                    <a16:creationId xmlns:a16="http://schemas.microsoft.com/office/drawing/2014/main" id="{E90C1A58-84E7-4145-8BDA-C0FB7CA2DA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99" y="2160"/>
                <a:ext cx="250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115" name="Line 9">
                <a:extLst>
                  <a:ext uri="{FF2B5EF4-FFF2-40B4-BE49-F238E27FC236}">
                    <a16:creationId xmlns:a16="http://schemas.microsoft.com/office/drawing/2014/main" id="{80DC8CB8-62BE-8042-9418-9599906508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5" y="2160"/>
                <a:ext cx="136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grpSp>
            <p:nvGrpSpPr>
              <p:cNvPr id="4116" name="Group 10">
                <a:extLst>
                  <a:ext uri="{FF2B5EF4-FFF2-40B4-BE49-F238E27FC236}">
                    <a16:creationId xmlns:a16="http://schemas.microsoft.com/office/drawing/2014/main" id="{5AE95B20-4403-FC43-A2F5-E627A5BFF1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3" y="1440"/>
                <a:ext cx="3725" cy="612"/>
                <a:chOff x="571" y="1440"/>
                <a:chExt cx="4686" cy="618"/>
              </a:xfrm>
            </p:grpSpPr>
            <p:sp>
              <p:nvSpPr>
                <p:cNvPr id="4126" name="Line 11">
                  <a:extLst>
                    <a:ext uri="{FF2B5EF4-FFF2-40B4-BE49-F238E27FC236}">
                      <a16:creationId xmlns:a16="http://schemas.microsoft.com/office/drawing/2014/main" id="{8299402C-5ECF-5947-9EEC-B27D93B1EF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81" y="1440"/>
                  <a:ext cx="4655" cy="0"/>
                </a:xfrm>
                <a:prstGeom prst="line">
                  <a:avLst/>
                </a:prstGeom>
                <a:noFill/>
                <a:ln w="28575">
                  <a:solidFill>
                    <a:srgbClr val="8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it-IT"/>
                </a:p>
              </p:txBody>
            </p:sp>
            <p:sp>
              <p:nvSpPr>
                <p:cNvPr id="4127" name="Line 12">
                  <a:extLst>
                    <a:ext uri="{FF2B5EF4-FFF2-40B4-BE49-F238E27FC236}">
                      <a16:creationId xmlns:a16="http://schemas.microsoft.com/office/drawing/2014/main" id="{90FA9755-3977-C14C-9AB0-DDF491435D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1" y="2058"/>
                  <a:ext cx="4686" cy="0"/>
                </a:xfrm>
                <a:prstGeom prst="line">
                  <a:avLst/>
                </a:prstGeom>
                <a:noFill/>
                <a:ln w="28575">
                  <a:solidFill>
                    <a:srgbClr val="8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it-IT"/>
                </a:p>
              </p:txBody>
            </p:sp>
          </p:grpSp>
          <p:grpSp>
            <p:nvGrpSpPr>
              <p:cNvPr id="4117" name="Group 13">
                <a:extLst>
                  <a:ext uri="{FF2B5EF4-FFF2-40B4-BE49-F238E27FC236}">
                    <a16:creationId xmlns:a16="http://schemas.microsoft.com/office/drawing/2014/main" id="{72487E19-229B-C442-A68C-456E628495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1440"/>
                <a:ext cx="2440" cy="618"/>
                <a:chOff x="2389" y="1692"/>
                <a:chExt cx="2440" cy="618"/>
              </a:xfrm>
            </p:grpSpPr>
            <p:sp>
              <p:nvSpPr>
                <p:cNvPr id="4124" name="Line 14">
                  <a:extLst>
                    <a:ext uri="{FF2B5EF4-FFF2-40B4-BE49-F238E27FC236}">
                      <a16:creationId xmlns:a16="http://schemas.microsoft.com/office/drawing/2014/main" id="{C360BB2A-E61E-F741-83E9-11286BA6F8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89" y="1692"/>
                  <a:ext cx="2430" cy="220"/>
                </a:xfrm>
                <a:prstGeom prst="line">
                  <a:avLst/>
                </a:prstGeom>
                <a:noFill/>
                <a:ln w="28575">
                  <a:solidFill>
                    <a:srgbClr val="8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it-IT"/>
                </a:p>
              </p:txBody>
            </p:sp>
            <p:sp>
              <p:nvSpPr>
                <p:cNvPr id="4125" name="Line 15">
                  <a:extLst>
                    <a:ext uri="{FF2B5EF4-FFF2-40B4-BE49-F238E27FC236}">
                      <a16:creationId xmlns:a16="http://schemas.microsoft.com/office/drawing/2014/main" id="{DF0441DD-E4E4-3F43-AD5C-5F919CEEF5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89" y="2090"/>
                  <a:ext cx="2440" cy="220"/>
                </a:xfrm>
                <a:prstGeom prst="line">
                  <a:avLst/>
                </a:prstGeom>
                <a:noFill/>
                <a:ln w="28575">
                  <a:solidFill>
                    <a:srgbClr val="8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it-IT"/>
                </a:p>
              </p:txBody>
            </p:sp>
          </p:grpSp>
          <p:sp>
            <p:nvSpPr>
              <p:cNvPr id="4118" name="Freeform 16">
                <a:extLst>
                  <a:ext uri="{FF2B5EF4-FFF2-40B4-BE49-F238E27FC236}">
                    <a16:creationId xmlns:a16="http://schemas.microsoft.com/office/drawing/2014/main" id="{834BB361-5F2F-8F4D-B357-8D518FE91C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1" y="1539"/>
                <a:ext cx="116" cy="426"/>
              </a:xfrm>
              <a:custGeom>
                <a:avLst/>
                <a:gdLst>
                  <a:gd name="T0" fmla="*/ 1 w 163"/>
                  <a:gd name="T1" fmla="*/ 3 h 494"/>
                  <a:gd name="T2" fmla="*/ 1 w 163"/>
                  <a:gd name="T3" fmla="*/ 3 h 494"/>
                  <a:gd name="T4" fmla="*/ 1 w 163"/>
                  <a:gd name="T5" fmla="*/ 3 h 494"/>
                  <a:gd name="T6" fmla="*/ 1 w 163"/>
                  <a:gd name="T7" fmla="*/ 3 h 494"/>
                  <a:gd name="T8" fmla="*/ 1 w 163"/>
                  <a:gd name="T9" fmla="*/ 3 h 494"/>
                  <a:gd name="T10" fmla="*/ 1 w 163"/>
                  <a:gd name="T11" fmla="*/ 3 h 494"/>
                  <a:gd name="T12" fmla="*/ 1 w 163"/>
                  <a:gd name="T13" fmla="*/ 3 h 494"/>
                  <a:gd name="T14" fmla="*/ 1 w 163"/>
                  <a:gd name="T15" fmla="*/ 3 h 4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3"/>
                  <a:gd name="T25" fmla="*/ 0 h 494"/>
                  <a:gd name="T26" fmla="*/ 163 w 163"/>
                  <a:gd name="T27" fmla="*/ 494 h 4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3" h="494">
                    <a:moveTo>
                      <a:pt x="16" y="42"/>
                    </a:moveTo>
                    <a:cubicBezTo>
                      <a:pt x="16" y="114"/>
                      <a:pt x="16" y="354"/>
                      <a:pt x="16" y="424"/>
                    </a:cubicBezTo>
                    <a:cubicBezTo>
                      <a:pt x="16" y="494"/>
                      <a:pt x="0" y="465"/>
                      <a:pt x="16" y="461"/>
                    </a:cubicBezTo>
                    <a:cubicBezTo>
                      <a:pt x="32" y="457"/>
                      <a:pt x="91" y="436"/>
                      <a:pt x="115" y="398"/>
                    </a:cubicBezTo>
                    <a:cubicBezTo>
                      <a:pt x="139" y="360"/>
                      <a:pt x="163" y="289"/>
                      <a:pt x="162" y="235"/>
                    </a:cubicBezTo>
                    <a:cubicBezTo>
                      <a:pt x="161" y="181"/>
                      <a:pt x="134" y="111"/>
                      <a:pt x="110" y="73"/>
                    </a:cubicBezTo>
                    <a:cubicBezTo>
                      <a:pt x="86" y="35"/>
                      <a:pt x="32" y="10"/>
                      <a:pt x="16" y="5"/>
                    </a:cubicBezTo>
                    <a:cubicBezTo>
                      <a:pt x="0" y="0"/>
                      <a:pt x="16" y="34"/>
                      <a:pt x="16" y="4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119" name="Freeform 17">
                <a:extLst>
                  <a:ext uri="{FF2B5EF4-FFF2-40B4-BE49-F238E27FC236}">
                    <a16:creationId xmlns:a16="http://schemas.microsoft.com/office/drawing/2014/main" id="{962FA533-DBDF-DF48-A202-D6657A29A7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4" y="1303"/>
                <a:ext cx="265" cy="339"/>
              </a:xfrm>
              <a:custGeom>
                <a:avLst/>
                <a:gdLst>
                  <a:gd name="T0" fmla="*/ 0 w 265"/>
                  <a:gd name="T1" fmla="*/ 42 h 339"/>
                  <a:gd name="T2" fmla="*/ 225 w 265"/>
                  <a:gd name="T3" fmla="*/ 42 h 339"/>
                  <a:gd name="T4" fmla="*/ 240 w 265"/>
                  <a:gd name="T5" fmla="*/ 42 h 339"/>
                  <a:gd name="T6" fmla="*/ 240 w 265"/>
                  <a:gd name="T7" fmla="*/ 293 h 339"/>
                  <a:gd name="T8" fmla="*/ 235 w 265"/>
                  <a:gd name="T9" fmla="*/ 320 h 339"/>
                  <a:gd name="T10" fmla="*/ 167 w 265"/>
                  <a:gd name="T11" fmla="*/ 325 h 339"/>
                  <a:gd name="T12" fmla="*/ 146 w 265"/>
                  <a:gd name="T13" fmla="*/ 325 h 339"/>
                  <a:gd name="T14" fmla="*/ 136 w 265"/>
                  <a:gd name="T15" fmla="*/ 267 h 339"/>
                  <a:gd name="T16" fmla="*/ 99 w 265"/>
                  <a:gd name="T17" fmla="*/ 189 h 339"/>
                  <a:gd name="T18" fmla="*/ 68 w 265"/>
                  <a:gd name="T19" fmla="*/ 131 h 339"/>
                  <a:gd name="T20" fmla="*/ 0 w 265"/>
                  <a:gd name="T21" fmla="*/ 47 h 33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65"/>
                  <a:gd name="T34" fmla="*/ 0 h 339"/>
                  <a:gd name="T35" fmla="*/ 265 w 265"/>
                  <a:gd name="T36" fmla="*/ 339 h 33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65" h="339">
                    <a:moveTo>
                      <a:pt x="0" y="42"/>
                    </a:moveTo>
                    <a:cubicBezTo>
                      <a:pt x="37" y="42"/>
                      <a:pt x="185" y="42"/>
                      <a:pt x="225" y="42"/>
                    </a:cubicBezTo>
                    <a:cubicBezTo>
                      <a:pt x="265" y="42"/>
                      <a:pt x="238" y="0"/>
                      <a:pt x="240" y="42"/>
                    </a:cubicBezTo>
                    <a:cubicBezTo>
                      <a:pt x="242" y="84"/>
                      <a:pt x="241" y="247"/>
                      <a:pt x="240" y="293"/>
                    </a:cubicBezTo>
                    <a:cubicBezTo>
                      <a:pt x="239" y="339"/>
                      <a:pt x="247" y="315"/>
                      <a:pt x="235" y="320"/>
                    </a:cubicBezTo>
                    <a:cubicBezTo>
                      <a:pt x="223" y="325"/>
                      <a:pt x="182" y="324"/>
                      <a:pt x="167" y="325"/>
                    </a:cubicBezTo>
                    <a:cubicBezTo>
                      <a:pt x="152" y="326"/>
                      <a:pt x="151" y="335"/>
                      <a:pt x="146" y="325"/>
                    </a:cubicBezTo>
                    <a:cubicBezTo>
                      <a:pt x="141" y="315"/>
                      <a:pt x="144" y="290"/>
                      <a:pt x="136" y="267"/>
                    </a:cubicBezTo>
                    <a:cubicBezTo>
                      <a:pt x="128" y="244"/>
                      <a:pt x="110" y="212"/>
                      <a:pt x="99" y="189"/>
                    </a:cubicBezTo>
                    <a:cubicBezTo>
                      <a:pt x="88" y="166"/>
                      <a:pt x="85" y="155"/>
                      <a:pt x="68" y="131"/>
                    </a:cubicBezTo>
                    <a:cubicBezTo>
                      <a:pt x="51" y="107"/>
                      <a:pt x="14" y="65"/>
                      <a:pt x="0" y="47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120" name="Freeform 18">
                <a:extLst>
                  <a:ext uri="{FF2B5EF4-FFF2-40B4-BE49-F238E27FC236}">
                    <a16:creationId xmlns:a16="http://schemas.microsoft.com/office/drawing/2014/main" id="{EC5190C3-DF2C-C941-950A-137F93839959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856" y="1854"/>
                <a:ext cx="265" cy="352"/>
              </a:xfrm>
              <a:custGeom>
                <a:avLst/>
                <a:gdLst>
                  <a:gd name="T0" fmla="*/ 0 w 265"/>
                  <a:gd name="T1" fmla="*/ 170 h 339"/>
                  <a:gd name="T2" fmla="*/ 225 w 265"/>
                  <a:gd name="T3" fmla="*/ 170 h 339"/>
                  <a:gd name="T4" fmla="*/ 240 w 265"/>
                  <a:gd name="T5" fmla="*/ 170 h 339"/>
                  <a:gd name="T6" fmla="*/ 240 w 265"/>
                  <a:gd name="T7" fmla="*/ 1184 h 339"/>
                  <a:gd name="T8" fmla="*/ 235 w 265"/>
                  <a:gd name="T9" fmla="*/ 1287 h 339"/>
                  <a:gd name="T10" fmla="*/ 167 w 265"/>
                  <a:gd name="T11" fmla="*/ 1304 h 339"/>
                  <a:gd name="T12" fmla="*/ 146 w 265"/>
                  <a:gd name="T13" fmla="*/ 1304 h 339"/>
                  <a:gd name="T14" fmla="*/ 136 w 265"/>
                  <a:gd name="T15" fmla="*/ 1071 h 339"/>
                  <a:gd name="T16" fmla="*/ 99 w 265"/>
                  <a:gd name="T17" fmla="*/ 760 h 339"/>
                  <a:gd name="T18" fmla="*/ 68 w 265"/>
                  <a:gd name="T19" fmla="*/ 529 h 339"/>
                  <a:gd name="T20" fmla="*/ 0 w 265"/>
                  <a:gd name="T21" fmla="*/ 186 h 33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65"/>
                  <a:gd name="T34" fmla="*/ 0 h 339"/>
                  <a:gd name="T35" fmla="*/ 265 w 265"/>
                  <a:gd name="T36" fmla="*/ 339 h 33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65" h="339">
                    <a:moveTo>
                      <a:pt x="0" y="42"/>
                    </a:moveTo>
                    <a:cubicBezTo>
                      <a:pt x="37" y="42"/>
                      <a:pt x="185" y="42"/>
                      <a:pt x="225" y="42"/>
                    </a:cubicBezTo>
                    <a:cubicBezTo>
                      <a:pt x="265" y="42"/>
                      <a:pt x="238" y="0"/>
                      <a:pt x="240" y="42"/>
                    </a:cubicBezTo>
                    <a:cubicBezTo>
                      <a:pt x="242" y="84"/>
                      <a:pt x="241" y="247"/>
                      <a:pt x="240" y="293"/>
                    </a:cubicBezTo>
                    <a:cubicBezTo>
                      <a:pt x="239" y="339"/>
                      <a:pt x="247" y="315"/>
                      <a:pt x="235" y="320"/>
                    </a:cubicBezTo>
                    <a:cubicBezTo>
                      <a:pt x="223" y="325"/>
                      <a:pt x="182" y="324"/>
                      <a:pt x="167" y="325"/>
                    </a:cubicBezTo>
                    <a:cubicBezTo>
                      <a:pt x="152" y="326"/>
                      <a:pt x="151" y="335"/>
                      <a:pt x="146" y="325"/>
                    </a:cubicBezTo>
                    <a:cubicBezTo>
                      <a:pt x="141" y="315"/>
                      <a:pt x="144" y="290"/>
                      <a:pt x="136" y="267"/>
                    </a:cubicBezTo>
                    <a:cubicBezTo>
                      <a:pt x="128" y="244"/>
                      <a:pt x="110" y="212"/>
                      <a:pt x="99" y="189"/>
                    </a:cubicBezTo>
                    <a:cubicBezTo>
                      <a:pt x="88" y="166"/>
                      <a:pt x="85" y="155"/>
                      <a:pt x="68" y="131"/>
                    </a:cubicBezTo>
                    <a:cubicBezTo>
                      <a:pt x="51" y="107"/>
                      <a:pt x="14" y="65"/>
                      <a:pt x="0" y="47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grpSp>
            <p:nvGrpSpPr>
              <p:cNvPr id="4121" name="Group 19">
                <a:extLst>
                  <a:ext uri="{FF2B5EF4-FFF2-40B4-BE49-F238E27FC236}">
                    <a16:creationId xmlns:a16="http://schemas.microsoft.com/office/drawing/2014/main" id="{4F1C84CE-0A51-C94B-8B29-C1B73CE536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" y="1670"/>
                <a:ext cx="2943" cy="162"/>
                <a:chOff x="2393" y="1922"/>
                <a:chExt cx="2943" cy="162"/>
              </a:xfrm>
            </p:grpSpPr>
            <p:sp>
              <p:nvSpPr>
                <p:cNvPr id="4122" name="Line 20">
                  <a:extLst>
                    <a:ext uri="{FF2B5EF4-FFF2-40B4-BE49-F238E27FC236}">
                      <a16:creationId xmlns:a16="http://schemas.microsoft.com/office/drawing/2014/main" id="{516565ED-C5F7-DE41-92F2-FE58FDCB43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93" y="1922"/>
                  <a:ext cx="2932" cy="73"/>
                </a:xfrm>
                <a:prstGeom prst="line">
                  <a:avLst/>
                </a:prstGeom>
                <a:noFill/>
                <a:ln w="28575">
                  <a:solidFill>
                    <a:srgbClr val="8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it-IT"/>
                </a:p>
              </p:txBody>
            </p:sp>
            <p:sp>
              <p:nvSpPr>
                <p:cNvPr id="4123" name="Line 21">
                  <a:extLst>
                    <a:ext uri="{FF2B5EF4-FFF2-40B4-BE49-F238E27FC236}">
                      <a16:creationId xmlns:a16="http://schemas.microsoft.com/office/drawing/2014/main" id="{6F22A6C9-E725-8F4F-8AC1-DA037292AA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393" y="1990"/>
                  <a:ext cx="2943" cy="94"/>
                </a:xfrm>
                <a:prstGeom prst="line">
                  <a:avLst/>
                </a:prstGeom>
                <a:noFill/>
                <a:ln w="28575">
                  <a:solidFill>
                    <a:srgbClr val="80008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it-IT"/>
                </a:p>
              </p:txBody>
            </p:sp>
          </p:grpSp>
        </p:grpSp>
        <p:sp>
          <p:nvSpPr>
            <p:cNvPr id="4105" name="AutoShape 22">
              <a:extLst>
                <a:ext uri="{FF2B5EF4-FFF2-40B4-BE49-F238E27FC236}">
                  <a16:creationId xmlns:a16="http://schemas.microsoft.com/office/drawing/2014/main" id="{F56CE9A9-CA30-2348-8E12-CFEA0B6C9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0" y="1621"/>
              <a:ext cx="240" cy="240"/>
            </a:xfrm>
            <a:prstGeom prst="rightArrow">
              <a:avLst>
                <a:gd name="adj1" fmla="val 50000"/>
                <a:gd name="adj2" fmla="val 58333"/>
              </a:avLst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it-IT">
                <a:solidFill>
                  <a:schemeClr val="tx1"/>
                </a:solidFill>
              </a:endParaRPr>
            </a:p>
          </p:txBody>
        </p:sp>
        <p:sp>
          <p:nvSpPr>
            <p:cNvPr id="4106" name="Rectangle 23">
              <a:extLst>
                <a:ext uri="{FF2B5EF4-FFF2-40B4-BE49-F238E27FC236}">
                  <a16:creationId xmlns:a16="http://schemas.microsoft.com/office/drawing/2014/main" id="{F2C3186F-15E0-A54A-91F7-15F4CD52E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" y="1525"/>
              <a:ext cx="192" cy="384"/>
            </a:xfrm>
            <a:prstGeom prst="rect">
              <a:avLst/>
            </a:prstGeom>
            <a:solidFill>
              <a:srgbClr val="CC33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it-IT">
                <a:solidFill>
                  <a:schemeClr val="tx1"/>
                </a:solidFill>
              </a:endParaRPr>
            </a:p>
          </p:txBody>
        </p:sp>
        <p:sp>
          <p:nvSpPr>
            <p:cNvPr id="4107" name="AutoShape 24">
              <a:extLst>
                <a:ext uri="{FF2B5EF4-FFF2-40B4-BE49-F238E27FC236}">
                  <a16:creationId xmlns:a16="http://schemas.microsoft.com/office/drawing/2014/main" id="{FDDBDA88-4D88-AF42-97B0-91B53FDAC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0" y="1621"/>
              <a:ext cx="240" cy="240"/>
            </a:xfrm>
            <a:prstGeom prst="rightArrow">
              <a:avLst>
                <a:gd name="adj1" fmla="val 50000"/>
                <a:gd name="adj2" fmla="val 58333"/>
              </a:avLst>
            </a:prstGeom>
            <a:solidFill>
              <a:srgbClr val="FFFF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it-IT">
                <a:solidFill>
                  <a:schemeClr val="tx1"/>
                </a:solidFill>
              </a:endParaRPr>
            </a:p>
          </p:txBody>
        </p:sp>
        <p:sp>
          <p:nvSpPr>
            <p:cNvPr id="4108" name="Text Box 26">
              <a:extLst>
                <a:ext uri="{FF2B5EF4-FFF2-40B4-BE49-F238E27FC236}">
                  <a16:creationId xmlns:a16="http://schemas.microsoft.com/office/drawing/2014/main" id="{7B0C393B-57AF-CF43-B054-EBA3862C99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" y="2222"/>
              <a:ext cx="10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it-IT">
                  <a:solidFill>
                    <a:schemeClr val="tx1"/>
                  </a:solidFill>
                  <a:latin typeface="Arial" panose="020B0604020202020204" pitchFamily="34" charset="0"/>
                </a:rPr>
                <a:t>Telescopio</a:t>
              </a:r>
            </a:p>
          </p:txBody>
        </p:sp>
        <p:sp>
          <p:nvSpPr>
            <p:cNvPr id="4109" name="Text Box 27">
              <a:extLst>
                <a:ext uri="{FF2B5EF4-FFF2-40B4-BE49-F238E27FC236}">
                  <a16:creationId xmlns:a16="http://schemas.microsoft.com/office/drawing/2014/main" id="{A83EED62-7C29-904C-A39F-93EB1D2F62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4" y="1909"/>
              <a:ext cx="10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it-IT">
                  <a:solidFill>
                    <a:schemeClr val="tx1"/>
                  </a:solidFill>
                  <a:latin typeface="Arial" panose="020B0604020202020204" pitchFamily="34" charset="0"/>
                </a:rPr>
                <a:t>Strumento</a:t>
              </a:r>
            </a:p>
          </p:txBody>
        </p:sp>
        <p:sp>
          <p:nvSpPr>
            <p:cNvPr id="4110" name="Text Box 28">
              <a:extLst>
                <a:ext uri="{FF2B5EF4-FFF2-40B4-BE49-F238E27FC236}">
                  <a16:creationId xmlns:a16="http://schemas.microsoft.com/office/drawing/2014/main" id="{47C4BE41-0413-4C44-A52A-F8179C8DCA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2" y="2149"/>
              <a:ext cx="98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it-IT">
                  <a:solidFill>
                    <a:schemeClr val="tx1"/>
                  </a:solidFill>
                  <a:latin typeface="Arial" panose="020B0604020202020204" pitchFamily="34" charset="0"/>
                </a:rPr>
                <a:t>Rivelatore</a:t>
              </a:r>
            </a:p>
          </p:txBody>
        </p:sp>
        <p:sp>
          <p:nvSpPr>
            <p:cNvPr id="4111" name="Text Box 29">
              <a:extLst>
                <a:ext uri="{FF2B5EF4-FFF2-40B4-BE49-F238E27FC236}">
                  <a16:creationId xmlns:a16="http://schemas.microsoft.com/office/drawing/2014/main" id="{11BFDB38-DCEE-C842-9E24-A24174B094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" y="2251"/>
              <a:ext cx="11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it-IT">
                  <a:solidFill>
                    <a:schemeClr val="tx1"/>
                  </a:solidFill>
                  <a:latin typeface="Arial" panose="020B0604020202020204" pitchFamily="34" charset="0"/>
                </a:rPr>
                <a:t>Elaboratore</a:t>
              </a:r>
            </a:p>
          </p:txBody>
        </p:sp>
        <p:sp>
          <p:nvSpPr>
            <p:cNvPr id="4112" name="computr2">
              <a:extLst>
                <a:ext uri="{FF2B5EF4-FFF2-40B4-BE49-F238E27FC236}">
                  <a16:creationId xmlns:a16="http://schemas.microsoft.com/office/drawing/2014/main" id="{A6896970-4DA4-5C4F-8415-6C8E1B9FDCBE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558" y="1298"/>
              <a:ext cx="706" cy="84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6180 w 21600"/>
                <a:gd name="T31" fmla="*/ 1924 h 21600"/>
                <a:gd name="T32" fmla="*/ 15573 w 21600"/>
                <a:gd name="T33" fmla="*/ 9748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21022" y="20295"/>
                  </a:moveTo>
                  <a:lnTo>
                    <a:pt x="18828" y="18396"/>
                  </a:lnTo>
                  <a:lnTo>
                    <a:pt x="18828" y="13174"/>
                  </a:lnTo>
                  <a:lnTo>
                    <a:pt x="15478" y="13174"/>
                  </a:lnTo>
                  <a:lnTo>
                    <a:pt x="15478" y="11631"/>
                  </a:lnTo>
                  <a:lnTo>
                    <a:pt x="17326" y="11631"/>
                  </a:lnTo>
                  <a:lnTo>
                    <a:pt x="17326" y="11156"/>
                  </a:lnTo>
                  <a:lnTo>
                    <a:pt x="17326" y="0"/>
                  </a:lnTo>
                  <a:lnTo>
                    <a:pt x="10858" y="0"/>
                  </a:lnTo>
                  <a:lnTo>
                    <a:pt x="4274" y="0"/>
                  </a:lnTo>
                  <a:lnTo>
                    <a:pt x="4274" y="11037"/>
                  </a:lnTo>
                  <a:lnTo>
                    <a:pt x="4274" y="11631"/>
                  </a:lnTo>
                  <a:lnTo>
                    <a:pt x="6122" y="11631"/>
                  </a:lnTo>
                  <a:lnTo>
                    <a:pt x="6122" y="13174"/>
                  </a:lnTo>
                  <a:lnTo>
                    <a:pt x="2772" y="13174"/>
                  </a:lnTo>
                  <a:lnTo>
                    <a:pt x="2772" y="18514"/>
                  </a:lnTo>
                  <a:lnTo>
                    <a:pt x="693" y="20295"/>
                  </a:lnTo>
                  <a:lnTo>
                    <a:pt x="462" y="20413"/>
                  </a:lnTo>
                  <a:lnTo>
                    <a:pt x="231" y="20651"/>
                  </a:lnTo>
                  <a:lnTo>
                    <a:pt x="116" y="20888"/>
                  </a:lnTo>
                  <a:lnTo>
                    <a:pt x="0" y="21125"/>
                  </a:lnTo>
                  <a:lnTo>
                    <a:pt x="0" y="21244"/>
                  </a:lnTo>
                  <a:lnTo>
                    <a:pt x="116" y="21363"/>
                  </a:lnTo>
                  <a:lnTo>
                    <a:pt x="116" y="21481"/>
                  </a:lnTo>
                  <a:lnTo>
                    <a:pt x="231" y="21481"/>
                  </a:lnTo>
                  <a:lnTo>
                    <a:pt x="347" y="21600"/>
                  </a:lnTo>
                  <a:lnTo>
                    <a:pt x="578" y="21600"/>
                  </a:lnTo>
                  <a:lnTo>
                    <a:pt x="693" y="21600"/>
                  </a:lnTo>
                  <a:lnTo>
                    <a:pt x="10858" y="21600"/>
                  </a:lnTo>
                  <a:lnTo>
                    <a:pt x="20907" y="21600"/>
                  </a:lnTo>
                  <a:lnTo>
                    <a:pt x="21138" y="21600"/>
                  </a:lnTo>
                  <a:lnTo>
                    <a:pt x="21253" y="21600"/>
                  </a:lnTo>
                  <a:lnTo>
                    <a:pt x="21369" y="21481"/>
                  </a:lnTo>
                  <a:lnTo>
                    <a:pt x="21484" y="21481"/>
                  </a:lnTo>
                  <a:lnTo>
                    <a:pt x="21600" y="21363"/>
                  </a:lnTo>
                  <a:lnTo>
                    <a:pt x="21600" y="21244"/>
                  </a:lnTo>
                  <a:lnTo>
                    <a:pt x="21600" y="21125"/>
                  </a:lnTo>
                  <a:lnTo>
                    <a:pt x="21484" y="20888"/>
                  </a:lnTo>
                  <a:lnTo>
                    <a:pt x="21369" y="20651"/>
                  </a:lnTo>
                  <a:lnTo>
                    <a:pt x="21253" y="20413"/>
                  </a:lnTo>
                  <a:lnTo>
                    <a:pt x="21022" y="20295"/>
                  </a:lnTo>
                  <a:close/>
                </a:path>
                <a:path w="21600" h="21600" extrusionOk="0">
                  <a:moveTo>
                    <a:pt x="18019" y="18514"/>
                  </a:moveTo>
                  <a:lnTo>
                    <a:pt x="17326" y="17921"/>
                  </a:lnTo>
                  <a:lnTo>
                    <a:pt x="4389" y="17921"/>
                  </a:lnTo>
                  <a:lnTo>
                    <a:pt x="3696" y="18514"/>
                  </a:lnTo>
                  <a:lnTo>
                    <a:pt x="18019" y="18514"/>
                  </a:lnTo>
                  <a:close/>
                </a:path>
                <a:path w="21600" h="21600" extrusionOk="0">
                  <a:moveTo>
                    <a:pt x="19174" y="19701"/>
                  </a:moveTo>
                  <a:lnTo>
                    <a:pt x="18481" y="19108"/>
                  </a:lnTo>
                  <a:lnTo>
                    <a:pt x="3119" y="19108"/>
                  </a:lnTo>
                  <a:lnTo>
                    <a:pt x="2426" y="19701"/>
                  </a:lnTo>
                  <a:lnTo>
                    <a:pt x="19174" y="19701"/>
                  </a:lnTo>
                  <a:close/>
                </a:path>
                <a:path w="21600" h="21600" extrusionOk="0">
                  <a:moveTo>
                    <a:pt x="20560" y="20769"/>
                  </a:moveTo>
                  <a:lnTo>
                    <a:pt x="19867" y="20176"/>
                  </a:lnTo>
                  <a:lnTo>
                    <a:pt x="1848" y="20176"/>
                  </a:lnTo>
                  <a:lnTo>
                    <a:pt x="1155" y="20769"/>
                  </a:lnTo>
                  <a:lnTo>
                    <a:pt x="20560" y="20769"/>
                  </a:lnTo>
                  <a:close/>
                </a:path>
                <a:path w="21600" h="21600" extrusionOk="0">
                  <a:moveTo>
                    <a:pt x="18828" y="18396"/>
                  </a:moveTo>
                  <a:lnTo>
                    <a:pt x="17442" y="17209"/>
                  </a:lnTo>
                  <a:lnTo>
                    <a:pt x="4158" y="17209"/>
                  </a:lnTo>
                  <a:lnTo>
                    <a:pt x="2772" y="18514"/>
                  </a:lnTo>
                  <a:moveTo>
                    <a:pt x="13168" y="14123"/>
                  </a:moveTo>
                  <a:lnTo>
                    <a:pt x="13168" y="14716"/>
                  </a:lnTo>
                  <a:lnTo>
                    <a:pt x="17788" y="14716"/>
                  </a:lnTo>
                  <a:lnTo>
                    <a:pt x="17788" y="14123"/>
                  </a:lnTo>
                  <a:lnTo>
                    <a:pt x="13168" y="14123"/>
                  </a:lnTo>
                  <a:close/>
                </a:path>
                <a:path w="21600" h="21600" extrusionOk="0">
                  <a:moveTo>
                    <a:pt x="6122" y="1899"/>
                  </a:moveTo>
                  <a:lnTo>
                    <a:pt x="6122" y="9732"/>
                  </a:lnTo>
                  <a:lnTo>
                    <a:pt x="15478" y="9732"/>
                  </a:lnTo>
                  <a:lnTo>
                    <a:pt x="15478" y="1899"/>
                  </a:lnTo>
                  <a:lnTo>
                    <a:pt x="6122" y="1899"/>
                  </a:lnTo>
                  <a:moveTo>
                    <a:pt x="6122" y="11631"/>
                  </a:moveTo>
                  <a:lnTo>
                    <a:pt x="15478" y="11631"/>
                  </a:lnTo>
                  <a:lnTo>
                    <a:pt x="15478" y="13174"/>
                  </a:lnTo>
                  <a:lnTo>
                    <a:pt x="6122" y="13174"/>
                  </a:lnTo>
                  <a:lnTo>
                    <a:pt x="6122" y="11631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4101" name="Text Box 56">
            <a:extLst>
              <a:ext uri="{FF2B5EF4-FFF2-40B4-BE49-F238E27FC236}">
                <a16:creationId xmlns:a16="http://schemas.microsoft.com/office/drawing/2014/main" id="{82D5C4A0-7D48-C04D-A4BA-EB753550C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" y="3532188"/>
            <a:ext cx="8642350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it-IT" altLang="it-IT" sz="2000" b="1">
                <a:solidFill>
                  <a:schemeClr val="accent2"/>
                </a:solidFill>
              </a:rPr>
              <a:t>La radiazione raccolta dal telescopio viene analizzata attraverso quattro tipi fondamentali stumenti: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it-IT" altLang="it-IT" sz="2000" b="1">
              <a:solidFill>
                <a:schemeClr val="accent2"/>
              </a:solidFill>
            </a:endParaRPr>
          </a:p>
          <a:p>
            <a:pPr algn="just" eaLnBrk="1" hangingPunct="1">
              <a:spcBef>
                <a:spcPct val="0"/>
              </a:spcBef>
            </a:pPr>
            <a:r>
              <a:rPr lang="it-IT" altLang="it-IT" sz="2000" b="1">
                <a:solidFill>
                  <a:schemeClr val="accent2"/>
                </a:solidFill>
              </a:rPr>
              <a:t> </a:t>
            </a:r>
            <a:r>
              <a:rPr lang="it-IT" altLang="it-IT" sz="2000" b="1">
                <a:solidFill>
                  <a:srgbClr val="FF3300"/>
                </a:solidFill>
              </a:rPr>
              <a:t>Fotometri</a:t>
            </a:r>
            <a:r>
              <a:rPr lang="it-IT" altLang="it-IT" sz="2000" b="1">
                <a:solidFill>
                  <a:schemeClr val="accent2"/>
                </a:solidFill>
              </a:rPr>
              <a:t> </a:t>
            </a:r>
            <a:r>
              <a:rPr lang="it-IT" altLang="it-IT" sz="2000" b="1">
                <a:solidFill>
                  <a:schemeClr val="accent2"/>
                </a:solidFill>
                <a:sym typeface="Wingdings" pitchFamily="2" charset="2"/>
              </a:rPr>
              <a:t> </a:t>
            </a:r>
            <a:r>
              <a:rPr lang="it-IT" altLang="it-IT" sz="2000" b="1">
                <a:solidFill>
                  <a:srgbClr val="008000"/>
                </a:solidFill>
                <a:sym typeface="Wingdings" pitchFamily="2" charset="2"/>
              </a:rPr>
              <a:t>Misura della luminosità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it-IT" altLang="it-IT" sz="2000" b="1">
              <a:solidFill>
                <a:schemeClr val="accent2"/>
              </a:solidFill>
              <a:sym typeface="Wingdings" pitchFamily="2" charset="2"/>
            </a:endParaRPr>
          </a:p>
          <a:p>
            <a:pPr algn="just" eaLnBrk="1" hangingPunct="1">
              <a:spcBef>
                <a:spcPct val="0"/>
              </a:spcBef>
            </a:pPr>
            <a:r>
              <a:rPr lang="it-IT" altLang="it-IT" sz="2000" b="1">
                <a:solidFill>
                  <a:srgbClr val="FF3300"/>
                </a:solidFill>
                <a:sym typeface="Wingdings" pitchFamily="2" charset="2"/>
              </a:rPr>
              <a:t> Spettrografi</a:t>
            </a:r>
            <a:r>
              <a:rPr lang="it-IT" altLang="it-IT" sz="2000" b="1">
                <a:solidFill>
                  <a:schemeClr val="accent2"/>
                </a:solidFill>
                <a:sym typeface="Wingdings" pitchFamily="2" charset="2"/>
              </a:rPr>
              <a:t>  </a:t>
            </a:r>
            <a:r>
              <a:rPr lang="it-IT" altLang="it-IT" sz="2000" b="1">
                <a:solidFill>
                  <a:srgbClr val="008000"/>
                </a:solidFill>
                <a:sym typeface="Wingdings" pitchFamily="2" charset="2"/>
              </a:rPr>
              <a:t>Misura della distribuzione spettrale della radiazione</a:t>
            </a:r>
          </a:p>
          <a:p>
            <a:pPr algn="just" eaLnBrk="1" hangingPunct="1">
              <a:spcBef>
                <a:spcPct val="0"/>
              </a:spcBef>
            </a:pPr>
            <a:endParaRPr lang="it-IT" altLang="it-IT" sz="2000" b="1">
              <a:solidFill>
                <a:srgbClr val="008000"/>
              </a:solidFill>
              <a:sym typeface="Wingdings" pitchFamily="2" charset="2"/>
            </a:endParaRPr>
          </a:p>
          <a:p>
            <a:pPr algn="just" eaLnBrk="1" hangingPunct="1">
              <a:spcBef>
                <a:spcPct val="0"/>
              </a:spcBef>
            </a:pPr>
            <a:r>
              <a:rPr lang="it-IT" altLang="it-IT" sz="2000" b="1">
                <a:solidFill>
                  <a:srgbClr val="FF3300"/>
                </a:solidFill>
                <a:sym typeface="Wingdings" pitchFamily="2" charset="2"/>
              </a:rPr>
              <a:t> Polarimetri</a:t>
            </a:r>
            <a:r>
              <a:rPr lang="it-IT" altLang="it-IT" sz="2000" b="1">
                <a:solidFill>
                  <a:schemeClr val="accent2"/>
                </a:solidFill>
                <a:sym typeface="Wingdings" pitchFamily="2" charset="2"/>
              </a:rPr>
              <a:t>  </a:t>
            </a:r>
            <a:r>
              <a:rPr lang="it-IT" altLang="it-IT" sz="2000" b="1">
                <a:solidFill>
                  <a:srgbClr val="008000"/>
                </a:solidFill>
                <a:sym typeface="Wingdings" pitchFamily="2" charset="2"/>
              </a:rPr>
              <a:t>Misura della Polarizzazione</a:t>
            </a:r>
            <a:endParaRPr lang="it-IT" altLang="it-IT" sz="2000" b="1">
              <a:solidFill>
                <a:srgbClr val="008000"/>
              </a:solidFill>
            </a:endParaRPr>
          </a:p>
        </p:txBody>
      </p:sp>
      <p:sp>
        <p:nvSpPr>
          <p:cNvPr id="4102" name="AutoShape 58">
            <a:extLst>
              <a:ext uri="{FF2B5EF4-FFF2-40B4-BE49-F238E27FC236}">
                <a16:creationId xmlns:a16="http://schemas.microsoft.com/office/drawing/2014/main" id="{BD48A604-2305-E447-A08D-FBAAFB6D8E33}"/>
              </a:ext>
            </a:extLst>
          </p:cNvPr>
          <p:cNvSpPr>
            <a:spLocks/>
          </p:cNvSpPr>
          <p:nvPr/>
        </p:nvSpPr>
        <p:spPr bwMode="auto">
          <a:xfrm rot="-5400000">
            <a:off x="5006182" y="2031206"/>
            <a:ext cx="392112" cy="2060575"/>
          </a:xfrm>
          <a:prstGeom prst="leftBrace">
            <a:avLst>
              <a:gd name="adj1" fmla="val 43792"/>
              <a:gd name="adj2" fmla="val 50000"/>
            </a:avLst>
          </a:prstGeom>
          <a:noFill/>
          <a:ln w="9525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it-IT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DB686320-CF85-C74E-8E5C-8E95C9653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La magnitudine (1)</a:t>
            </a:r>
          </a:p>
        </p:txBody>
      </p:sp>
      <p:sp>
        <p:nvSpPr>
          <p:cNvPr id="5122" name="Text Box 3">
            <a:extLst>
              <a:ext uri="{FF2B5EF4-FFF2-40B4-BE49-F238E27FC236}">
                <a16:creationId xmlns:a16="http://schemas.microsoft.com/office/drawing/2014/main" id="{5CD7A329-E853-8444-B88A-26C2A8110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1027113"/>
            <a:ext cx="823753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dirty="0">
                <a:solidFill>
                  <a:schemeClr val="tx1"/>
                </a:solidFill>
              </a:rPr>
              <a:t>Date due stelle i cui flussi luminosi osservati ad una generica lunghezza d'onda </a:t>
            </a:r>
            <a:r>
              <a:rPr lang="it-IT" altLang="it-IT" i="1" dirty="0">
                <a:solidFill>
                  <a:schemeClr val="tx1"/>
                </a:solidFill>
                <a:sym typeface="Symbol" pitchFamily="2" charset="2"/>
              </a:rPr>
              <a:t></a:t>
            </a:r>
            <a:r>
              <a:rPr lang="it-IT" altLang="it-IT" dirty="0">
                <a:solidFill>
                  <a:schemeClr val="tx1"/>
                </a:solidFill>
                <a:sym typeface="Symbol" pitchFamily="2" charset="2"/>
              </a:rPr>
              <a:t> </a:t>
            </a:r>
            <a:r>
              <a:rPr lang="it-IT" altLang="it-IT" dirty="0">
                <a:solidFill>
                  <a:schemeClr val="tx1"/>
                </a:solidFill>
              </a:rPr>
              <a:t>siano rispettivamente </a:t>
            </a:r>
            <a:r>
              <a:rPr lang="it-IT" altLang="it-IT" i="1" dirty="0">
                <a:solidFill>
                  <a:schemeClr val="tx1"/>
                </a:solidFill>
              </a:rPr>
              <a:t>f</a:t>
            </a:r>
            <a:r>
              <a:rPr lang="it-IT" altLang="it-IT" baseline="-25000" dirty="0">
                <a:solidFill>
                  <a:schemeClr val="tx1"/>
                </a:solidFill>
              </a:rPr>
              <a:t>1</a:t>
            </a:r>
            <a:r>
              <a:rPr lang="it-IT" altLang="it-IT" dirty="0">
                <a:solidFill>
                  <a:schemeClr val="tx1"/>
                </a:solidFill>
              </a:rPr>
              <a:t>(</a:t>
            </a:r>
            <a:r>
              <a:rPr lang="it-IT" altLang="it-IT" i="1" dirty="0">
                <a:solidFill>
                  <a:schemeClr val="tx1"/>
                </a:solidFill>
                <a:sym typeface="Symbol" pitchFamily="2" charset="2"/>
              </a:rPr>
              <a:t></a:t>
            </a:r>
            <a:r>
              <a:rPr lang="it-IT" altLang="it-IT" dirty="0">
                <a:solidFill>
                  <a:schemeClr val="tx1"/>
                </a:solidFill>
                <a:sym typeface="Symbol" pitchFamily="2" charset="2"/>
              </a:rPr>
              <a:t>)</a:t>
            </a:r>
            <a:r>
              <a:rPr lang="it-IT" altLang="it-IT" dirty="0">
                <a:solidFill>
                  <a:schemeClr val="tx1"/>
                </a:solidFill>
              </a:rPr>
              <a:t> e </a:t>
            </a:r>
            <a:r>
              <a:rPr lang="it-IT" altLang="it-IT" i="1" dirty="0">
                <a:solidFill>
                  <a:schemeClr val="tx1"/>
                </a:solidFill>
              </a:rPr>
              <a:t>f</a:t>
            </a:r>
            <a:r>
              <a:rPr lang="it-IT" altLang="it-IT" baseline="-25000" dirty="0">
                <a:solidFill>
                  <a:schemeClr val="tx1"/>
                </a:solidFill>
              </a:rPr>
              <a:t>2</a:t>
            </a:r>
            <a:r>
              <a:rPr lang="it-IT" altLang="it-IT" dirty="0">
                <a:solidFill>
                  <a:schemeClr val="tx1"/>
                </a:solidFill>
              </a:rPr>
              <a:t>(</a:t>
            </a:r>
            <a:r>
              <a:rPr lang="it-IT" altLang="it-IT" i="1" dirty="0">
                <a:solidFill>
                  <a:schemeClr val="tx1"/>
                </a:solidFill>
                <a:sym typeface="Symbol" pitchFamily="2" charset="2"/>
              </a:rPr>
              <a:t></a:t>
            </a:r>
            <a:r>
              <a:rPr lang="it-IT" altLang="it-IT" dirty="0">
                <a:solidFill>
                  <a:schemeClr val="tx1"/>
                </a:solidFill>
                <a:sym typeface="Symbol" pitchFamily="2" charset="2"/>
              </a:rPr>
              <a:t>), si definisce differenza di magnitudine</a:t>
            </a:r>
            <a:r>
              <a:rPr lang="it-IT" altLang="it-IT" i="1" dirty="0">
                <a:solidFill>
                  <a:schemeClr val="tx1"/>
                </a:solidFill>
                <a:sym typeface="Symbol" pitchFamily="2" charset="2"/>
              </a:rPr>
              <a:t> </a:t>
            </a:r>
            <a:r>
              <a:rPr lang="it-IT" altLang="it-IT" dirty="0">
                <a:solidFill>
                  <a:schemeClr val="tx1"/>
                </a:solidFill>
                <a:sym typeface="Symbol" pitchFamily="2" charset="2"/>
              </a:rPr>
              <a:t>la quantità:</a:t>
            </a:r>
          </a:p>
        </p:txBody>
      </p:sp>
      <p:sp>
        <p:nvSpPr>
          <p:cNvPr id="5123" name="Text Box 5">
            <a:extLst>
              <a:ext uri="{FF2B5EF4-FFF2-40B4-BE49-F238E27FC236}">
                <a16:creationId xmlns:a16="http://schemas.microsoft.com/office/drawing/2014/main" id="{011D449C-184A-2A44-89CE-89CAEBDB9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3" y="3068638"/>
            <a:ext cx="861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i="1">
                <a:solidFill>
                  <a:schemeClr val="tx1"/>
                </a:solidFill>
              </a:rPr>
              <a:t>(legge di Pogson</a:t>
            </a:r>
            <a:r>
              <a:rPr lang="it-IT" altLang="it-IT">
                <a:solidFill>
                  <a:schemeClr val="tx1"/>
                </a:solidFill>
              </a:rPr>
              <a:t>) o anche:</a:t>
            </a:r>
          </a:p>
        </p:txBody>
      </p:sp>
      <p:sp>
        <p:nvSpPr>
          <p:cNvPr id="5124" name="Text Box 27">
            <a:extLst>
              <a:ext uri="{FF2B5EF4-FFF2-40B4-BE49-F238E27FC236}">
                <a16:creationId xmlns:a16="http://schemas.microsoft.com/office/drawing/2014/main" id="{D44F04C3-46D3-0F4F-A77D-304ACD795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4452938"/>
            <a:ext cx="861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>
                <a:solidFill>
                  <a:schemeClr val="tx1"/>
                </a:solidFill>
              </a:rPr>
              <a:t>Se assumiamo il flusso di una stella come standard</a:t>
            </a:r>
          </a:p>
        </p:txBody>
      </p:sp>
      <p:pic>
        <p:nvPicPr>
          <p:cNvPr id="5125" name="Picture 28">
            <a:extLst>
              <a:ext uri="{FF2B5EF4-FFF2-40B4-BE49-F238E27FC236}">
                <a16:creationId xmlns:a16="http://schemas.microsoft.com/office/drawing/2014/main" id="{E822497A-EC3D-CB40-BED6-8DD3377D0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7300" y="5199063"/>
            <a:ext cx="3590925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6" name="Rectangle 30">
            <a:extLst>
              <a:ext uri="{FF2B5EF4-FFF2-40B4-BE49-F238E27FC236}">
                <a16:creationId xmlns:a16="http://schemas.microsoft.com/office/drawing/2014/main" id="{A743FFEA-97FB-B44B-9998-E241B81CD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7425" y="2322513"/>
            <a:ext cx="28733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1800">
                <a:solidFill>
                  <a:schemeClr val="tx1"/>
                </a:solidFill>
              </a:rPr>
              <a:t>m</a:t>
            </a:r>
            <a:r>
              <a:rPr lang="en-US" altLang="it-IT" sz="1800" baseline="-25000">
                <a:solidFill>
                  <a:schemeClr val="tx1"/>
                </a:solidFill>
              </a:rPr>
              <a:t>1</a:t>
            </a:r>
            <a:r>
              <a:rPr lang="en-US" altLang="it-IT" sz="1800">
                <a:solidFill>
                  <a:schemeClr val="tx1"/>
                </a:solidFill>
              </a:rPr>
              <a:t> - m</a:t>
            </a:r>
            <a:r>
              <a:rPr lang="en-US" altLang="it-IT" sz="1800" baseline="-25000">
                <a:solidFill>
                  <a:schemeClr val="tx1"/>
                </a:solidFill>
              </a:rPr>
              <a:t>2</a:t>
            </a:r>
            <a:r>
              <a:rPr lang="en-US" altLang="it-IT" sz="1800">
                <a:solidFill>
                  <a:schemeClr val="tx1"/>
                </a:solidFill>
              </a:rPr>
              <a:t> = -2.5 log</a:t>
            </a:r>
            <a:r>
              <a:rPr lang="en-US" altLang="it-IT" sz="1800" baseline="-25000">
                <a:solidFill>
                  <a:schemeClr val="tx1"/>
                </a:solidFill>
              </a:rPr>
              <a:t>10</a:t>
            </a:r>
            <a:r>
              <a:rPr lang="en-US" altLang="it-IT" sz="1800">
                <a:solidFill>
                  <a:schemeClr val="tx1"/>
                </a:solidFill>
              </a:rPr>
              <a:t> (f</a:t>
            </a:r>
            <a:r>
              <a:rPr lang="en-US" altLang="it-IT" sz="1800" baseline="-25000">
                <a:solidFill>
                  <a:schemeClr val="tx1"/>
                </a:solidFill>
              </a:rPr>
              <a:t>1</a:t>
            </a:r>
            <a:r>
              <a:rPr lang="en-US" altLang="it-IT" sz="1800">
                <a:solidFill>
                  <a:schemeClr val="tx1"/>
                </a:solidFill>
              </a:rPr>
              <a:t>/f</a:t>
            </a:r>
            <a:r>
              <a:rPr lang="en-US" altLang="it-IT" sz="1800" baseline="-25000">
                <a:solidFill>
                  <a:schemeClr val="tx1"/>
                </a:solidFill>
              </a:rPr>
              <a:t>2</a:t>
            </a:r>
            <a:r>
              <a:rPr lang="en-US" altLang="it-IT" sz="18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127" name="Rectangle 31">
            <a:extLst>
              <a:ext uri="{FF2B5EF4-FFF2-40B4-BE49-F238E27FC236}">
                <a16:creationId xmlns:a16="http://schemas.microsoft.com/office/drawing/2014/main" id="{2E8163BE-2A2F-B243-9612-067A83F1F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5825" y="3744913"/>
            <a:ext cx="28733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1800">
                <a:solidFill>
                  <a:schemeClr val="tx1"/>
                </a:solidFill>
              </a:rPr>
              <a:t>m = -2.5 log</a:t>
            </a:r>
            <a:r>
              <a:rPr lang="en-US" altLang="it-IT" sz="1800" baseline="-25000">
                <a:solidFill>
                  <a:schemeClr val="tx1"/>
                </a:solidFill>
              </a:rPr>
              <a:t>10</a:t>
            </a:r>
            <a:r>
              <a:rPr lang="en-US" altLang="it-IT" sz="1800">
                <a:solidFill>
                  <a:schemeClr val="tx1"/>
                </a:solidFill>
              </a:rPr>
              <a:t>(f) + cost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>
            <a:extLst>
              <a:ext uri="{FF2B5EF4-FFF2-40B4-BE49-F238E27FC236}">
                <a16:creationId xmlns:a16="http://schemas.microsoft.com/office/drawing/2014/main" id="{BD1C1CC8-1D7E-1743-B626-038A764A2A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La magnitudine (2)</a:t>
            </a:r>
          </a:p>
        </p:txBody>
      </p:sp>
      <p:sp>
        <p:nvSpPr>
          <p:cNvPr id="6146" name="Text Box 3">
            <a:extLst>
              <a:ext uri="{FF2B5EF4-FFF2-40B4-BE49-F238E27FC236}">
                <a16:creationId xmlns:a16="http://schemas.microsoft.com/office/drawing/2014/main" id="{41230E62-82F0-B64C-A555-D0948B30B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75" y="781051"/>
            <a:ext cx="82375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dirty="0">
                <a:solidFill>
                  <a:schemeClr val="tx1"/>
                </a:solidFill>
                <a:sym typeface="Symbol" pitchFamily="2" charset="2"/>
              </a:rPr>
              <a:t>Viceversa, nota la magnitudine di due stelle:</a:t>
            </a:r>
          </a:p>
        </p:txBody>
      </p:sp>
      <p:sp>
        <p:nvSpPr>
          <p:cNvPr id="6147" name="Rectangle 30">
            <a:extLst>
              <a:ext uri="{FF2B5EF4-FFF2-40B4-BE49-F238E27FC236}">
                <a16:creationId xmlns:a16="http://schemas.microsoft.com/office/drawing/2014/main" id="{AEDFA318-3E76-9F4F-9FF0-59F14731B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846" y="1397573"/>
            <a:ext cx="28733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1800" dirty="0">
                <a:solidFill>
                  <a:schemeClr val="tx1"/>
                </a:solidFill>
              </a:rPr>
              <a:t> (f</a:t>
            </a:r>
            <a:r>
              <a:rPr lang="en-US" altLang="it-IT" sz="1800" baseline="-25000" dirty="0">
                <a:solidFill>
                  <a:schemeClr val="tx1"/>
                </a:solidFill>
              </a:rPr>
              <a:t>1</a:t>
            </a:r>
            <a:r>
              <a:rPr lang="en-US" altLang="it-IT" sz="1800" dirty="0">
                <a:solidFill>
                  <a:schemeClr val="tx1"/>
                </a:solidFill>
              </a:rPr>
              <a:t>/f</a:t>
            </a:r>
            <a:r>
              <a:rPr lang="en-US" altLang="it-IT" sz="1800" baseline="-25000" dirty="0">
                <a:solidFill>
                  <a:schemeClr val="tx1"/>
                </a:solidFill>
              </a:rPr>
              <a:t>2</a:t>
            </a:r>
            <a:r>
              <a:rPr lang="en-US" altLang="it-IT" sz="1800" dirty="0">
                <a:solidFill>
                  <a:schemeClr val="tx1"/>
                </a:solidFill>
              </a:rPr>
              <a:t>) = 10 </a:t>
            </a:r>
            <a:r>
              <a:rPr lang="en-US" altLang="it-IT" sz="1800" baseline="30000" dirty="0">
                <a:solidFill>
                  <a:schemeClr val="tx1"/>
                </a:solidFill>
              </a:rPr>
              <a:t>-(m</a:t>
            </a:r>
            <a:r>
              <a:rPr lang="en-US" altLang="it-IT" sz="1800" baseline="-25000" dirty="0">
                <a:solidFill>
                  <a:schemeClr val="tx1"/>
                </a:solidFill>
              </a:rPr>
              <a:t>1</a:t>
            </a:r>
            <a:r>
              <a:rPr lang="en-US" altLang="it-IT" sz="1800" baseline="30000" dirty="0">
                <a:solidFill>
                  <a:schemeClr val="tx1"/>
                </a:solidFill>
              </a:rPr>
              <a:t>-m</a:t>
            </a:r>
            <a:r>
              <a:rPr lang="en-US" altLang="it-IT" sz="1800" baseline="-25000" dirty="0">
                <a:solidFill>
                  <a:schemeClr val="tx1"/>
                </a:solidFill>
              </a:rPr>
              <a:t>2</a:t>
            </a:r>
            <a:r>
              <a:rPr lang="en-US" altLang="it-IT" sz="1800" baseline="30000" dirty="0">
                <a:solidFill>
                  <a:schemeClr val="tx1"/>
                </a:solidFill>
              </a:rPr>
              <a:t>)/2.5 </a:t>
            </a:r>
          </a:p>
        </p:txBody>
      </p:sp>
      <p:sp>
        <p:nvSpPr>
          <p:cNvPr id="6148" name="CasellaDiTesto 1">
            <a:extLst>
              <a:ext uri="{FF2B5EF4-FFF2-40B4-BE49-F238E27FC236}">
                <a16:creationId xmlns:a16="http://schemas.microsoft.com/office/drawing/2014/main" id="{448D5B2F-B401-2C43-A921-0E524EBF8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034" y="1838289"/>
            <a:ext cx="5730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dirty="0" err="1">
                <a:solidFill>
                  <a:schemeClr val="tx1"/>
                </a:solidFill>
              </a:rPr>
              <a:t>Es</a:t>
            </a:r>
            <a:r>
              <a:rPr lang="en-US" altLang="it-IT" dirty="0">
                <a:solidFill>
                  <a:schemeClr val="tx1"/>
                </a:solidFill>
              </a:rPr>
              <a:t>. Se m</a:t>
            </a:r>
            <a:r>
              <a:rPr lang="en-US" altLang="it-IT" baseline="-25000" dirty="0">
                <a:solidFill>
                  <a:schemeClr val="tx1"/>
                </a:solidFill>
              </a:rPr>
              <a:t>1</a:t>
            </a:r>
            <a:r>
              <a:rPr lang="en-US" altLang="it-IT" dirty="0">
                <a:solidFill>
                  <a:schemeClr val="tx1"/>
                </a:solidFill>
              </a:rPr>
              <a:t> = 26  e m</a:t>
            </a:r>
            <a:r>
              <a:rPr lang="en-US" altLang="it-IT" baseline="-25000" dirty="0">
                <a:solidFill>
                  <a:schemeClr val="tx1"/>
                </a:solidFill>
              </a:rPr>
              <a:t>2</a:t>
            </a:r>
            <a:r>
              <a:rPr lang="en-US" altLang="it-IT" dirty="0">
                <a:solidFill>
                  <a:schemeClr val="tx1"/>
                </a:solidFill>
              </a:rPr>
              <a:t> = 1 (e.g. Antares) </a:t>
            </a:r>
          </a:p>
        </p:txBody>
      </p:sp>
      <p:sp>
        <p:nvSpPr>
          <p:cNvPr id="6149" name="Rectangle 30">
            <a:extLst>
              <a:ext uri="{FF2B5EF4-FFF2-40B4-BE49-F238E27FC236}">
                <a16:creationId xmlns:a16="http://schemas.microsoft.com/office/drawing/2014/main" id="{CE0D37ED-0EBA-DD4A-86FD-A861FEA04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3452" y="2446403"/>
            <a:ext cx="28733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1800" dirty="0">
                <a:solidFill>
                  <a:schemeClr val="tx1"/>
                </a:solidFill>
              </a:rPr>
              <a:t> (f</a:t>
            </a:r>
            <a:r>
              <a:rPr lang="en-US" altLang="it-IT" sz="1800" baseline="-25000" dirty="0">
                <a:solidFill>
                  <a:schemeClr val="tx1"/>
                </a:solidFill>
              </a:rPr>
              <a:t>1</a:t>
            </a:r>
            <a:r>
              <a:rPr lang="en-US" altLang="it-IT" sz="1800" dirty="0">
                <a:solidFill>
                  <a:schemeClr val="tx1"/>
                </a:solidFill>
              </a:rPr>
              <a:t>/f</a:t>
            </a:r>
            <a:r>
              <a:rPr lang="en-US" altLang="it-IT" sz="1800" baseline="-25000" dirty="0">
                <a:solidFill>
                  <a:schemeClr val="tx1"/>
                </a:solidFill>
              </a:rPr>
              <a:t>2</a:t>
            </a:r>
            <a:r>
              <a:rPr lang="en-US" altLang="it-IT" sz="1800" dirty="0">
                <a:solidFill>
                  <a:schemeClr val="tx1"/>
                </a:solidFill>
              </a:rPr>
              <a:t>) = 10 </a:t>
            </a:r>
            <a:r>
              <a:rPr lang="en-US" altLang="it-IT" sz="1800" baseline="30000" dirty="0">
                <a:solidFill>
                  <a:schemeClr val="tx1"/>
                </a:solidFill>
              </a:rPr>
              <a:t>-25/2.5</a:t>
            </a:r>
            <a:r>
              <a:rPr lang="en-US" altLang="it-IT" sz="1800" dirty="0">
                <a:solidFill>
                  <a:schemeClr val="tx1"/>
                </a:solidFill>
              </a:rPr>
              <a:t> = 10</a:t>
            </a:r>
            <a:r>
              <a:rPr lang="en-US" altLang="it-IT" sz="1800" baseline="30000" dirty="0">
                <a:solidFill>
                  <a:schemeClr val="tx1"/>
                </a:solidFill>
              </a:rPr>
              <a:t>-10 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3E9A9F54-018D-8C40-B64C-26ED556655F5}"/>
              </a:ext>
            </a:extLst>
          </p:cNvPr>
          <p:cNvSpPr/>
          <p:nvPr/>
        </p:nvSpPr>
        <p:spPr>
          <a:xfrm>
            <a:off x="123403" y="2989107"/>
            <a:ext cx="883872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it-IT" altLang="it-IT" dirty="0"/>
              <a:t>Le stelle più deboli visibili a occhio nudo sono intorno alla sesta.</a:t>
            </a:r>
          </a:p>
          <a:p>
            <a:pPr eaLnBrk="1" hangingPunct="1"/>
            <a:endParaRPr lang="it-IT" altLang="it-IT" dirty="0"/>
          </a:p>
          <a:p>
            <a:pPr eaLnBrk="1" hangingPunct="1"/>
            <a:r>
              <a:rPr lang="it-IT" altLang="it-IT" dirty="0"/>
              <a:t>Venere  </a:t>
            </a:r>
            <a:r>
              <a:rPr lang="it-IT" altLang="it-IT" i="1" dirty="0"/>
              <a:t>m</a:t>
            </a:r>
            <a:r>
              <a:rPr lang="it-IT" altLang="it-IT" dirty="0"/>
              <a:t> = -4.5. </a:t>
            </a:r>
          </a:p>
          <a:p>
            <a:pPr eaLnBrk="1" hangingPunct="1"/>
            <a:r>
              <a:rPr lang="it-IT" altLang="it-IT" dirty="0"/>
              <a:t>Sole ha </a:t>
            </a:r>
            <a:r>
              <a:rPr lang="it-IT" altLang="it-IT" i="1" dirty="0"/>
              <a:t>m</a:t>
            </a:r>
            <a:r>
              <a:rPr lang="it-IT" altLang="it-IT" dirty="0"/>
              <a:t> = -26.8</a:t>
            </a:r>
          </a:p>
          <a:p>
            <a:pPr eaLnBrk="1" hangingPunct="1"/>
            <a:r>
              <a:rPr lang="it-IT" altLang="it-IT" dirty="0"/>
              <a:t>Luna piena </a:t>
            </a:r>
            <a:r>
              <a:rPr lang="it-IT" altLang="it-IT" i="1" dirty="0"/>
              <a:t>m</a:t>
            </a:r>
            <a:r>
              <a:rPr lang="it-IT" altLang="it-IT" dirty="0"/>
              <a:t> = -12.5. </a:t>
            </a:r>
          </a:p>
          <a:p>
            <a:pPr eaLnBrk="1" hangingPunct="1"/>
            <a:endParaRPr lang="it-IT" altLang="it-IT" dirty="0"/>
          </a:p>
          <a:p>
            <a:pPr eaLnBrk="1" hangingPunct="1"/>
            <a:r>
              <a:rPr lang="it-IT" altLang="it-IT" dirty="0"/>
              <a:t>Tuttavia, il Sole, la Luna, Venere sono corpi estesi, non puntiformi --&gt;  </a:t>
            </a:r>
            <a:r>
              <a:rPr lang="it-IT" altLang="it-IT" i="1" u="sng" dirty="0" err="1"/>
              <a:t>mag</a:t>
            </a:r>
            <a:r>
              <a:rPr lang="it-IT" altLang="it-IT" i="1" u="sng" dirty="0"/>
              <a:t> per unità di area </a:t>
            </a:r>
            <a:r>
              <a:rPr lang="it-IT" altLang="it-IT" dirty="0"/>
              <a:t>(ad es. </a:t>
            </a:r>
            <a:r>
              <a:rPr lang="it-IT" altLang="it-IT" dirty="0" err="1"/>
              <a:t>mag</a:t>
            </a:r>
            <a:r>
              <a:rPr lang="it-IT" altLang="it-IT" dirty="0"/>
              <a:t> per secondi d'arco al quadrato, o per steradianti), dividendo </a:t>
            </a:r>
            <a:r>
              <a:rPr lang="it-IT" altLang="it-IT" u="sng" dirty="0"/>
              <a:t>il flusso</a:t>
            </a:r>
            <a:r>
              <a:rPr lang="it-IT" altLang="it-IT" dirty="0"/>
              <a:t> per l'area sottesa dall'astro.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81349B-6D03-6545-83EB-4BB3C6097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Blackbody</a:t>
            </a:r>
            <a:r>
              <a:rPr lang="it-IT" dirty="0"/>
              <a:t> (BB) </a:t>
            </a:r>
            <a:r>
              <a:rPr lang="it-IT" dirty="0" err="1"/>
              <a:t>radiation</a:t>
            </a:r>
            <a:r>
              <a:rPr lang="it-IT" dirty="0"/>
              <a:t>: </a:t>
            </a:r>
            <a:r>
              <a:rPr lang="it-IT" dirty="0" err="1"/>
              <a:t>basic</a:t>
            </a:r>
            <a:r>
              <a:rPr lang="it-IT" dirty="0"/>
              <a:t> </a:t>
            </a:r>
            <a:r>
              <a:rPr lang="it-IT" dirty="0" err="1"/>
              <a:t>fact</a:t>
            </a:r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2F8DA04-82A2-1049-8ECC-62A4B082E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5" y="1124744"/>
            <a:ext cx="4063079" cy="400503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11F723D0-5D73-844D-B95E-9A56B8D24F48}"/>
              </a:ext>
            </a:extLst>
          </p:cNvPr>
          <p:cNvSpPr txBox="1"/>
          <p:nvPr/>
        </p:nvSpPr>
        <p:spPr>
          <a:xfrm>
            <a:off x="4121324" y="693640"/>
            <a:ext cx="484316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/>
              <a:t>We</a:t>
            </a:r>
            <a:r>
              <a:rPr lang="it-IT" sz="1600" dirty="0"/>
              <a:t> can assume </a:t>
            </a:r>
            <a:r>
              <a:rPr lang="it-IT" sz="1600" dirty="0" err="1"/>
              <a:t>that</a:t>
            </a:r>
            <a:r>
              <a:rPr lang="it-IT" sz="1600" dirty="0"/>
              <a:t> a star </a:t>
            </a:r>
            <a:r>
              <a:rPr lang="it-IT" sz="1600" dirty="0" err="1"/>
              <a:t>emission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</a:t>
            </a:r>
            <a:r>
              <a:rPr lang="it-IT" sz="1600" dirty="0" err="1"/>
              <a:t>that</a:t>
            </a:r>
            <a:r>
              <a:rPr lang="it-IT" sz="1600" dirty="0"/>
              <a:t> of a  BB:</a:t>
            </a:r>
          </a:p>
          <a:p>
            <a:endParaRPr lang="it-IT" sz="1600" dirty="0"/>
          </a:p>
          <a:p>
            <a:endParaRPr lang="it-IT" sz="1600" dirty="0"/>
          </a:p>
          <a:p>
            <a:endParaRPr lang="it-IT" sz="1600" dirty="0"/>
          </a:p>
          <a:p>
            <a:endParaRPr lang="it-IT" sz="1600" dirty="0"/>
          </a:p>
          <a:p>
            <a:endParaRPr lang="it-IT" sz="1600" dirty="0"/>
          </a:p>
          <a:p>
            <a:r>
              <a:rPr lang="it-IT" sz="1600" dirty="0"/>
              <a:t>The </a:t>
            </a:r>
            <a:r>
              <a:rPr lang="it-IT" sz="1600" dirty="0" err="1"/>
              <a:t>emitted</a:t>
            </a:r>
            <a:r>
              <a:rPr lang="it-IT" sz="1600" dirty="0"/>
              <a:t> </a:t>
            </a:r>
            <a:r>
              <a:rPr lang="it-IT" sz="1600" dirty="0" err="1"/>
              <a:t>flux</a:t>
            </a:r>
            <a:r>
              <a:rPr lang="it-IT" sz="1600" dirty="0"/>
              <a:t> </a:t>
            </a:r>
            <a:r>
              <a:rPr lang="it-IT" sz="1600" dirty="0" err="1"/>
              <a:t>will</a:t>
            </a:r>
            <a:r>
              <a:rPr lang="it-IT" sz="1600" dirty="0"/>
              <a:t> be:</a:t>
            </a:r>
          </a:p>
          <a:p>
            <a:endParaRPr lang="it-IT" sz="1600" dirty="0"/>
          </a:p>
          <a:p>
            <a:endParaRPr lang="it-IT" sz="1600" dirty="0"/>
          </a:p>
          <a:p>
            <a:endParaRPr lang="it-IT" sz="1600" dirty="0"/>
          </a:p>
          <a:p>
            <a:endParaRPr lang="it-IT" sz="1600" dirty="0"/>
          </a:p>
          <a:p>
            <a:endParaRPr lang="it-IT" sz="1600" dirty="0"/>
          </a:p>
          <a:p>
            <a:endParaRPr lang="it-IT" sz="1600" dirty="0"/>
          </a:p>
          <a:p>
            <a:endParaRPr lang="it-IT" sz="1600" dirty="0"/>
          </a:p>
          <a:p>
            <a:endParaRPr lang="it-IT" sz="16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21F368E-39D7-4840-B10B-BA3EE0C72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344" y="1074980"/>
            <a:ext cx="2245996" cy="124453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810AA604-15D0-1F43-A131-D24ACB063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6231" y="2680731"/>
            <a:ext cx="2232248" cy="501117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2844DD73-E115-9841-A699-7F61DC188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6231" y="3198963"/>
            <a:ext cx="3243970" cy="49760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44D946D3-1AC4-B240-99E1-F32CD2B6D8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1960" y="3899289"/>
            <a:ext cx="4649585" cy="2284883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689C650C-CCB6-AA4B-A917-7F61CB323C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1960" y="6145394"/>
            <a:ext cx="2304256" cy="307942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566707B2-F60C-D04F-8EF7-4BC7D94836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2188" y="6172952"/>
            <a:ext cx="2004268" cy="19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436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2">
            <a:extLst>
              <a:ext uri="{FF2B5EF4-FFF2-40B4-BE49-F238E27FC236}">
                <a16:creationId xmlns:a16="http://schemas.microsoft.com/office/drawing/2014/main" id="{89E9F09F-1796-784A-8914-0A2676DDC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9556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de-DE" altLang="it-IT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4" name="Text Box 3">
            <a:extLst>
              <a:ext uri="{FF2B5EF4-FFF2-40B4-BE49-F238E27FC236}">
                <a16:creationId xmlns:a16="http://schemas.microsoft.com/office/drawing/2014/main" id="{FB136D6D-0091-7446-9C25-E17211389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896938"/>
            <a:ext cx="85693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it-IT" altLang="it-IT" sz="1600">
                <a:solidFill>
                  <a:schemeClr val="tx1"/>
                </a:solidFill>
              </a:rPr>
              <a:t>Possiamo notare che se consideriamo una stella come  un corpo nero,  il rapporto tra i flussi a due diverse lunghezze d</a:t>
            </a:r>
            <a:r>
              <a:rPr lang="it-IT" altLang="en-GB" sz="1600">
                <a:solidFill>
                  <a:schemeClr val="tx1"/>
                </a:solidFill>
              </a:rPr>
              <a:t>’</a:t>
            </a:r>
            <a:r>
              <a:rPr lang="it-IT" altLang="it-IT" sz="1600">
                <a:solidFill>
                  <a:schemeClr val="tx1"/>
                </a:solidFill>
              </a:rPr>
              <a:t>onda  </a:t>
            </a:r>
            <a:r>
              <a:rPr lang="it-IT" altLang="it-IT" sz="1600">
                <a:solidFill>
                  <a:schemeClr val="tx1"/>
                </a:solidFill>
                <a:latin typeface="Symbol" pitchFamily="2" charset="2"/>
              </a:rPr>
              <a:t>l</a:t>
            </a:r>
            <a:r>
              <a:rPr lang="it-IT" altLang="it-IT" sz="1600" baseline="-25000">
                <a:solidFill>
                  <a:schemeClr val="tx1"/>
                </a:solidFill>
              </a:rPr>
              <a:t>1</a:t>
            </a:r>
            <a:r>
              <a:rPr lang="it-IT" altLang="it-IT" sz="1600">
                <a:solidFill>
                  <a:schemeClr val="tx1"/>
                </a:solidFill>
              </a:rPr>
              <a:t> e </a:t>
            </a:r>
            <a:r>
              <a:rPr lang="it-IT" altLang="it-IT" sz="1600">
                <a:solidFill>
                  <a:schemeClr val="tx1"/>
                </a:solidFill>
                <a:latin typeface="Symbol" pitchFamily="2" charset="2"/>
              </a:rPr>
              <a:t>l</a:t>
            </a:r>
            <a:r>
              <a:rPr lang="it-IT" altLang="it-IT" sz="1600" baseline="-25000">
                <a:solidFill>
                  <a:schemeClr val="tx1"/>
                </a:solidFill>
              </a:rPr>
              <a:t>2   </a:t>
            </a:r>
            <a:r>
              <a:rPr lang="it-IT" altLang="it-IT" sz="1600">
                <a:solidFill>
                  <a:schemeClr val="tx1"/>
                </a:solidFill>
              </a:rPr>
              <a:t>(</a:t>
            </a:r>
            <a:r>
              <a:rPr lang="it-IT" altLang="it-IT" sz="1600">
                <a:solidFill>
                  <a:schemeClr val="tx1"/>
                </a:solidFill>
                <a:latin typeface="Symbol" pitchFamily="2" charset="2"/>
              </a:rPr>
              <a:t>l</a:t>
            </a:r>
            <a:r>
              <a:rPr lang="it-IT" altLang="it-IT" sz="1600" baseline="-25000">
                <a:solidFill>
                  <a:schemeClr val="tx1"/>
                </a:solidFill>
              </a:rPr>
              <a:t>2 </a:t>
            </a:r>
            <a:r>
              <a:rPr lang="it-IT" altLang="it-IT" sz="1600">
                <a:solidFill>
                  <a:schemeClr val="tx1"/>
                </a:solidFill>
              </a:rPr>
              <a:t>&gt; </a:t>
            </a:r>
            <a:r>
              <a:rPr lang="it-IT" altLang="it-IT" sz="1600">
                <a:solidFill>
                  <a:schemeClr val="tx1"/>
                </a:solidFill>
                <a:latin typeface="Symbol" pitchFamily="2" charset="2"/>
              </a:rPr>
              <a:t>l</a:t>
            </a:r>
            <a:r>
              <a:rPr lang="it-IT" altLang="it-IT" sz="1600" baseline="-25000">
                <a:solidFill>
                  <a:schemeClr val="tx1"/>
                </a:solidFill>
              </a:rPr>
              <a:t>1</a:t>
            </a:r>
            <a:r>
              <a:rPr lang="it-IT" altLang="it-IT" sz="1600">
                <a:solidFill>
                  <a:schemeClr val="tx1"/>
                </a:solidFill>
              </a:rPr>
              <a:t>) è dato da:</a:t>
            </a:r>
            <a:endParaRPr lang="it-IT" altLang="it-IT" sz="1600" baseline="-25000">
              <a:solidFill>
                <a:schemeClr val="tx1"/>
              </a:solidFill>
            </a:endParaRPr>
          </a:p>
        </p:txBody>
      </p:sp>
      <p:graphicFrame>
        <p:nvGraphicFramePr>
          <p:cNvPr id="8196" name="Object 3">
            <a:extLst>
              <a:ext uri="{FF2B5EF4-FFF2-40B4-BE49-F238E27FC236}">
                <a16:creationId xmlns:a16="http://schemas.microsoft.com/office/drawing/2014/main" id="{04CABCE5-758D-8447-BA70-E5BC4EDA95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3606800"/>
          <a:ext cx="5867400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97200" imgH="889000" progId="Equation.3">
                  <p:embed/>
                </p:oleObj>
              </mc:Choice>
              <mc:Fallback>
                <p:oleObj name="Equation" r:id="rId2" imgW="2997200" imgH="889000" progId="Equation.3">
                  <p:embed/>
                  <p:pic>
                    <p:nvPicPr>
                      <p:cNvPr id="8196" name="Object 3">
                        <a:extLst>
                          <a:ext uri="{FF2B5EF4-FFF2-40B4-BE49-F238E27FC236}">
                            <a16:creationId xmlns:a16="http://schemas.microsoft.com/office/drawing/2014/main" id="{04CABCE5-758D-8447-BA70-E5BC4EDA95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606800"/>
                        <a:ext cx="5867400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Text Box 6">
            <a:extLst>
              <a:ext uri="{FF2B5EF4-FFF2-40B4-BE49-F238E27FC236}">
                <a16:creationId xmlns:a16="http://schemas.microsoft.com/office/drawing/2014/main" id="{24AFD4F2-3616-734A-B951-5BB2CBD5F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3" y="3357563"/>
            <a:ext cx="42814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it-IT" altLang="it-IT" sz="1600">
                <a:solidFill>
                  <a:schemeClr val="tx1"/>
                </a:solidFill>
              </a:rPr>
              <a:t>Possiamo definire </a:t>
            </a:r>
            <a:r>
              <a:rPr lang="it-IT" altLang="it-IT" sz="1600">
                <a:solidFill>
                  <a:schemeClr val="accent2"/>
                </a:solidFill>
              </a:rPr>
              <a:t>indice di colore</a:t>
            </a:r>
            <a:r>
              <a:rPr lang="it-IT" altLang="it-IT" sz="1600">
                <a:solidFill>
                  <a:schemeClr val="tx1"/>
                </a:solidFill>
              </a:rPr>
              <a:t> la quantità:</a:t>
            </a:r>
          </a:p>
        </p:txBody>
      </p:sp>
      <p:sp>
        <p:nvSpPr>
          <p:cNvPr id="8198" name="Rectangle 7">
            <a:extLst>
              <a:ext uri="{FF2B5EF4-FFF2-40B4-BE49-F238E27FC236}">
                <a16:creationId xmlns:a16="http://schemas.microsoft.com/office/drawing/2014/main" id="{DBD13897-73EE-5F4B-8917-382A2AE687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Gli Indici di Colore</a:t>
            </a:r>
          </a:p>
        </p:txBody>
      </p:sp>
      <p:sp>
        <p:nvSpPr>
          <p:cNvPr id="8199" name="Rettangolo 1">
            <a:extLst>
              <a:ext uri="{FF2B5EF4-FFF2-40B4-BE49-F238E27FC236}">
                <a16:creationId xmlns:a16="http://schemas.microsoft.com/office/drawing/2014/main" id="{70067F64-B090-4D4E-B8B4-BFD30F27C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86" y="5572125"/>
            <a:ext cx="88582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it-IT" altLang="it-IT" sz="1600" dirty="0">
                <a:solidFill>
                  <a:schemeClr val="tx1"/>
                </a:solidFill>
              </a:rPr>
              <a:t>Per convenzione internazionale, gli indici di colore sono = 0, qualunque sia la coppia di lunghezze d'onda </a:t>
            </a:r>
            <a:r>
              <a:rPr lang="it-IT" altLang="it-IT" sz="1600" dirty="0">
                <a:solidFill>
                  <a:schemeClr val="tx1"/>
                </a:solidFill>
                <a:sym typeface="Symbol" pitchFamily="2" charset="2"/>
              </a:rPr>
              <a:t></a:t>
            </a:r>
            <a:r>
              <a:rPr lang="it-IT" altLang="it-IT" sz="1600" baseline="-25000" dirty="0">
                <a:solidFill>
                  <a:schemeClr val="tx1"/>
                </a:solidFill>
                <a:sym typeface="Symbol" pitchFamily="2" charset="2"/>
              </a:rPr>
              <a:t>1</a:t>
            </a:r>
            <a:r>
              <a:rPr lang="it-IT" altLang="it-IT" sz="1600" dirty="0">
                <a:solidFill>
                  <a:schemeClr val="tx1"/>
                </a:solidFill>
                <a:sym typeface="Symbol" pitchFamily="2" charset="2"/>
              </a:rPr>
              <a:t>,</a:t>
            </a:r>
            <a:r>
              <a:rPr lang="it-IT" altLang="it-IT" sz="1600" baseline="-25000" dirty="0">
                <a:solidFill>
                  <a:schemeClr val="tx1"/>
                </a:solidFill>
                <a:sym typeface="Symbol" pitchFamily="2" charset="2"/>
              </a:rPr>
              <a:t>. </a:t>
            </a:r>
            <a:r>
              <a:rPr lang="it-IT" altLang="it-IT" sz="1600" i="1" dirty="0">
                <a:solidFill>
                  <a:schemeClr val="tx1"/>
                </a:solidFill>
                <a:sym typeface="Symbol" pitchFamily="2" charset="2"/>
              </a:rPr>
              <a:t></a:t>
            </a:r>
            <a:r>
              <a:rPr lang="it-IT" altLang="it-IT" sz="1600" baseline="-25000" dirty="0">
                <a:solidFill>
                  <a:schemeClr val="tx1"/>
                </a:solidFill>
                <a:sym typeface="Symbol" pitchFamily="2" charset="2"/>
              </a:rPr>
              <a:t>2 </a:t>
            </a:r>
            <a:r>
              <a:rPr lang="it-IT" altLang="it-IT" sz="1600" dirty="0">
                <a:solidFill>
                  <a:schemeClr val="tx1"/>
                </a:solidFill>
                <a:sym typeface="Symbol" pitchFamily="2" charset="2"/>
              </a:rPr>
              <a:t>, per un insieme di stelle dalle caratteristiche spettrofotometriche simili a quelle di Vega. Tali stelle si indicano anche con il tipo spettrale A0-V (A zero quinto).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B0C2C04-3ECC-7346-B3A7-FB72C89AD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5267" y="1800767"/>
            <a:ext cx="3870289" cy="9547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D1D81824-CE10-DE43-9574-262545C117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Il sistema fotometrico UBV - 1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FBD957B6-0ADA-C143-98E0-7A4CB8B49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763" y="2571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it-IT">
              <a:solidFill>
                <a:schemeClr val="tx1"/>
              </a:solidFill>
            </a:endParaRPr>
          </a:p>
        </p:txBody>
      </p:sp>
      <p:pic>
        <p:nvPicPr>
          <p:cNvPr id="9219" name="Picture 4" descr="16-2">
            <a:extLst>
              <a:ext uri="{FF2B5EF4-FFF2-40B4-BE49-F238E27FC236}">
                <a16:creationId xmlns:a16="http://schemas.microsoft.com/office/drawing/2014/main" id="{F8A4971A-A8B9-B042-B2ED-137009A0B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0925" y="966788"/>
            <a:ext cx="4510088" cy="339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220" name="Object 2">
            <a:extLst>
              <a:ext uri="{FF2B5EF4-FFF2-40B4-BE49-F238E27FC236}">
                <a16:creationId xmlns:a16="http://schemas.microsoft.com/office/drawing/2014/main" id="{151928EE-779A-4D4C-BF39-2DB6F61722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1950" y="4876800"/>
          <a:ext cx="2165350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8100" imgH="914400" progId="Equation.3">
                  <p:embed/>
                </p:oleObj>
              </mc:Choice>
              <mc:Fallback>
                <p:oleObj name="Equation" r:id="rId3" imgW="1308100" imgH="914400" progId="Equation.3">
                  <p:embed/>
                  <p:pic>
                    <p:nvPicPr>
                      <p:cNvPr id="9220" name="Object 2">
                        <a:extLst>
                          <a:ext uri="{FF2B5EF4-FFF2-40B4-BE49-F238E27FC236}">
                            <a16:creationId xmlns:a16="http://schemas.microsoft.com/office/drawing/2014/main" id="{151928EE-779A-4D4C-BF39-2DB6F61722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1950" y="4876800"/>
                        <a:ext cx="2165350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Line 11">
            <a:extLst>
              <a:ext uri="{FF2B5EF4-FFF2-40B4-BE49-F238E27FC236}">
                <a16:creationId xmlns:a16="http://schemas.microsoft.com/office/drawing/2014/main" id="{79BEA144-2A9F-084C-85EA-C8DABA25421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8700" y="4762500"/>
            <a:ext cx="49530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9222" name="Text Box 12">
            <a:extLst>
              <a:ext uri="{FF2B5EF4-FFF2-40B4-BE49-F238E27FC236}">
                <a16:creationId xmlns:a16="http://schemas.microsoft.com/office/drawing/2014/main" id="{8E77618C-526E-CC45-80AD-F97AC5B93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25" y="4456113"/>
            <a:ext cx="2330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1800">
                <a:solidFill>
                  <a:schemeClr val="tx1"/>
                </a:solidFill>
              </a:rPr>
              <a:t>Risposta strumentale</a:t>
            </a:r>
          </a:p>
        </p:txBody>
      </p:sp>
      <p:sp>
        <p:nvSpPr>
          <p:cNvPr id="9223" name="Line 13">
            <a:extLst>
              <a:ext uri="{FF2B5EF4-FFF2-40B4-BE49-F238E27FC236}">
                <a16:creationId xmlns:a16="http://schemas.microsoft.com/office/drawing/2014/main" id="{60274901-3D75-464B-9614-CC2114344E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37100" y="4775200"/>
            <a:ext cx="330200" cy="292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9224" name="Text Box 14">
            <a:extLst>
              <a:ext uri="{FF2B5EF4-FFF2-40B4-BE49-F238E27FC236}">
                <a16:creationId xmlns:a16="http://schemas.microsoft.com/office/drawing/2014/main" id="{91211697-4AA0-2646-A8E0-E096E896A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3325" y="4418013"/>
            <a:ext cx="3397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1800">
                <a:solidFill>
                  <a:schemeClr val="tx1"/>
                </a:solidFill>
              </a:rPr>
              <a:t>Distribuzione spettrale sorgente</a:t>
            </a:r>
          </a:p>
        </p:txBody>
      </p:sp>
      <p:sp>
        <p:nvSpPr>
          <p:cNvPr id="9225" name="Rettangolo 1">
            <a:extLst>
              <a:ext uri="{FF2B5EF4-FFF2-40B4-BE49-F238E27FC236}">
                <a16:creationId xmlns:a16="http://schemas.microsoft.com/office/drawing/2014/main" id="{C3CA4023-6061-B342-B432-A9567047A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8" y="1006475"/>
            <a:ext cx="3433762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2000" dirty="0">
                <a:solidFill>
                  <a:schemeClr val="tx1"/>
                </a:solidFill>
              </a:rPr>
              <a:t>Sono stati sviluppati vari sistemi fotometrici a seconda del rivelatore usato e di opportuni filtri. Tra i più usati è quello detto UBV di Johnson: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>
            <a:extLst>
              <a:ext uri="{FF2B5EF4-FFF2-40B4-BE49-F238E27FC236}">
                <a16:creationId xmlns:a16="http://schemas.microsoft.com/office/drawing/2014/main" id="{73BFD448-208F-044A-A710-3AA3FA107C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Il system UBV</a:t>
            </a:r>
          </a:p>
        </p:txBody>
      </p:sp>
      <p:sp>
        <p:nvSpPr>
          <p:cNvPr id="10242" name="Text Box 3">
            <a:extLst>
              <a:ext uri="{FF2B5EF4-FFF2-40B4-BE49-F238E27FC236}">
                <a16:creationId xmlns:a16="http://schemas.microsoft.com/office/drawing/2014/main" id="{EAB237A2-A41B-C746-AD26-386796537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63" y="1339850"/>
            <a:ext cx="80930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2000">
                <a:solidFill>
                  <a:schemeClr val="tx1"/>
                </a:solidFill>
              </a:rPr>
              <a:t>Il sistema di Johnson </a:t>
            </a:r>
            <a:r>
              <a:rPr lang="it-IT" altLang="it-IT" sz="2000" b="1">
                <a:solidFill>
                  <a:schemeClr val="tx1"/>
                </a:solidFill>
              </a:rPr>
              <a:t>UBV</a:t>
            </a:r>
            <a:r>
              <a:rPr lang="it-IT" altLang="it-IT" sz="2000">
                <a:solidFill>
                  <a:schemeClr val="tx1"/>
                </a:solidFill>
              </a:rPr>
              <a:t> è stato esteso nel vicino Rosso e Infrarosso con le bande </a:t>
            </a:r>
            <a:r>
              <a:rPr lang="it-IT" altLang="it-IT" sz="2000" b="1">
                <a:solidFill>
                  <a:schemeClr val="tx1"/>
                </a:solidFill>
              </a:rPr>
              <a:t>RIJKLMNQ</a:t>
            </a:r>
            <a:r>
              <a:rPr lang="it-IT" altLang="it-IT" sz="2000">
                <a:solidFill>
                  <a:schemeClr val="tx1"/>
                </a:solidFill>
              </a:rPr>
              <a:t>:</a:t>
            </a:r>
            <a:endParaRPr lang="en-US" altLang="it-IT" sz="2000">
              <a:solidFill>
                <a:schemeClr val="tx1"/>
              </a:solidFill>
            </a:endParaRPr>
          </a:p>
        </p:txBody>
      </p:sp>
      <p:pic>
        <p:nvPicPr>
          <p:cNvPr id="10243" name="Immagine 1">
            <a:extLst>
              <a:ext uri="{FF2B5EF4-FFF2-40B4-BE49-F238E27FC236}">
                <a16:creationId xmlns:a16="http://schemas.microsoft.com/office/drawing/2014/main" id="{6327FE10-E027-9E43-965E-FF718BD6C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00" y="4049713"/>
            <a:ext cx="3340100" cy="160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Immagine 2">
            <a:extLst>
              <a:ext uri="{FF2B5EF4-FFF2-40B4-BE49-F238E27FC236}">
                <a16:creationId xmlns:a16="http://schemas.microsoft.com/office/drawing/2014/main" id="{9645998F-71FE-0D44-98BA-84BF811C6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450" y="1868488"/>
            <a:ext cx="2978150" cy="271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Immagine 191">
            <a:extLst>
              <a:ext uri="{FF2B5EF4-FFF2-40B4-BE49-F238E27FC236}">
                <a16:creationId xmlns:a16="http://schemas.microsoft.com/office/drawing/2014/main" id="{2229045C-2D40-7146-A514-87F3B8B4F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63" y="2159000"/>
            <a:ext cx="4738687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Rettangolo 192">
            <a:extLst>
              <a:ext uri="{FF2B5EF4-FFF2-40B4-BE49-F238E27FC236}">
                <a16:creationId xmlns:a16="http://schemas.microsoft.com/office/drawing/2014/main" id="{E0E87E98-E19D-294D-83A1-B20042374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8" y="5651500"/>
            <a:ext cx="89630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>
                <a:solidFill>
                  <a:schemeClr val="tx1"/>
                </a:solidFill>
                <a:sym typeface="Symbol" pitchFamily="2" charset="2"/>
              </a:rPr>
              <a:t>Per le stelle di tipo A0-V si ha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t-IT" sz="1800">
                <a:solidFill>
                  <a:schemeClr val="tx1"/>
                </a:solidFill>
                <a:sym typeface="Symbol" pitchFamily="2" charset="2"/>
              </a:rPr>
              <a:t>U - B = B - V = V - R = R - I = … = 0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>
                <a:solidFill>
                  <a:schemeClr val="tx1"/>
                </a:solidFill>
                <a:sym typeface="Symbol" pitchFamily="2" charset="2"/>
              </a:rPr>
              <a:t>Evidentemente, indice di colore =0 </a:t>
            </a:r>
            <a:r>
              <a:rPr lang="it-IT" altLang="it-IT" sz="1800" i="1">
                <a:solidFill>
                  <a:schemeClr val="tx1"/>
                </a:solidFill>
                <a:sym typeface="Symbol" pitchFamily="2" charset="2"/>
              </a:rPr>
              <a:t>non</a:t>
            </a:r>
            <a:r>
              <a:rPr lang="it-IT" altLang="it-IT" sz="1800">
                <a:solidFill>
                  <a:schemeClr val="tx1"/>
                </a:solidFill>
                <a:sym typeface="Symbol" pitchFamily="2" charset="2"/>
              </a:rPr>
              <a:t> significa ugual flusso nelle due bande.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96">
            <a:extLst>
              <a:ext uri="{FF2B5EF4-FFF2-40B4-BE49-F238E27FC236}">
                <a16:creationId xmlns:a16="http://schemas.microsoft.com/office/drawing/2014/main" id="{2D3CFC91-F203-0745-B7C2-E126903355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GB" altLang="it-IT">
              <a:ea typeface="ＭＳ Ｐゴシック" panose="020B0600070205080204" pitchFamily="34" charset="-128"/>
            </a:endParaRPr>
          </a:p>
        </p:txBody>
      </p:sp>
      <p:pic>
        <p:nvPicPr>
          <p:cNvPr id="11266" name="Picture 97">
            <a:extLst>
              <a:ext uri="{FF2B5EF4-FFF2-40B4-BE49-F238E27FC236}">
                <a16:creationId xmlns:a16="http://schemas.microsoft.com/office/drawing/2014/main" id="{FF539416-C7E7-0E4C-9DBE-84E15FE95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14"/>
          <a:stretch>
            <a:fillRect/>
          </a:stretch>
        </p:blipFill>
        <p:spPr bwMode="auto">
          <a:xfrm>
            <a:off x="838200" y="0"/>
            <a:ext cx="7289800" cy="670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C87E832A-8488-E740-8F3D-62572468D7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9588" y="65332"/>
            <a:ext cx="7772400" cy="685800"/>
          </a:xfrm>
        </p:spPr>
        <p:txBody>
          <a:bodyPr/>
          <a:lstStyle/>
          <a:p>
            <a:pPr eaLnBrk="1" hangingPunct="1"/>
            <a:r>
              <a:rPr lang="it-IT" altLang="it-IT" sz="1800" dirty="0">
                <a:ea typeface="ＭＳ Ｐゴシック" panose="020B0600070205080204" pitchFamily="34" charset="-128"/>
              </a:rPr>
              <a:t>Gli indici di colore (U-B,B-V) del corpo nero</a:t>
            </a:r>
          </a:p>
        </p:txBody>
      </p:sp>
      <p:grpSp>
        <p:nvGrpSpPr>
          <p:cNvPr id="12290" name="Group 3">
            <a:extLst>
              <a:ext uri="{FF2B5EF4-FFF2-40B4-BE49-F238E27FC236}">
                <a16:creationId xmlns:a16="http://schemas.microsoft.com/office/drawing/2014/main" id="{5C713944-81DE-1640-8027-C47F542E5E7A}"/>
              </a:ext>
            </a:extLst>
          </p:cNvPr>
          <p:cNvGrpSpPr>
            <a:grpSpLocks/>
          </p:cNvGrpSpPr>
          <p:nvPr/>
        </p:nvGrpSpPr>
        <p:grpSpPr bwMode="auto">
          <a:xfrm>
            <a:off x="1692275" y="2492375"/>
            <a:ext cx="5943600" cy="3938588"/>
            <a:chOff x="-3" y="-3"/>
            <a:chExt cx="2316" cy="2481"/>
          </a:xfrm>
        </p:grpSpPr>
        <p:grpSp>
          <p:nvGrpSpPr>
            <p:cNvPr id="12291" name="Group 4">
              <a:extLst>
                <a:ext uri="{FF2B5EF4-FFF2-40B4-BE49-F238E27FC236}">
                  <a16:creationId xmlns:a16="http://schemas.microsoft.com/office/drawing/2014/main" id="{782253F0-565F-1841-A628-FBACBB5BDE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310" cy="2475"/>
              <a:chOff x="0" y="0"/>
              <a:chExt cx="2310" cy="2475"/>
            </a:xfrm>
          </p:grpSpPr>
          <p:grpSp>
            <p:nvGrpSpPr>
              <p:cNvPr id="12293" name="Group 5">
                <a:extLst>
                  <a:ext uri="{FF2B5EF4-FFF2-40B4-BE49-F238E27FC236}">
                    <a16:creationId xmlns:a16="http://schemas.microsoft.com/office/drawing/2014/main" id="{7D0C0250-61E4-8E40-9A7C-F95F47C8D3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400" cy="403"/>
                <a:chOff x="0" y="0"/>
                <a:chExt cx="400" cy="403"/>
              </a:xfrm>
            </p:grpSpPr>
            <p:sp>
              <p:nvSpPr>
                <p:cNvPr id="12381" name="Rectangle 6">
                  <a:extLst>
                    <a:ext uri="{FF2B5EF4-FFF2-40B4-BE49-F238E27FC236}">
                      <a16:creationId xmlns:a16="http://schemas.microsoft.com/office/drawing/2014/main" id="{44F2C500-CB58-3A42-8845-8E6BFE22FC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0"/>
                  <a:ext cx="344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it-IT" i="1">
                      <a:latin typeface="Times New Roman" panose="02020603050405020304" pitchFamily="18" charset="0"/>
                    </a:rPr>
                    <a:t>T</a:t>
                  </a:r>
                  <a:endParaRPr lang="en-US" altLang="it-IT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 sz="18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82" name="Rectangle 7">
                  <a:extLst>
                    <a:ext uri="{FF2B5EF4-FFF2-40B4-BE49-F238E27FC236}">
                      <a16:creationId xmlns:a16="http://schemas.microsoft.com/office/drawing/2014/main" id="{4BCE47F0-7B2B-2341-919F-BEDE0D5E60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00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294" name="Group 8">
                <a:extLst>
                  <a:ext uri="{FF2B5EF4-FFF2-40B4-BE49-F238E27FC236}">
                    <a16:creationId xmlns:a16="http://schemas.microsoft.com/office/drawing/2014/main" id="{616AB102-EF2B-8A49-9A50-87681FD8FA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0" y="0"/>
                <a:ext cx="382" cy="403"/>
                <a:chOff x="400" y="0"/>
                <a:chExt cx="382" cy="403"/>
              </a:xfrm>
            </p:grpSpPr>
            <p:sp>
              <p:nvSpPr>
                <p:cNvPr id="12379" name="Rectangle 9">
                  <a:extLst>
                    <a:ext uri="{FF2B5EF4-FFF2-40B4-BE49-F238E27FC236}">
                      <a16:creationId xmlns:a16="http://schemas.microsoft.com/office/drawing/2014/main" id="{C80620BF-3E15-DB4C-BEDE-BD2F1B028C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8" y="0"/>
                  <a:ext cx="326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it-IT" sz="1800">
                      <a:latin typeface="Times New Roman" panose="02020603050405020304" pitchFamily="18" charset="0"/>
                    </a:rPr>
                    <a:t>U-B</a:t>
                  </a:r>
                  <a:endParaRPr lang="en-US" altLang="it-IT" sz="180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80" name="Rectangle 10">
                  <a:extLst>
                    <a:ext uri="{FF2B5EF4-FFF2-40B4-BE49-F238E27FC236}">
                      <a16:creationId xmlns:a16="http://schemas.microsoft.com/office/drawing/2014/main" id="{8B1B8A2F-7EFB-A341-A858-9347EA8E04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0" y="0"/>
                  <a:ext cx="382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295" name="Group 11">
                <a:extLst>
                  <a:ext uri="{FF2B5EF4-FFF2-40B4-BE49-F238E27FC236}">
                    <a16:creationId xmlns:a16="http://schemas.microsoft.com/office/drawing/2014/main" id="{E0B81B5B-0BAC-6342-99DC-F8D909CDA8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82" y="0"/>
                <a:ext cx="382" cy="403"/>
                <a:chOff x="782" y="0"/>
                <a:chExt cx="382" cy="403"/>
              </a:xfrm>
            </p:grpSpPr>
            <p:sp>
              <p:nvSpPr>
                <p:cNvPr id="12377" name="Rectangle 12">
                  <a:extLst>
                    <a:ext uri="{FF2B5EF4-FFF2-40B4-BE49-F238E27FC236}">
                      <a16:creationId xmlns:a16="http://schemas.microsoft.com/office/drawing/2014/main" id="{677FED05-5563-E747-9FEC-4820342D68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0" y="0"/>
                  <a:ext cx="326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it-IT" sz="1800">
                      <a:latin typeface="Times New Roman" panose="02020603050405020304" pitchFamily="18" charset="0"/>
                    </a:rPr>
                    <a:t>B-V</a:t>
                  </a:r>
                  <a:endParaRPr lang="en-US" altLang="it-IT" sz="180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78" name="Rectangle 13">
                  <a:extLst>
                    <a:ext uri="{FF2B5EF4-FFF2-40B4-BE49-F238E27FC236}">
                      <a16:creationId xmlns:a16="http://schemas.microsoft.com/office/drawing/2014/main" id="{67AF08A5-A42A-FF4F-93BA-227909E140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82" y="0"/>
                  <a:ext cx="382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296" name="Group 14">
                <a:extLst>
                  <a:ext uri="{FF2B5EF4-FFF2-40B4-BE49-F238E27FC236}">
                    <a16:creationId xmlns:a16="http://schemas.microsoft.com/office/drawing/2014/main" id="{2D0D1D9E-BBD3-4149-B4A2-FCF50CBE9E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64" y="0"/>
                <a:ext cx="382" cy="403"/>
                <a:chOff x="1164" y="0"/>
                <a:chExt cx="382" cy="403"/>
              </a:xfrm>
            </p:grpSpPr>
            <p:sp>
              <p:nvSpPr>
                <p:cNvPr id="12375" name="Rectangle 15">
                  <a:extLst>
                    <a:ext uri="{FF2B5EF4-FFF2-40B4-BE49-F238E27FC236}">
                      <a16:creationId xmlns:a16="http://schemas.microsoft.com/office/drawing/2014/main" id="{E6C3B75B-2B5F-144A-88CE-7EDEECF898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92" y="0"/>
                  <a:ext cx="326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it-IT" i="1">
                      <a:latin typeface="Times New Roman" panose="02020603050405020304" pitchFamily="18" charset="0"/>
                    </a:rPr>
                    <a:t>T</a:t>
                  </a:r>
                  <a:endParaRPr lang="en-US" altLang="it-IT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76" name="Rectangle 16">
                  <a:extLst>
                    <a:ext uri="{FF2B5EF4-FFF2-40B4-BE49-F238E27FC236}">
                      <a16:creationId xmlns:a16="http://schemas.microsoft.com/office/drawing/2014/main" id="{14906F73-8075-B240-B2ED-80A667947A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64" y="0"/>
                  <a:ext cx="382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297" name="Group 17">
                <a:extLst>
                  <a:ext uri="{FF2B5EF4-FFF2-40B4-BE49-F238E27FC236}">
                    <a16:creationId xmlns:a16="http://schemas.microsoft.com/office/drawing/2014/main" id="{4B005A09-0D61-CB4C-84EE-D13A16B6D4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46" y="0"/>
                <a:ext cx="382" cy="403"/>
                <a:chOff x="1546" y="0"/>
                <a:chExt cx="382" cy="403"/>
              </a:xfrm>
            </p:grpSpPr>
            <p:sp>
              <p:nvSpPr>
                <p:cNvPr id="12373" name="Rectangle 18">
                  <a:extLst>
                    <a:ext uri="{FF2B5EF4-FFF2-40B4-BE49-F238E27FC236}">
                      <a16:creationId xmlns:a16="http://schemas.microsoft.com/office/drawing/2014/main" id="{7698B8AF-775B-7841-9C19-5B70FA6F3D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4" y="0"/>
                  <a:ext cx="326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it-IT" sz="1800">
                      <a:latin typeface="Times New Roman" panose="02020603050405020304" pitchFamily="18" charset="0"/>
                    </a:rPr>
                    <a:t>U-B</a:t>
                  </a:r>
                  <a:endParaRPr lang="en-US" altLang="it-IT" sz="180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74" name="Rectangle 19">
                  <a:extLst>
                    <a:ext uri="{FF2B5EF4-FFF2-40B4-BE49-F238E27FC236}">
                      <a16:creationId xmlns:a16="http://schemas.microsoft.com/office/drawing/2014/main" id="{0CD7FD0C-9DD0-6640-8F4B-54B048C379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46" y="0"/>
                  <a:ext cx="382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298" name="Group 20">
                <a:extLst>
                  <a:ext uri="{FF2B5EF4-FFF2-40B4-BE49-F238E27FC236}">
                    <a16:creationId xmlns:a16="http://schemas.microsoft.com/office/drawing/2014/main" id="{73F6FA6A-ADC4-C54F-ABF8-C18CF9CAEB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8" y="0"/>
                <a:ext cx="382" cy="403"/>
                <a:chOff x="1928" y="0"/>
                <a:chExt cx="382" cy="403"/>
              </a:xfrm>
            </p:grpSpPr>
            <p:sp>
              <p:nvSpPr>
                <p:cNvPr id="12371" name="Rectangle 21">
                  <a:extLst>
                    <a:ext uri="{FF2B5EF4-FFF2-40B4-BE49-F238E27FC236}">
                      <a16:creationId xmlns:a16="http://schemas.microsoft.com/office/drawing/2014/main" id="{2D5CC9C1-0AE8-9E40-87C8-DC9BF29634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56" y="0"/>
                  <a:ext cx="326" cy="4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it-IT" sz="1800">
                      <a:latin typeface="Times New Roman" panose="02020603050405020304" pitchFamily="18" charset="0"/>
                    </a:rPr>
                    <a:t>B-V</a:t>
                  </a:r>
                  <a:endParaRPr lang="en-US" altLang="it-IT" sz="180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72" name="Rectangle 22">
                  <a:extLst>
                    <a:ext uri="{FF2B5EF4-FFF2-40B4-BE49-F238E27FC236}">
                      <a16:creationId xmlns:a16="http://schemas.microsoft.com/office/drawing/2014/main" id="{11125279-21A4-C842-8325-3713D7B2ED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8" y="0"/>
                  <a:ext cx="382" cy="40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299" name="Group 23">
                <a:extLst>
                  <a:ext uri="{FF2B5EF4-FFF2-40B4-BE49-F238E27FC236}">
                    <a16:creationId xmlns:a16="http://schemas.microsoft.com/office/drawing/2014/main" id="{7249EC27-771A-CA44-8BF2-6C697F74C8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03"/>
                <a:ext cx="400" cy="518"/>
                <a:chOff x="0" y="403"/>
                <a:chExt cx="400" cy="518"/>
              </a:xfrm>
            </p:grpSpPr>
            <p:sp>
              <p:nvSpPr>
                <p:cNvPr id="12369" name="Rectangle 24">
                  <a:extLst>
                    <a:ext uri="{FF2B5EF4-FFF2-40B4-BE49-F238E27FC236}">
                      <a16:creationId xmlns:a16="http://schemas.microsoft.com/office/drawing/2014/main" id="{3FC99124-B0E1-5442-8D93-513D22252F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403"/>
                  <a:ext cx="344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4000</a:t>
                  </a:r>
                </a:p>
                <a:p>
                  <a:pPr algn="r"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70" name="Rectangle 25">
                  <a:extLst>
                    <a:ext uri="{FF2B5EF4-FFF2-40B4-BE49-F238E27FC236}">
                      <a16:creationId xmlns:a16="http://schemas.microsoft.com/office/drawing/2014/main" id="{4443185B-FEE8-DF49-BB2F-B4FD626914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03"/>
                  <a:ext cx="40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300" name="Group 26">
                <a:extLst>
                  <a:ext uri="{FF2B5EF4-FFF2-40B4-BE49-F238E27FC236}">
                    <a16:creationId xmlns:a16="http://schemas.microsoft.com/office/drawing/2014/main" id="{FBBEAFC7-D188-144B-B27F-D20CEE967B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0" y="403"/>
                <a:ext cx="382" cy="518"/>
                <a:chOff x="400" y="403"/>
                <a:chExt cx="382" cy="518"/>
              </a:xfrm>
            </p:grpSpPr>
            <p:sp>
              <p:nvSpPr>
                <p:cNvPr id="12367" name="Rectangle 27">
                  <a:extLst>
                    <a:ext uri="{FF2B5EF4-FFF2-40B4-BE49-F238E27FC236}">
                      <a16:creationId xmlns:a16="http://schemas.microsoft.com/office/drawing/2014/main" id="{43084BE5-EA78-924C-A803-0B6DC14646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8" y="403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+0.37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68" name="Rectangle 28">
                  <a:extLst>
                    <a:ext uri="{FF2B5EF4-FFF2-40B4-BE49-F238E27FC236}">
                      <a16:creationId xmlns:a16="http://schemas.microsoft.com/office/drawing/2014/main" id="{9CC44960-9FE1-B641-B428-47392B7ADA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0" y="403"/>
                  <a:ext cx="38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301" name="Group 29">
                <a:extLst>
                  <a:ext uri="{FF2B5EF4-FFF2-40B4-BE49-F238E27FC236}">
                    <a16:creationId xmlns:a16="http://schemas.microsoft.com/office/drawing/2014/main" id="{382476F2-9EE8-F940-B5B6-C04D5089C7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82" y="403"/>
                <a:ext cx="382" cy="518"/>
                <a:chOff x="782" y="403"/>
                <a:chExt cx="382" cy="518"/>
              </a:xfrm>
            </p:grpSpPr>
            <p:sp>
              <p:nvSpPr>
                <p:cNvPr id="12365" name="Rectangle 30">
                  <a:extLst>
                    <a:ext uri="{FF2B5EF4-FFF2-40B4-BE49-F238E27FC236}">
                      <a16:creationId xmlns:a16="http://schemas.microsoft.com/office/drawing/2014/main" id="{2752EC36-5B70-B248-B33D-311C77027F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0" y="403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+1.13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66" name="Rectangle 31">
                  <a:extLst>
                    <a:ext uri="{FF2B5EF4-FFF2-40B4-BE49-F238E27FC236}">
                      <a16:creationId xmlns:a16="http://schemas.microsoft.com/office/drawing/2014/main" id="{C2D11A12-27A9-9B47-81FF-D5B4DB372E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82" y="403"/>
                  <a:ext cx="38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302" name="Group 32">
                <a:extLst>
                  <a:ext uri="{FF2B5EF4-FFF2-40B4-BE49-F238E27FC236}">
                    <a16:creationId xmlns:a16="http://schemas.microsoft.com/office/drawing/2014/main" id="{3232F7EA-B769-E349-9102-5FFD6F707E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64" y="403"/>
                <a:ext cx="382" cy="518"/>
                <a:chOff x="1164" y="403"/>
                <a:chExt cx="382" cy="518"/>
              </a:xfrm>
            </p:grpSpPr>
            <p:sp>
              <p:nvSpPr>
                <p:cNvPr id="12363" name="Rectangle 33">
                  <a:extLst>
                    <a:ext uri="{FF2B5EF4-FFF2-40B4-BE49-F238E27FC236}">
                      <a16:creationId xmlns:a16="http://schemas.microsoft.com/office/drawing/2014/main" id="{FEE4D25A-4DD3-E94C-9725-1C2C888C30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92" y="403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20000</a:t>
                  </a:r>
                </a:p>
                <a:p>
                  <a:pPr algn="r"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64" name="Rectangle 34">
                  <a:extLst>
                    <a:ext uri="{FF2B5EF4-FFF2-40B4-BE49-F238E27FC236}">
                      <a16:creationId xmlns:a16="http://schemas.microsoft.com/office/drawing/2014/main" id="{37BC9D08-F4C2-6648-B0E4-719FDCB054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64" y="403"/>
                  <a:ext cx="38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303" name="Group 35">
                <a:extLst>
                  <a:ext uri="{FF2B5EF4-FFF2-40B4-BE49-F238E27FC236}">
                    <a16:creationId xmlns:a16="http://schemas.microsoft.com/office/drawing/2014/main" id="{96B4911D-64AE-1B4C-8F63-9A75651D3D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46" y="403"/>
                <a:ext cx="382" cy="518"/>
                <a:chOff x="1546" y="403"/>
                <a:chExt cx="382" cy="518"/>
              </a:xfrm>
            </p:grpSpPr>
            <p:sp>
              <p:nvSpPr>
                <p:cNvPr id="12361" name="Rectangle 36">
                  <a:extLst>
                    <a:ext uri="{FF2B5EF4-FFF2-40B4-BE49-F238E27FC236}">
                      <a16:creationId xmlns:a16="http://schemas.microsoft.com/office/drawing/2014/main" id="{E7C79D97-A7BE-F44E-A862-BCF674FC18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4" y="403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-1.01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62" name="Rectangle 37">
                  <a:extLst>
                    <a:ext uri="{FF2B5EF4-FFF2-40B4-BE49-F238E27FC236}">
                      <a16:creationId xmlns:a16="http://schemas.microsoft.com/office/drawing/2014/main" id="{0FB5050C-7368-8349-95CC-39F0F6A939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46" y="403"/>
                  <a:ext cx="38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304" name="Group 38">
                <a:extLst>
                  <a:ext uri="{FF2B5EF4-FFF2-40B4-BE49-F238E27FC236}">
                    <a16:creationId xmlns:a16="http://schemas.microsoft.com/office/drawing/2014/main" id="{6A6D206E-A9B2-3147-876F-9F64B6B3E7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8" y="403"/>
                <a:ext cx="382" cy="518"/>
                <a:chOff x="1928" y="403"/>
                <a:chExt cx="382" cy="518"/>
              </a:xfrm>
            </p:grpSpPr>
            <p:sp>
              <p:nvSpPr>
                <p:cNvPr id="12359" name="Rectangle 39">
                  <a:extLst>
                    <a:ext uri="{FF2B5EF4-FFF2-40B4-BE49-F238E27FC236}">
                      <a16:creationId xmlns:a16="http://schemas.microsoft.com/office/drawing/2014/main" id="{3BC96C6E-A7C9-F84C-A2A9-DAA2C4BC62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56" y="403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-0.16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60" name="Rectangle 40">
                  <a:extLst>
                    <a:ext uri="{FF2B5EF4-FFF2-40B4-BE49-F238E27FC236}">
                      <a16:creationId xmlns:a16="http://schemas.microsoft.com/office/drawing/2014/main" id="{AF918BBA-1994-A74B-AAA1-2F6BF6C7B9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8" y="403"/>
                  <a:ext cx="38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305" name="Group 41">
                <a:extLst>
                  <a:ext uri="{FF2B5EF4-FFF2-40B4-BE49-F238E27FC236}">
                    <a16:creationId xmlns:a16="http://schemas.microsoft.com/office/drawing/2014/main" id="{1FF69F87-40B8-504D-AB30-228DB312C7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921"/>
                <a:ext cx="400" cy="518"/>
                <a:chOff x="0" y="921"/>
                <a:chExt cx="400" cy="518"/>
              </a:xfrm>
            </p:grpSpPr>
            <p:sp>
              <p:nvSpPr>
                <p:cNvPr id="12357" name="Rectangle 42">
                  <a:extLst>
                    <a:ext uri="{FF2B5EF4-FFF2-40B4-BE49-F238E27FC236}">
                      <a16:creationId xmlns:a16="http://schemas.microsoft.com/office/drawing/2014/main" id="{D13D9598-2501-C844-8605-645D684024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921"/>
                  <a:ext cx="344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6000</a:t>
                  </a:r>
                </a:p>
                <a:p>
                  <a:pPr algn="r"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58" name="Rectangle 43">
                  <a:extLst>
                    <a:ext uri="{FF2B5EF4-FFF2-40B4-BE49-F238E27FC236}">
                      <a16:creationId xmlns:a16="http://schemas.microsoft.com/office/drawing/2014/main" id="{EF7C4914-A2A9-D14B-9F87-90AB8B9277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921"/>
                  <a:ext cx="40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306" name="Group 44">
                <a:extLst>
                  <a:ext uri="{FF2B5EF4-FFF2-40B4-BE49-F238E27FC236}">
                    <a16:creationId xmlns:a16="http://schemas.microsoft.com/office/drawing/2014/main" id="{3C458BB0-4B60-034F-ACD3-488C31E2F2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0" y="921"/>
                <a:ext cx="382" cy="518"/>
                <a:chOff x="400" y="921"/>
                <a:chExt cx="382" cy="518"/>
              </a:xfrm>
            </p:grpSpPr>
            <p:sp>
              <p:nvSpPr>
                <p:cNvPr id="12355" name="Rectangle 45">
                  <a:extLst>
                    <a:ext uri="{FF2B5EF4-FFF2-40B4-BE49-F238E27FC236}">
                      <a16:creationId xmlns:a16="http://schemas.microsoft.com/office/drawing/2014/main" id="{479E83CF-66B6-1341-A7DB-43E6AEF888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8" y="921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-0.25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it-IT" sz="18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56" name="Rectangle 46">
                  <a:extLst>
                    <a:ext uri="{FF2B5EF4-FFF2-40B4-BE49-F238E27FC236}">
                      <a16:creationId xmlns:a16="http://schemas.microsoft.com/office/drawing/2014/main" id="{D7BE3A9B-EC4E-5344-84DF-7709A3AF85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0" y="921"/>
                  <a:ext cx="38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307" name="Group 47">
                <a:extLst>
                  <a:ext uri="{FF2B5EF4-FFF2-40B4-BE49-F238E27FC236}">
                    <a16:creationId xmlns:a16="http://schemas.microsoft.com/office/drawing/2014/main" id="{E474DA56-CF1B-FA42-B382-C16C941C28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82" y="921"/>
                <a:ext cx="382" cy="518"/>
                <a:chOff x="782" y="921"/>
                <a:chExt cx="382" cy="518"/>
              </a:xfrm>
            </p:grpSpPr>
            <p:sp>
              <p:nvSpPr>
                <p:cNvPr id="12353" name="Rectangle 48">
                  <a:extLst>
                    <a:ext uri="{FF2B5EF4-FFF2-40B4-BE49-F238E27FC236}">
                      <a16:creationId xmlns:a16="http://schemas.microsoft.com/office/drawing/2014/main" id="{A91B1ED1-085D-F447-9948-C574137E31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0" y="921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+0.62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54" name="Rectangle 49">
                  <a:extLst>
                    <a:ext uri="{FF2B5EF4-FFF2-40B4-BE49-F238E27FC236}">
                      <a16:creationId xmlns:a16="http://schemas.microsoft.com/office/drawing/2014/main" id="{B956AB27-E217-4D4A-B5BF-240038E227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82" y="921"/>
                  <a:ext cx="38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308" name="Group 50">
                <a:extLst>
                  <a:ext uri="{FF2B5EF4-FFF2-40B4-BE49-F238E27FC236}">
                    <a16:creationId xmlns:a16="http://schemas.microsoft.com/office/drawing/2014/main" id="{48CDEC12-9E8D-1A40-B8E5-0544ED9EC3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64" y="921"/>
                <a:ext cx="382" cy="518"/>
                <a:chOff x="1164" y="921"/>
                <a:chExt cx="382" cy="518"/>
              </a:xfrm>
            </p:grpSpPr>
            <p:sp>
              <p:nvSpPr>
                <p:cNvPr id="12351" name="Rectangle 51">
                  <a:extLst>
                    <a:ext uri="{FF2B5EF4-FFF2-40B4-BE49-F238E27FC236}">
                      <a16:creationId xmlns:a16="http://schemas.microsoft.com/office/drawing/2014/main" id="{C50E22D6-FF12-B64F-BDD0-44F790DFCF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92" y="921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25000</a:t>
                  </a:r>
                </a:p>
                <a:p>
                  <a:pPr algn="r"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52" name="Rectangle 52">
                  <a:extLst>
                    <a:ext uri="{FF2B5EF4-FFF2-40B4-BE49-F238E27FC236}">
                      <a16:creationId xmlns:a16="http://schemas.microsoft.com/office/drawing/2014/main" id="{77B9B28E-ECF3-1244-ACC3-5BB7CC0C1F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64" y="921"/>
                  <a:ext cx="38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309" name="Group 53">
                <a:extLst>
                  <a:ext uri="{FF2B5EF4-FFF2-40B4-BE49-F238E27FC236}">
                    <a16:creationId xmlns:a16="http://schemas.microsoft.com/office/drawing/2014/main" id="{B35A49EA-D567-D046-9A2A-C6513D3292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46" y="921"/>
                <a:ext cx="382" cy="518"/>
                <a:chOff x="1546" y="921"/>
                <a:chExt cx="382" cy="518"/>
              </a:xfrm>
            </p:grpSpPr>
            <p:sp>
              <p:nvSpPr>
                <p:cNvPr id="12349" name="Rectangle 54">
                  <a:extLst>
                    <a:ext uri="{FF2B5EF4-FFF2-40B4-BE49-F238E27FC236}">
                      <a16:creationId xmlns:a16="http://schemas.microsoft.com/office/drawing/2014/main" id="{7CA029A5-8CEF-2C4C-80B7-09258BF79F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4" y="921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-1.06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50" name="Rectangle 55">
                  <a:extLst>
                    <a:ext uri="{FF2B5EF4-FFF2-40B4-BE49-F238E27FC236}">
                      <a16:creationId xmlns:a16="http://schemas.microsoft.com/office/drawing/2014/main" id="{046D15FC-8EC5-A245-8847-2D5FA054A5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46" y="921"/>
                  <a:ext cx="38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310" name="Group 56">
                <a:extLst>
                  <a:ext uri="{FF2B5EF4-FFF2-40B4-BE49-F238E27FC236}">
                    <a16:creationId xmlns:a16="http://schemas.microsoft.com/office/drawing/2014/main" id="{48232B61-3DBA-9346-9366-0BD104BA86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8" y="921"/>
                <a:ext cx="382" cy="518"/>
                <a:chOff x="1928" y="921"/>
                <a:chExt cx="382" cy="518"/>
              </a:xfrm>
            </p:grpSpPr>
            <p:sp>
              <p:nvSpPr>
                <p:cNvPr id="12347" name="Rectangle 57">
                  <a:extLst>
                    <a:ext uri="{FF2B5EF4-FFF2-40B4-BE49-F238E27FC236}">
                      <a16:creationId xmlns:a16="http://schemas.microsoft.com/office/drawing/2014/main" id="{DCE47D84-2B7F-D741-810C-678DD80C3B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56" y="921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-0.15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it-IT" sz="18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48" name="Rectangle 58">
                  <a:extLst>
                    <a:ext uri="{FF2B5EF4-FFF2-40B4-BE49-F238E27FC236}">
                      <a16:creationId xmlns:a16="http://schemas.microsoft.com/office/drawing/2014/main" id="{2361B34C-C3AF-4643-9B0C-0AE0E3F151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8" y="921"/>
                  <a:ext cx="38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311" name="Group 59">
                <a:extLst>
                  <a:ext uri="{FF2B5EF4-FFF2-40B4-BE49-F238E27FC236}">
                    <a16:creationId xmlns:a16="http://schemas.microsoft.com/office/drawing/2014/main" id="{AB8BBA13-300A-B14C-98E1-8078F2D14A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439"/>
                <a:ext cx="400" cy="518"/>
                <a:chOff x="0" y="1439"/>
                <a:chExt cx="400" cy="518"/>
              </a:xfrm>
            </p:grpSpPr>
            <p:sp>
              <p:nvSpPr>
                <p:cNvPr id="12345" name="Rectangle 60">
                  <a:extLst>
                    <a:ext uri="{FF2B5EF4-FFF2-40B4-BE49-F238E27FC236}">
                      <a16:creationId xmlns:a16="http://schemas.microsoft.com/office/drawing/2014/main" id="{A99B6C72-9F7F-B64D-AF7A-B78C018DE1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1439"/>
                  <a:ext cx="344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10000</a:t>
                  </a:r>
                </a:p>
                <a:p>
                  <a:pPr algn="r"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46" name="Rectangle 61">
                  <a:extLst>
                    <a:ext uri="{FF2B5EF4-FFF2-40B4-BE49-F238E27FC236}">
                      <a16:creationId xmlns:a16="http://schemas.microsoft.com/office/drawing/2014/main" id="{0FBA4619-0A02-1441-9F62-77B32FDAE0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439"/>
                  <a:ext cx="40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312" name="Group 62">
                <a:extLst>
                  <a:ext uri="{FF2B5EF4-FFF2-40B4-BE49-F238E27FC236}">
                    <a16:creationId xmlns:a16="http://schemas.microsoft.com/office/drawing/2014/main" id="{5810D415-1A0E-BA47-8FBC-B16CF1B4E3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0" y="1439"/>
                <a:ext cx="382" cy="518"/>
                <a:chOff x="400" y="1439"/>
                <a:chExt cx="382" cy="518"/>
              </a:xfrm>
            </p:grpSpPr>
            <p:sp>
              <p:nvSpPr>
                <p:cNvPr id="12343" name="Rectangle 63">
                  <a:extLst>
                    <a:ext uri="{FF2B5EF4-FFF2-40B4-BE49-F238E27FC236}">
                      <a16:creationId xmlns:a16="http://schemas.microsoft.com/office/drawing/2014/main" id="{B56250C4-1468-2742-A71D-DC705CB419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8" y="1439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-0.69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it-IT" sz="18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44" name="Rectangle 64">
                  <a:extLst>
                    <a:ext uri="{FF2B5EF4-FFF2-40B4-BE49-F238E27FC236}">
                      <a16:creationId xmlns:a16="http://schemas.microsoft.com/office/drawing/2014/main" id="{5D8F8BB1-332F-5A49-98F1-2F71D7BD67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0" y="1439"/>
                  <a:ext cx="38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313" name="Group 65">
                <a:extLst>
                  <a:ext uri="{FF2B5EF4-FFF2-40B4-BE49-F238E27FC236}">
                    <a16:creationId xmlns:a16="http://schemas.microsoft.com/office/drawing/2014/main" id="{21E3AA58-DDA8-0D44-878D-2371C9BF1D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82" y="1439"/>
                <a:ext cx="382" cy="518"/>
                <a:chOff x="782" y="1439"/>
                <a:chExt cx="382" cy="518"/>
              </a:xfrm>
            </p:grpSpPr>
            <p:sp>
              <p:nvSpPr>
                <p:cNvPr id="12341" name="Rectangle 66">
                  <a:extLst>
                    <a:ext uri="{FF2B5EF4-FFF2-40B4-BE49-F238E27FC236}">
                      <a16:creationId xmlns:a16="http://schemas.microsoft.com/office/drawing/2014/main" id="{F261850D-45E8-0D49-90D5-9DD0E4524A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0" y="1439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+0.14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it-IT" sz="18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42" name="Rectangle 67">
                  <a:extLst>
                    <a:ext uri="{FF2B5EF4-FFF2-40B4-BE49-F238E27FC236}">
                      <a16:creationId xmlns:a16="http://schemas.microsoft.com/office/drawing/2014/main" id="{BF4EA3AE-DE00-844A-8823-8097D4F959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82" y="1439"/>
                  <a:ext cx="38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314" name="Group 68">
                <a:extLst>
                  <a:ext uri="{FF2B5EF4-FFF2-40B4-BE49-F238E27FC236}">
                    <a16:creationId xmlns:a16="http://schemas.microsoft.com/office/drawing/2014/main" id="{B33CD9C8-F469-504C-973C-01614B6533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64" y="1439"/>
                <a:ext cx="382" cy="518"/>
                <a:chOff x="1164" y="1439"/>
                <a:chExt cx="382" cy="518"/>
              </a:xfrm>
            </p:grpSpPr>
            <p:sp>
              <p:nvSpPr>
                <p:cNvPr id="12339" name="Rectangle 69">
                  <a:extLst>
                    <a:ext uri="{FF2B5EF4-FFF2-40B4-BE49-F238E27FC236}">
                      <a16:creationId xmlns:a16="http://schemas.microsoft.com/office/drawing/2014/main" id="{89E4CE45-FE25-D245-9F46-F1669F44EB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92" y="1439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40000</a:t>
                  </a:r>
                </a:p>
                <a:p>
                  <a:pPr algn="r"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40" name="Rectangle 70">
                  <a:extLst>
                    <a:ext uri="{FF2B5EF4-FFF2-40B4-BE49-F238E27FC236}">
                      <a16:creationId xmlns:a16="http://schemas.microsoft.com/office/drawing/2014/main" id="{BCF19177-F272-EB4A-A12A-E85A02263E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64" y="1439"/>
                  <a:ext cx="38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315" name="Group 71">
                <a:extLst>
                  <a:ext uri="{FF2B5EF4-FFF2-40B4-BE49-F238E27FC236}">
                    <a16:creationId xmlns:a16="http://schemas.microsoft.com/office/drawing/2014/main" id="{2B026DB5-FD4D-154F-9E48-6EBCB19303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46" y="1439"/>
                <a:ext cx="382" cy="518"/>
                <a:chOff x="1546" y="1439"/>
                <a:chExt cx="382" cy="518"/>
              </a:xfrm>
            </p:grpSpPr>
            <p:sp>
              <p:nvSpPr>
                <p:cNvPr id="12337" name="Rectangle 72">
                  <a:extLst>
                    <a:ext uri="{FF2B5EF4-FFF2-40B4-BE49-F238E27FC236}">
                      <a16:creationId xmlns:a16="http://schemas.microsoft.com/office/drawing/2014/main" id="{2DD6F8B7-6B29-FF46-BE97-E4F7C5C919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4" y="1439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-1.14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38" name="Rectangle 73">
                  <a:extLst>
                    <a:ext uri="{FF2B5EF4-FFF2-40B4-BE49-F238E27FC236}">
                      <a16:creationId xmlns:a16="http://schemas.microsoft.com/office/drawing/2014/main" id="{27883516-6E70-A24F-BD3E-AEE5A869C2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46" y="1439"/>
                  <a:ext cx="38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316" name="Group 74">
                <a:extLst>
                  <a:ext uri="{FF2B5EF4-FFF2-40B4-BE49-F238E27FC236}">
                    <a16:creationId xmlns:a16="http://schemas.microsoft.com/office/drawing/2014/main" id="{783A7962-E3A1-3045-8506-D3CF2A4031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8" y="1439"/>
                <a:ext cx="382" cy="518"/>
                <a:chOff x="1928" y="1439"/>
                <a:chExt cx="382" cy="518"/>
              </a:xfrm>
            </p:grpSpPr>
            <p:sp>
              <p:nvSpPr>
                <p:cNvPr id="12335" name="Rectangle 75">
                  <a:extLst>
                    <a:ext uri="{FF2B5EF4-FFF2-40B4-BE49-F238E27FC236}">
                      <a16:creationId xmlns:a16="http://schemas.microsoft.com/office/drawing/2014/main" id="{823F857E-752D-1644-B34E-841D0A30DD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56" y="1439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-0.29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it-IT" sz="18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36" name="Rectangle 76">
                  <a:extLst>
                    <a:ext uri="{FF2B5EF4-FFF2-40B4-BE49-F238E27FC236}">
                      <a16:creationId xmlns:a16="http://schemas.microsoft.com/office/drawing/2014/main" id="{12DFD031-4318-084F-A914-A0F3F60C41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8" y="1439"/>
                  <a:ext cx="38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317" name="Group 77">
                <a:extLst>
                  <a:ext uri="{FF2B5EF4-FFF2-40B4-BE49-F238E27FC236}">
                    <a16:creationId xmlns:a16="http://schemas.microsoft.com/office/drawing/2014/main" id="{C426267B-A4FF-E846-AC6D-720ACB11CE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57"/>
                <a:ext cx="400" cy="518"/>
                <a:chOff x="0" y="1957"/>
                <a:chExt cx="400" cy="518"/>
              </a:xfrm>
            </p:grpSpPr>
            <p:sp>
              <p:nvSpPr>
                <p:cNvPr id="12333" name="Rectangle 78">
                  <a:extLst>
                    <a:ext uri="{FF2B5EF4-FFF2-40B4-BE49-F238E27FC236}">
                      <a16:creationId xmlns:a16="http://schemas.microsoft.com/office/drawing/2014/main" id="{C8263163-6625-4E45-90CE-8293F900BB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1957"/>
                  <a:ext cx="344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15000</a:t>
                  </a:r>
                </a:p>
                <a:p>
                  <a:pPr algn="r">
                    <a:spcBef>
                      <a:spcPct val="0"/>
                    </a:spcBef>
                    <a:buFontTx/>
                    <a:buNone/>
                  </a:pPr>
                  <a:endParaRPr lang="en-US" altLang="it-IT" sz="18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34" name="Rectangle 79">
                  <a:extLst>
                    <a:ext uri="{FF2B5EF4-FFF2-40B4-BE49-F238E27FC236}">
                      <a16:creationId xmlns:a16="http://schemas.microsoft.com/office/drawing/2014/main" id="{35640E45-8C2A-034A-9058-8F6DE30A08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957"/>
                  <a:ext cx="40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318" name="Group 80">
                <a:extLst>
                  <a:ext uri="{FF2B5EF4-FFF2-40B4-BE49-F238E27FC236}">
                    <a16:creationId xmlns:a16="http://schemas.microsoft.com/office/drawing/2014/main" id="{7341A517-F476-E942-AE80-F386EBA29D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0" y="1957"/>
                <a:ext cx="382" cy="518"/>
                <a:chOff x="400" y="1957"/>
                <a:chExt cx="382" cy="518"/>
              </a:xfrm>
            </p:grpSpPr>
            <p:sp>
              <p:nvSpPr>
                <p:cNvPr id="12331" name="Rectangle 81">
                  <a:extLst>
                    <a:ext uri="{FF2B5EF4-FFF2-40B4-BE49-F238E27FC236}">
                      <a16:creationId xmlns:a16="http://schemas.microsoft.com/office/drawing/2014/main" id="{C02EBB09-615E-8B43-A30F-7B79C4C3F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8" y="1957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-0.91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it-IT" sz="18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32" name="Rectangle 82">
                  <a:extLst>
                    <a:ext uri="{FF2B5EF4-FFF2-40B4-BE49-F238E27FC236}">
                      <a16:creationId xmlns:a16="http://schemas.microsoft.com/office/drawing/2014/main" id="{E6CBECAE-2674-2648-93F2-5E55923E3B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0" y="1957"/>
                  <a:ext cx="38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319" name="Group 83">
                <a:extLst>
                  <a:ext uri="{FF2B5EF4-FFF2-40B4-BE49-F238E27FC236}">
                    <a16:creationId xmlns:a16="http://schemas.microsoft.com/office/drawing/2014/main" id="{59B5B9DD-FE64-0E46-9070-558FC51042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82" y="1957"/>
                <a:ext cx="382" cy="518"/>
                <a:chOff x="782" y="1957"/>
                <a:chExt cx="382" cy="518"/>
              </a:xfrm>
            </p:grpSpPr>
            <p:sp>
              <p:nvSpPr>
                <p:cNvPr id="12329" name="Rectangle 84">
                  <a:extLst>
                    <a:ext uri="{FF2B5EF4-FFF2-40B4-BE49-F238E27FC236}">
                      <a16:creationId xmlns:a16="http://schemas.microsoft.com/office/drawing/2014/main" id="{3639D9FB-4CD2-474A-913C-F012FC120D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0" y="1957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-0.07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30" name="Rectangle 85">
                  <a:extLst>
                    <a:ext uri="{FF2B5EF4-FFF2-40B4-BE49-F238E27FC236}">
                      <a16:creationId xmlns:a16="http://schemas.microsoft.com/office/drawing/2014/main" id="{CCD0FBF4-0F70-3F4E-ADD3-EB624E254F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82" y="1957"/>
                  <a:ext cx="38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320" name="Group 86">
                <a:extLst>
                  <a:ext uri="{FF2B5EF4-FFF2-40B4-BE49-F238E27FC236}">
                    <a16:creationId xmlns:a16="http://schemas.microsoft.com/office/drawing/2014/main" id="{4E1E1486-D747-5C4D-A1A6-247141F71F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64" y="1957"/>
                <a:ext cx="382" cy="518"/>
                <a:chOff x="1164" y="1957"/>
                <a:chExt cx="382" cy="518"/>
              </a:xfrm>
            </p:grpSpPr>
            <p:sp>
              <p:nvSpPr>
                <p:cNvPr id="12327" name="Rectangle 87">
                  <a:extLst>
                    <a:ext uri="{FF2B5EF4-FFF2-40B4-BE49-F238E27FC236}">
                      <a16:creationId xmlns:a16="http://schemas.microsoft.com/office/drawing/2014/main" id="{98962334-670C-1048-A39B-9F197456AF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92" y="1957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  <a:sym typeface="Symbol" pitchFamily="2" charset="2"/>
                    </a:rPr>
                    <a:t></a:t>
                  </a:r>
                  <a:endParaRPr lang="en-US" altLang="it-IT" sz="180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 sz="1800">
                    <a:latin typeface="Times New Roman" panose="02020603050405020304" pitchFamily="18" charset="0"/>
                    <a:sym typeface="Symbol" pitchFamily="2" charset="2"/>
                  </a:endParaRPr>
                </a:p>
              </p:txBody>
            </p:sp>
            <p:sp>
              <p:nvSpPr>
                <p:cNvPr id="12328" name="Rectangle 88">
                  <a:extLst>
                    <a:ext uri="{FF2B5EF4-FFF2-40B4-BE49-F238E27FC236}">
                      <a16:creationId xmlns:a16="http://schemas.microsoft.com/office/drawing/2014/main" id="{324CAA21-5261-FD4E-9ED0-6B16D029F2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64" y="1957"/>
                  <a:ext cx="38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321" name="Group 89">
                <a:extLst>
                  <a:ext uri="{FF2B5EF4-FFF2-40B4-BE49-F238E27FC236}">
                    <a16:creationId xmlns:a16="http://schemas.microsoft.com/office/drawing/2014/main" id="{5B0B1635-4002-FE45-BA0E-4FDE50AA6B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46" y="1957"/>
                <a:ext cx="382" cy="518"/>
                <a:chOff x="1546" y="1957"/>
                <a:chExt cx="382" cy="518"/>
              </a:xfrm>
            </p:grpSpPr>
            <p:sp>
              <p:nvSpPr>
                <p:cNvPr id="12325" name="Rectangle 90">
                  <a:extLst>
                    <a:ext uri="{FF2B5EF4-FFF2-40B4-BE49-F238E27FC236}">
                      <a16:creationId xmlns:a16="http://schemas.microsoft.com/office/drawing/2014/main" id="{CEF9828D-8FAC-634C-9389-9CA5899CEF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4" y="1957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-1.28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it-IT" sz="18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26" name="Rectangle 91">
                  <a:extLst>
                    <a:ext uri="{FF2B5EF4-FFF2-40B4-BE49-F238E27FC236}">
                      <a16:creationId xmlns:a16="http://schemas.microsoft.com/office/drawing/2014/main" id="{6EB4BE75-CAC4-694E-BA7C-8FE6B39513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46" y="1957"/>
                  <a:ext cx="38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322" name="Group 92">
                <a:extLst>
                  <a:ext uri="{FF2B5EF4-FFF2-40B4-BE49-F238E27FC236}">
                    <a16:creationId xmlns:a16="http://schemas.microsoft.com/office/drawing/2014/main" id="{354225DF-2929-2244-83C6-7F625174FD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8" y="1957"/>
                <a:ext cx="382" cy="518"/>
                <a:chOff x="1928" y="1957"/>
                <a:chExt cx="382" cy="518"/>
              </a:xfrm>
            </p:grpSpPr>
            <p:sp>
              <p:nvSpPr>
                <p:cNvPr id="12323" name="Rectangle 93">
                  <a:extLst>
                    <a:ext uri="{FF2B5EF4-FFF2-40B4-BE49-F238E27FC236}">
                      <a16:creationId xmlns:a16="http://schemas.microsoft.com/office/drawing/2014/main" id="{DD4BB2AC-4DD1-C549-A9DF-35F29E9D7F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56" y="1957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-0.44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2324" name="Rectangle 94">
                  <a:extLst>
                    <a:ext uri="{FF2B5EF4-FFF2-40B4-BE49-F238E27FC236}">
                      <a16:creationId xmlns:a16="http://schemas.microsoft.com/office/drawing/2014/main" id="{2CFE7F26-B045-2643-A70B-E9F40D7995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8" y="1957"/>
                  <a:ext cx="38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12292" name="Rectangle 95">
              <a:extLst>
                <a:ext uri="{FF2B5EF4-FFF2-40B4-BE49-F238E27FC236}">
                  <a16:creationId xmlns:a16="http://schemas.microsoft.com/office/drawing/2014/main" id="{977DFD1E-7D32-2548-A928-D6E7B5293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2316" cy="2481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it-IT">
                <a:solidFill>
                  <a:schemeClr val="tx1"/>
                </a:solidFill>
              </a:endParaRPr>
            </a:p>
          </p:txBody>
        </p:sp>
      </p:grpSp>
      <p:pic>
        <p:nvPicPr>
          <p:cNvPr id="2" name="Immagine 1">
            <a:extLst>
              <a:ext uri="{FF2B5EF4-FFF2-40B4-BE49-F238E27FC236}">
                <a16:creationId xmlns:a16="http://schemas.microsoft.com/office/drawing/2014/main" id="{EB46577D-9F11-F141-B825-3C0C018B2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926" y="1233739"/>
            <a:ext cx="2463800" cy="74930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2F88AC2-6015-E746-BC0D-433FE02BC08B}"/>
              </a:ext>
            </a:extLst>
          </p:cNvPr>
          <p:cNvSpPr txBox="1"/>
          <p:nvPr/>
        </p:nvSpPr>
        <p:spPr>
          <a:xfrm>
            <a:off x="412327" y="1377556"/>
            <a:ext cx="5469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BB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E7891CB-0776-9E4F-AE54-5319A5F49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029" y="1213644"/>
            <a:ext cx="2590800" cy="8509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D33399F5-6893-FE48-82C3-CF0F60F9988F}"/>
              </a:ext>
            </a:extLst>
          </p:cNvPr>
          <p:cNvSpPr txBox="1"/>
          <p:nvPr/>
        </p:nvSpPr>
        <p:spPr>
          <a:xfrm>
            <a:off x="5501021" y="1049870"/>
            <a:ext cx="1636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Stars (4000-10000 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1570D214-8796-8F42-9AB5-680E3C37BA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924800" cy="685800"/>
          </a:xfrm>
        </p:spPr>
        <p:txBody>
          <a:bodyPr/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Gli indici di colore del Sole</a:t>
            </a:r>
          </a:p>
        </p:txBody>
      </p:sp>
      <p:grpSp>
        <p:nvGrpSpPr>
          <p:cNvPr id="13314" name="Group 3">
            <a:extLst>
              <a:ext uri="{FF2B5EF4-FFF2-40B4-BE49-F238E27FC236}">
                <a16:creationId xmlns:a16="http://schemas.microsoft.com/office/drawing/2014/main" id="{19961C22-F11C-024F-B696-3CD82EFC5701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714500"/>
            <a:ext cx="8534400" cy="3429000"/>
            <a:chOff x="-3" y="-3"/>
            <a:chExt cx="2382" cy="3114"/>
          </a:xfrm>
        </p:grpSpPr>
        <p:grpSp>
          <p:nvGrpSpPr>
            <p:cNvPr id="13315" name="Group 4">
              <a:extLst>
                <a:ext uri="{FF2B5EF4-FFF2-40B4-BE49-F238E27FC236}">
                  <a16:creationId xmlns:a16="http://schemas.microsoft.com/office/drawing/2014/main" id="{FD30E29E-5232-3D49-AB58-22507D9454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376" cy="3108"/>
              <a:chOff x="0" y="0"/>
              <a:chExt cx="2376" cy="3108"/>
            </a:xfrm>
          </p:grpSpPr>
          <p:grpSp>
            <p:nvGrpSpPr>
              <p:cNvPr id="13317" name="Group 5">
                <a:extLst>
                  <a:ext uri="{FF2B5EF4-FFF2-40B4-BE49-F238E27FC236}">
                    <a16:creationId xmlns:a16="http://schemas.microsoft.com/office/drawing/2014/main" id="{80B7378D-8456-8C44-99F8-3CBD5C729D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622" cy="518"/>
                <a:chOff x="0" y="0"/>
                <a:chExt cx="622" cy="518"/>
              </a:xfrm>
            </p:grpSpPr>
            <p:sp>
              <p:nvSpPr>
                <p:cNvPr id="13387" name="Rectangle 6">
                  <a:extLst>
                    <a:ext uri="{FF2B5EF4-FFF2-40B4-BE49-F238E27FC236}">
                      <a16:creationId xmlns:a16="http://schemas.microsoft.com/office/drawing/2014/main" id="{BFDCEA22-1BE7-414A-B055-2DB613643A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0"/>
                  <a:ext cx="56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Indice di   Colore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 sz="18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88" name="Rectangle 7">
                  <a:extLst>
                    <a:ext uri="{FF2B5EF4-FFF2-40B4-BE49-F238E27FC236}">
                      <a16:creationId xmlns:a16="http://schemas.microsoft.com/office/drawing/2014/main" id="{AF3F43E9-9964-5848-B322-B0C362CD06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2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18" name="Group 8">
                <a:extLst>
                  <a:ext uri="{FF2B5EF4-FFF2-40B4-BE49-F238E27FC236}">
                    <a16:creationId xmlns:a16="http://schemas.microsoft.com/office/drawing/2014/main" id="{50FD2225-E0CD-5047-8E5B-0863F8ED86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2" y="0"/>
                <a:ext cx="566" cy="518"/>
                <a:chOff x="622" y="0"/>
                <a:chExt cx="566" cy="518"/>
              </a:xfrm>
            </p:grpSpPr>
            <p:sp>
              <p:nvSpPr>
                <p:cNvPr id="13385" name="Rectangle 9">
                  <a:extLst>
                    <a:ext uri="{FF2B5EF4-FFF2-40B4-BE49-F238E27FC236}">
                      <a16:creationId xmlns:a16="http://schemas.microsoft.com/office/drawing/2014/main" id="{410557BD-823C-CD40-9F44-B4414F96EA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0" y="0"/>
                  <a:ext cx="510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magnitudine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 sz="18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86" name="Rectangle 10">
                  <a:extLst>
                    <a:ext uri="{FF2B5EF4-FFF2-40B4-BE49-F238E27FC236}">
                      <a16:creationId xmlns:a16="http://schemas.microsoft.com/office/drawing/2014/main" id="{2B390C07-7BF1-C74B-81DA-BA6A996ECE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2" y="0"/>
                  <a:ext cx="56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19" name="Group 11">
                <a:extLst>
                  <a:ext uri="{FF2B5EF4-FFF2-40B4-BE49-F238E27FC236}">
                    <a16:creationId xmlns:a16="http://schemas.microsoft.com/office/drawing/2014/main" id="{DA022958-8232-5645-8771-C8006B2779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88" y="0"/>
                <a:ext cx="622" cy="518"/>
                <a:chOff x="1188" y="0"/>
                <a:chExt cx="622" cy="518"/>
              </a:xfrm>
            </p:grpSpPr>
            <p:sp>
              <p:nvSpPr>
                <p:cNvPr id="13383" name="Rectangle 12">
                  <a:extLst>
                    <a:ext uri="{FF2B5EF4-FFF2-40B4-BE49-F238E27FC236}">
                      <a16:creationId xmlns:a16="http://schemas.microsoft.com/office/drawing/2014/main" id="{415460D8-59D8-C843-BD79-338AB7B672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6" y="0"/>
                  <a:ext cx="56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Indice di Colore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 sz="18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84" name="Rectangle 13">
                  <a:extLst>
                    <a:ext uri="{FF2B5EF4-FFF2-40B4-BE49-F238E27FC236}">
                      <a16:creationId xmlns:a16="http://schemas.microsoft.com/office/drawing/2014/main" id="{40A519E8-BA75-A141-9DE1-2E7EBB7783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8" y="0"/>
                  <a:ext cx="62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20" name="Group 14">
                <a:extLst>
                  <a:ext uri="{FF2B5EF4-FFF2-40B4-BE49-F238E27FC236}">
                    <a16:creationId xmlns:a16="http://schemas.microsoft.com/office/drawing/2014/main" id="{5850AC2F-D358-3845-A606-D23B0ACD9E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10" y="0"/>
                <a:ext cx="566" cy="518"/>
                <a:chOff x="1810" y="0"/>
                <a:chExt cx="566" cy="518"/>
              </a:xfrm>
            </p:grpSpPr>
            <p:sp>
              <p:nvSpPr>
                <p:cNvPr id="13381" name="Rectangle 15">
                  <a:extLst>
                    <a:ext uri="{FF2B5EF4-FFF2-40B4-BE49-F238E27FC236}">
                      <a16:creationId xmlns:a16="http://schemas.microsoft.com/office/drawing/2014/main" id="{F0766531-3A1A-8B4C-9851-5DB4DBFFC0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38" y="0"/>
                  <a:ext cx="510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magnitudine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 sz="18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82" name="Rectangle 16">
                  <a:extLst>
                    <a:ext uri="{FF2B5EF4-FFF2-40B4-BE49-F238E27FC236}">
                      <a16:creationId xmlns:a16="http://schemas.microsoft.com/office/drawing/2014/main" id="{771B2EF3-C98C-8D4D-9FC7-C89FE68634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0" y="0"/>
                  <a:ext cx="56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21" name="Group 17">
                <a:extLst>
                  <a:ext uri="{FF2B5EF4-FFF2-40B4-BE49-F238E27FC236}">
                    <a16:creationId xmlns:a16="http://schemas.microsoft.com/office/drawing/2014/main" id="{6D77747C-DD9C-E94C-8AA2-97BC0ACBCA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18"/>
                <a:ext cx="622" cy="518"/>
                <a:chOff x="0" y="518"/>
                <a:chExt cx="622" cy="518"/>
              </a:xfrm>
            </p:grpSpPr>
            <p:sp>
              <p:nvSpPr>
                <p:cNvPr id="13379" name="Rectangle 18">
                  <a:extLst>
                    <a:ext uri="{FF2B5EF4-FFF2-40B4-BE49-F238E27FC236}">
                      <a16:creationId xmlns:a16="http://schemas.microsoft.com/office/drawing/2014/main" id="{1E84D692-B63A-A041-9304-AE8001038B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518"/>
                  <a:ext cx="56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it-IT" altLang="it-IT" sz="1800">
                      <a:latin typeface="Times New Roman" panose="02020603050405020304" pitchFamily="18" charset="0"/>
                    </a:rPr>
                    <a:t>U-B</a:t>
                  </a:r>
                  <a:endParaRPr lang="en-US" altLang="it-IT" sz="180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80" name="Rectangle 19">
                  <a:extLst>
                    <a:ext uri="{FF2B5EF4-FFF2-40B4-BE49-F238E27FC236}">
                      <a16:creationId xmlns:a16="http://schemas.microsoft.com/office/drawing/2014/main" id="{BCDBE5E9-E7E7-174C-8C93-14B1FD3634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518"/>
                  <a:ext cx="62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22" name="Group 20">
                <a:extLst>
                  <a:ext uri="{FF2B5EF4-FFF2-40B4-BE49-F238E27FC236}">
                    <a16:creationId xmlns:a16="http://schemas.microsoft.com/office/drawing/2014/main" id="{4D47943F-0F2B-D74D-805A-F48C1090C7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2" y="518"/>
                <a:ext cx="566" cy="518"/>
                <a:chOff x="622" y="518"/>
                <a:chExt cx="566" cy="518"/>
              </a:xfrm>
            </p:grpSpPr>
            <p:sp>
              <p:nvSpPr>
                <p:cNvPr id="13377" name="Rectangle 21">
                  <a:extLst>
                    <a:ext uri="{FF2B5EF4-FFF2-40B4-BE49-F238E27FC236}">
                      <a16:creationId xmlns:a16="http://schemas.microsoft.com/office/drawing/2014/main" id="{6C0FCFC7-031C-C54F-BD43-0F51AA7EDD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0" y="518"/>
                  <a:ext cx="510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it-IT" altLang="it-IT" sz="1800">
                      <a:latin typeface="Times New Roman" panose="02020603050405020304" pitchFamily="18" charset="0"/>
                    </a:rPr>
                    <a:t>+0.195</a:t>
                  </a:r>
                  <a:endParaRPr lang="en-US" altLang="it-IT" sz="180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 sz="18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78" name="Rectangle 22">
                  <a:extLst>
                    <a:ext uri="{FF2B5EF4-FFF2-40B4-BE49-F238E27FC236}">
                      <a16:creationId xmlns:a16="http://schemas.microsoft.com/office/drawing/2014/main" id="{5B032437-A5F9-7F4E-A1E4-E87B07C2DF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2" y="518"/>
                  <a:ext cx="56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23" name="Group 23">
                <a:extLst>
                  <a:ext uri="{FF2B5EF4-FFF2-40B4-BE49-F238E27FC236}">
                    <a16:creationId xmlns:a16="http://schemas.microsoft.com/office/drawing/2014/main" id="{0C17E02D-F0CC-0547-8922-D859E22492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88" y="518"/>
                <a:ext cx="622" cy="518"/>
                <a:chOff x="1188" y="518"/>
                <a:chExt cx="622" cy="518"/>
              </a:xfrm>
            </p:grpSpPr>
            <p:sp>
              <p:nvSpPr>
                <p:cNvPr id="13375" name="Rectangle 24">
                  <a:extLst>
                    <a:ext uri="{FF2B5EF4-FFF2-40B4-BE49-F238E27FC236}">
                      <a16:creationId xmlns:a16="http://schemas.microsoft.com/office/drawing/2014/main" id="{F7D9C8EC-3844-4D45-9005-B72C6D42C5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6" y="518"/>
                  <a:ext cx="56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it-IT" altLang="it-IT" sz="1800">
                      <a:latin typeface="Times New Roman" panose="02020603050405020304" pitchFamily="18" charset="0"/>
                    </a:rPr>
                    <a:t>V-I</a:t>
                  </a:r>
                  <a:endParaRPr lang="en-US" altLang="it-IT" sz="180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 sz="18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76" name="Rectangle 25">
                  <a:extLst>
                    <a:ext uri="{FF2B5EF4-FFF2-40B4-BE49-F238E27FC236}">
                      <a16:creationId xmlns:a16="http://schemas.microsoft.com/office/drawing/2014/main" id="{67A962E6-886C-A241-B89F-7883288507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8" y="518"/>
                  <a:ext cx="62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24" name="Group 26">
                <a:extLst>
                  <a:ext uri="{FF2B5EF4-FFF2-40B4-BE49-F238E27FC236}">
                    <a16:creationId xmlns:a16="http://schemas.microsoft.com/office/drawing/2014/main" id="{511C4F31-176F-4845-86FD-108CFAEE8F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10" y="518"/>
                <a:ext cx="566" cy="518"/>
                <a:chOff x="1810" y="518"/>
                <a:chExt cx="566" cy="518"/>
              </a:xfrm>
            </p:grpSpPr>
            <p:sp>
              <p:nvSpPr>
                <p:cNvPr id="13373" name="Rectangle 27">
                  <a:extLst>
                    <a:ext uri="{FF2B5EF4-FFF2-40B4-BE49-F238E27FC236}">
                      <a16:creationId xmlns:a16="http://schemas.microsoft.com/office/drawing/2014/main" id="{52991994-26BA-6F44-AA9D-066D4A15E0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38" y="518"/>
                  <a:ext cx="510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it-IT" sz="1800">
                      <a:latin typeface="Times New Roman" panose="02020603050405020304" pitchFamily="18" charset="0"/>
                    </a:rPr>
                    <a:t>+0.88</a:t>
                  </a:r>
                  <a:endParaRPr lang="en-US" altLang="it-IT" sz="180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 sz="18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74" name="Rectangle 28">
                  <a:extLst>
                    <a:ext uri="{FF2B5EF4-FFF2-40B4-BE49-F238E27FC236}">
                      <a16:creationId xmlns:a16="http://schemas.microsoft.com/office/drawing/2014/main" id="{D6A73A97-2710-584F-8D98-2E1903F655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0" y="518"/>
                  <a:ext cx="56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25" name="Group 29">
                <a:extLst>
                  <a:ext uri="{FF2B5EF4-FFF2-40B4-BE49-F238E27FC236}">
                    <a16:creationId xmlns:a16="http://schemas.microsoft.com/office/drawing/2014/main" id="{0D5B935D-C0A0-AC4C-A9D1-2026169D33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036"/>
                <a:ext cx="622" cy="518"/>
                <a:chOff x="0" y="1036"/>
                <a:chExt cx="622" cy="518"/>
              </a:xfrm>
            </p:grpSpPr>
            <p:sp>
              <p:nvSpPr>
                <p:cNvPr id="13371" name="Rectangle 30">
                  <a:extLst>
                    <a:ext uri="{FF2B5EF4-FFF2-40B4-BE49-F238E27FC236}">
                      <a16:creationId xmlns:a16="http://schemas.microsoft.com/office/drawing/2014/main" id="{48A86036-845D-BA44-A59B-5F21C545AF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1036"/>
                  <a:ext cx="56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it-IT" sz="1800">
                      <a:latin typeface="Times New Roman" panose="02020603050405020304" pitchFamily="18" charset="0"/>
                    </a:rPr>
                    <a:t>B-V</a:t>
                  </a:r>
                  <a:endParaRPr lang="en-US" altLang="it-IT" sz="180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72" name="Rectangle 31">
                  <a:extLst>
                    <a:ext uri="{FF2B5EF4-FFF2-40B4-BE49-F238E27FC236}">
                      <a16:creationId xmlns:a16="http://schemas.microsoft.com/office/drawing/2014/main" id="{749E3A0B-5B4D-7248-BC18-DA9432821A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036"/>
                  <a:ext cx="62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26" name="Group 32">
                <a:extLst>
                  <a:ext uri="{FF2B5EF4-FFF2-40B4-BE49-F238E27FC236}">
                    <a16:creationId xmlns:a16="http://schemas.microsoft.com/office/drawing/2014/main" id="{66C204B8-27AD-004E-8FCD-CE75059D74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2" y="1036"/>
                <a:ext cx="566" cy="518"/>
                <a:chOff x="622" y="1036"/>
                <a:chExt cx="566" cy="518"/>
              </a:xfrm>
            </p:grpSpPr>
            <p:sp>
              <p:nvSpPr>
                <p:cNvPr id="13369" name="Rectangle 33">
                  <a:extLst>
                    <a:ext uri="{FF2B5EF4-FFF2-40B4-BE49-F238E27FC236}">
                      <a16:creationId xmlns:a16="http://schemas.microsoft.com/office/drawing/2014/main" id="{E2AAB54F-808C-C54E-BE32-FCDA8C09A7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0" y="1036"/>
                  <a:ext cx="510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it-IT" sz="1800">
                      <a:latin typeface="Times New Roman" panose="02020603050405020304" pitchFamily="18" charset="0"/>
                    </a:rPr>
                    <a:t>+0.650</a:t>
                  </a:r>
                  <a:endParaRPr lang="en-US" altLang="it-IT" sz="180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 sz="18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70" name="Rectangle 34">
                  <a:extLst>
                    <a:ext uri="{FF2B5EF4-FFF2-40B4-BE49-F238E27FC236}">
                      <a16:creationId xmlns:a16="http://schemas.microsoft.com/office/drawing/2014/main" id="{736BC466-031C-A649-81FF-BED2F18A09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2" y="1036"/>
                  <a:ext cx="56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27" name="Group 35">
                <a:extLst>
                  <a:ext uri="{FF2B5EF4-FFF2-40B4-BE49-F238E27FC236}">
                    <a16:creationId xmlns:a16="http://schemas.microsoft.com/office/drawing/2014/main" id="{E6AEA8B0-CA3B-BF49-87C6-530E5A6FCD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88" y="1036"/>
                <a:ext cx="622" cy="518"/>
                <a:chOff x="1188" y="1036"/>
                <a:chExt cx="622" cy="518"/>
              </a:xfrm>
            </p:grpSpPr>
            <p:sp>
              <p:nvSpPr>
                <p:cNvPr id="13367" name="Rectangle 36">
                  <a:extLst>
                    <a:ext uri="{FF2B5EF4-FFF2-40B4-BE49-F238E27FC236}">
                      <a16:creationId xmlns:a16="http://schemas.microsoft.com/office/drawing/2014/main" id="{CC824FC6-14D9-2B42-A885-76B3FA4219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6" y="1036"/>
                  <a:ext cx="56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it-IT" sz="1800">
                      <a:latin typeface="Times New Roman" panose="02020603050405020304" pitchFamily="18" charset="0"/>
                    </a:rPr>
                    <a:t> J-H</a:t>
                  </a:r>
                  <a:endParaRPr lang="en-US" altLang="it-IT" sz="180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 sz="18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68" name="Rectangle 37">
                  <a:extLst>
                    <a:ext uri="{FF2B5EF4-FFF2-40B4-BE49-F238E27FC236}">
                      <a16:creationId xmlns:a16="http://schemas.microsoft.com/office/drawing/2014/main" id="{EAC3565A-7DEE-8A49-B604-EA749A6146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8" y="1036"/>
                  <a:ext cx="62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28" name="Group 38">
                <a:extLst>
                  <a:ext uri="{FF2B5EF4-FFF2-40B4-BE49-F238E27FC236}">
                    <a16:creationId xmlns:a16="http://schemas.microsoft.com/office/drawing/2014/main" id="{1E9424B1-D0BB-6346-9B0C-BA04ADA1D5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10" y="1036"/>
                <a:ext cx="566" cy="518"/>
                <a:chOff x="1810" y="1036"/>
                <a:chExt cx="566" cy="518"/>
              </a:xfrm>
            </p:grpSpPr>
            <p:sp>
              <p:nvSpPr>
                <p:cNvPr id="13365" name="Rectangle 39">
                  <a:extLst>
                    <a:ext uri="{FF2B5EF4-FFF2-40B4-BE49-F238E27FC236}">
                      <a16:creationId xmlns:a16="http://schemas.microsoft.com/office/drawing/2014/main" id="{CB1D1AC1-686F-3B43-AC4E-565BEB5BB8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38" y="1036"/>
                  <a:ext cx="510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it-IT" sz="1800">
                      <a:latin typeface="Times New Roman" panose="02020603050405020304" pitchFamily="18" charset="0"/>
                    </a:rPr>
                    <a:t>+0.310 </a:t>
                  </a:r>
                  <a:endParaRPr lang="en-US" altLang="it-IT" sz="180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66" name="Rectangle 40">
                  <a:extLst>
                    <a:ext uri="{FF2B5EF4-FFF2-40B4-BE49-F238E27FC236}">
                      <a16:creationId xmlns:a16="http://schemas.microsoft.com/office/drawing/2014/main" id="{40AD1B9F-6F3C-2849-9C71-FA5094E801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0" y="1036"/>
                  <a:ext cx="56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29" name="Group 41">
                <a:extLst>
                  <a:ext uri="{FF2B5EF4-FFF2-40B4-BE49-F238E27FC236}">
                    <a16:creationId xmlns:a16="http://schemas.microsoft.com/office/drawing/2014/main" id="{07EF2D2F-33BA-2246-A384-8E8DDDE2C8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554"/>
                <a:ext cx="622" cy="518"/>
                <a:chOff x="0" y="1554"/>
                <a:chExt cx="622" cy="518"/>
              </a:xfrm>
            </p:grpSpPr>
            <p:sp>
              <p:nvSpPr>
                <p:cNvPr id="13363" name="Rectangle 42">
                  <a:extLst>
                    <a:ext uri="{FF2B5EF4-FFF2-40B4-BE49-F238E27FC236}">
                      <a16:creationId xmlns:a16="http://schemas.microsoft.com/office/drawing/2014/main" id="{7ADDE452-9AFA-414D-9B32-5A8211A961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1554"/>
                  <a:ext cx="56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it-IT" sz="1800">
                      <a:latin typeface="Times New Roman" panose="02020603050405020304" pitchFamily="18" charset="0"/>
                    </a:rPr>
                    <a:t>V-R</a:t>
                  </a:r>
                  <a:endParaRPr lang="en-US" altLang="it-IT" sz="180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 sz="18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64" name="Rectangle 43">
                  <a:extLst>
                    <a:ext uri="{FF2B5EF4-FFF2-40B4-BE49-F238E27FC236}">
                      <a16:creationId xmlns:a16="http://schemas.microsoft.com/office/drawing/2014/main" id="{CB949747-93F4-E24D-B2F9-2742FA054D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554"/>
                  <a:ext cx="62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30" name="Group 44">
                <a:extLst>
                  <a:ext uri="{FF2B5EF4-FFF2-40B4-BE49-F238E27FC236}">
                    <a16:creationId xmlns:a16="http://schemas.microsoft.com/office/drawing/2014/main" id="{7B5B0D70-4001-2D4B-A827-C285259229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2" y="1554"/>
                <a:ext cx="566" cy="518"/>
                <a:chOff x="622" y="1554"/>
                <a:chExt cx="566" cy="518"/>
              </a:xfrm>
            </p:grpSpPr>
            <p:sp>
              <p:nvSpPr>
                <p:cNvPr id="13361" name="Rectangle 45">
                  <a:extLst>
                    <a:ext uri="{FF2B5EF4-FFF2-40B4-BE49-F238E27FC236}">
                      <a16:creationId xmlns:a16="http://schemas.microsoft.com/office/drawing/2014/main" id="{4FED6CE1-56C5-F24C-9510-92BE5B9073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0" y="1554"/>
                  <a:ext cx="510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it-IT" sz="1800">
                      <a:latin typeface="Times New Roman" panose="02020603050405020304" pitchFamily="18" charset="0"/>
                    </a:rPr>
                    <a:t>+0.540</a:t>
                  </a:r>
                  <a:endParaRPr lang="en-US" altLang="it-IT" sz="180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 sz="18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62" name="Rectangle 46">
                  <a:extLst>
                    <a:ext uri="{FF2B5EF4-FFF2-40B4-BE49-F238E27FC236}">
                      <a16:creationId xmlns:a16="http://schemas.microsoft.com/office/drawing/2014/main" id="{DDC99667-D38B-E240-BF6F-7BCE1EC833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2" y="1554"/>
                  <a:ext cx="56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31" name="Group 47">
                <a:extLst>
                  <a:ext uri="{FF2B5EF4-FFF2-40B4-BE49-F238E27FC236}">
                    <a16:creationId xmlns:a16="http://schemas.microsoft.com/office/drawing/2014/main" id="{80039336-C331-B448-8038-C874275017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88" y="1554"/>
                <a:ext cx="622" cy="518"/>
                <a:chOff x="1188" y="1554"/>
                <a:chExt cx="622" cy="518"/>
              </a:xfrm>
            </p:grpSpPr>
            <p:sp>
              <p:nvSpPr>
                <p:cNvPr id="13359" name="Rectangle 48">
                  <a:extLst>
                    <a:ext uri="{FF2B5EF4-FFF2-40B4-BE49-F238E27FC236}">
                      <a16:creationId xmlns:a16="http://schemas.microsoft.com/office/drawing/2014/main" id="{97947818-B063-E340-87D4-FFB5547491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6" y="1554"/>
                  <a:ext cx="56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it-IT" sz="1200">
                      <a:latin typeface="Times New Roman" panose="02020603050405020304" pitchFamily="18" charset="0"/>
                    </a:rPr>
                    <a:t> </a:t>
                  </a:r>
                  <a:r>
                    <a:rPr lang="de-DE" altLang="it-IT" sz="1800">
                      <a:latin typeface="Times New Roman" panose="02020603050405020304" pitchFamily="18" charset="0"/>
                    </a:rPr>
                    <a:t>H-K</a:t>
                  </a:r>
                  <a:endParaRPr lang="en-US" altLang="it-IT" sz="180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 sz="18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60" name="Rectangle 49">
                  <a:extLst>
                    <a:ext uri="{FF2B5EF4-FFF2-40B4-BE49-F238E27FC236}">
                      <a16:creationId xmlns:a16="http://schemas.microsoft.com/office/drawing/2014/main" id="{406C7F2C-FFA3-394E-8BA1-6260141B4C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8" y="1554"/>
                  <a:ext cx="62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32" name="Group 50">
                <a:extLst>
                  <a:ext uri="{FF2B5EF4-FFF2-40B4-BE49-F238E27FC236}">
                    <a16:creationId xmlns:a16="http://schemas.microsoft.com/office/drawing/2014/main" id="{BDDD5A84-90DB-584B-9716-B7596D8D67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10" y="1554"/>
                <a:ext cx="566" cy="518"/>
                <a:chOff x="1810" y="1554"/>
                <a:chExt cx="566" cy="518"/>
              </a:xfrm>
            </p:grpSpPr>
            <p:sp>
              <p:nvSpPr>
                <p:cNvPr id="13357" name="Rectangle 51">
                  <a:extLst>
                    <a:ext uri="{FF2B5EF4-FFF2-40B4-BE49-F238E27FC236}">
                      <a16:creationId xmlns:a16="http://schemas.microsoft.com/office/drawing/2014/main" id="{04DD7339-4E32-6A42-82F7-0544CAB027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38" y="1554"/>
                  <a:ext cx="510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it-IT" altLang="it-IT" sz="1800">
                      <a:latin typeface="Times New Roman" panose="02020603050405020304" pitchFamily="18" charset="0"/>
                    </a:rPr>
                    <a:t>+0.060 </a:t>
                  </a:r>
                  <a:endParaRPr lang="en-US" altLang="it-IT" sz="180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58" name="Rectangle 52">
                  <a:extLst>
                    <a:ext uri="{FF2B5EF4-FFF2-40B4-BE49-F238E27FC236}">
                      <a16:creationId xmlns:a16="http://schemas.microsoft.com/office/drawing/2014/main" id="{3BF385C1-CBE3-F348-946F-5B5871A6C2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0" y="1554"/>
                  <a:ext cx="56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33" name="Group 53">
                <a:extLst>
                  <a:ext uri="{FF2B5EF4-FFF2-40B4-BE49-F238E27FC236}">
                    <a16:creationId xmlns:a16="http://schemas.microsoft.com/office/drawing/2014/main" id="{9EF4CA4D-77FA-7F45-A110-7FC1C9BDBE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072"/>
                <a:ext cx="622" cy="518"/>
                <a:chOff x="0" y="2072"/>
                <a:chExt cx="622" cy="518"/>
              </a:xfrm>
            </p:grpSpPr>
            <p:sp>
              <p:nvSpPr>
                <p:cNvPr id="13355" name="Rectangle 54">
                  <a:extLst>
                    <a:ext uri="{FF2B5EF4-FFF2-40B4-BE49-F238E27FC236}">
                      <a16:creationId xmlns:a16="http://schemas.microsoft.com/office/drawing/2014/main" id="{D9615BE5-AF90-D640-A185-B8D2F68431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2072"/>
                  <a:ext cx="56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it-IT" altLang="it-IT" sz="1800">
                      <a:latin typeface="Times New Roman" panose="02020603050405020304" pitchFamily="18" charset="0"/>
                    </a:rPr>
                    <a:t>R-I</a:t>
                  </a:r>
                  <a:endParaRPr lang="en-US" altLang="it-IT" sz="180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56" name="Rectangle 55">
                  <a:extLst>
                    <a:ext uri="{FF2B5EF4-FFF2-40B4-BE49-F238E27FC236}">
                      <a16:creationId xmlns:a16="http://schemas.microsoft.com/office/drawing/2014/main" id="{CD01AEF9-9AD1-6A48-A769-36EEABC7E9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072"/>
                  <a:ext cx="62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34" name="Group 56">
                <a:extLst>
                  <a:ext uri="{FF2B5EF4-FFF2-40B4-BE49-F238E27FC236}">
                    <a16:creationId xmlns:a16="http://schemas.microsoft.com/office/drawing/2014/main" id="{8774E352-74C2-4E45-A79B-40E5208463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2" y="2072"/>
                <a:ext cx="566" cy="518"/>
                <a:chOff x="622" y="2072"/>
                <a:chExt cx="566" cy="518"/>
              </a:xfrm>
            </p:grpSpPr>
            <p:sp>
              <p:nvSpPr>
                <p:cNvPr id="13353" name="Rectangle 57">
                  <a:extLst>
                    <a:ext uri="{FF2B5EF4-FFF2-40B4-BE49-F238E27FC236}">
                      <a16:creationId xmlns:a16="http://schemas.microsoft.com/office/drawing/2014/main" id="{7ADF53CA-048A-8247-BE79-166BA4C810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0" y="2072"/>
                  <a:ext cx="510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it-IT" altLang="it-IT" sz="1800">
                      <a:latin typeface="Times New Roman" panose="02020603050405020304" pitchFamily="18" charset="0"/>
                    </a:rPr>
                    <a:t>+0.340</a:t>
                  </a:r>
                  <a:endParaRPr lang="en-US" altLang="it-IT" sz="180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 sz="18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54" name="Rectangle 58">
                  <a:extLst>
                    <a:ext uri="{FF2B5EF4-FFF2-40B4-BE49-F238E27FC236}">
                      <a16:creationId xmlns:a16="http://schemas.microsoft.com/office/drawing/2014/main" id="{8049CC03-FC3C-6344-A717-B6BFC9AF57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2" y="2072"/>
                  <a:ext cx="56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35" name="Group 59">
                <a:extLst>
                  <a:ext uri="{FF2B5EF4-FFF2-40B4-BE49-F238E27FC236}">
                    <a16:creationId xmlns:a16="http://schemas.microsoft.com/office/drawing/2014/main" id="{C63DAC58-8904-B246-A6AB-E44F5AAAAB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88" y="2072"/>
                <a:ext cx="622" cy="518"/>
                <a:chOff x="1188" y="2072"/>
                <a:chExt cx="622" cy="518"/>
              </a:xfrm>
            </p:grpSpPr>
            <p:sp>
              <p:nvSpPr>
                <p:cNvPr id="13351" name="Rectangle 60">
                  <a:extLst>
                    <a:ext uri="{FF2B5EF4-FFF2-40B4-BE49-F238E27FC236}">
                      <a16:creationId xmlns:a16="http://schemas.microsoft.com/office/drawing/2014/main" id="{B0912F34-6D04-9E40-A7B6-7FB983F6F6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6" y="2072"/>
                  <a:ext cx="56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it-IT" altLang="it-IT" sz="1800">
                      <a:latin typeface="Times New Roman" panose="02020603050405020304" pitchFamily="18" charset="0"/>
                    </a:rPr>
                    <a:t>K-L</a:t>
                  </a:r>
                  <a:endParaRPr lang="en-US" altLang="it-IT" sz="180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 sz="18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52" name="Rectangle 61">
                  <a:extLst>
                    <a:ext uri="{FF2B5EF4-FFF2-40B4-BE49-F238E27FC236}">
                      <a16:creationId xmlns:a16="http://schemas.microsoft.com/office/drawing/2014/main" id="{92E4E75F-4A76-9241-982A-2E1A175FE0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8" y="2072"/>
                  <a:ext cx="62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36" name="Group 62">
                <a:extLst>
                  <a:ext uri="{FF2B5EF4-FFF2-40B4-BE49-F238E27FC236}">
                    <a16:creationId xmlns:a16="http://schemas.microsoft.com/office/drawing/2014/main" id="{CC09898D-9C2D-2A44-8746-CA2B6936AB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10" y="2072"/>
                <a:ext cx="566" cy="518"/>
                <a:chOff x="1810" y="2072"/>
                <a:chExt cx="566" cy="518"/>
              </a:xfrm>
            </p:grpSpPr>
            <p:sp>
              <p:nvSpPr>
                <p:cNvPr id="13349" name="Rectangle 63">
                  <a:extLst>
                    <a:ext uri="{FF2B5EF4-FFF2-40B4-BE49-F238E27FC236}">
                      <a16:creationId xmlns:a16="http://schemas.microsoft.com/office/drawing/2014/main" id="{A73A0E5D-B619-394F-882F-7A9F0463F4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38" y="2072"/>
                  <a:ext cx="510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it-IT" sz="1800">
                      <a:latin typeface="Times New Roman" panose="02020603050405020304" pitchFamily="18" charset="0"/>
                    </a:rPr>
                    <a:t>+0.034</a:t>
                  </a:r>
                  <a:endParaRPr lang="en-US" altLang="it-IT" sz="180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50" name="Rectangle 64">
                  <a:extLst>
                    <a:ext uri="{FF2B5EF4-FFF2-40B4-BE49-F238E27FC236}">
                      <a16:creationId xmlns:a16="http://schemas.microsoft.com/office/drawing/2014/main" id="{ACAC8F6E-EC06-124E-A354-5F9F3C3D5A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0" y="2072"/>
                  <a:ext cx="56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37" name="Group 65">
                <a:extLst>
                  <a:ext uri="{FF2B5EF4-FFF2-40B4-BE49-F238E27FC236}">
                    <a16:creationId xmlns:a16="http://schemas.microsoft.com/office/drawing/2014/main" id="{E8A6B461-F36D-DB42-9770-72BC6690AA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590"/>
                <a:ext cx="622" cy="518"/>
                <a:chOff x="0" y="2590"/>
                <a:chExt cx="622" cy="518"/>
              </a:xfrm>
            </p:grpSpPr>
            <p:sp>
              <p:nvSpPr>
                <p:cNvPr id="13347" name="Rectangle 66">
                  <a:extLst>
                    <a:ext uri="{FF2B5EF4-FFF2-40B4-BE49-F238E27FC236}">
                      <a16:creationId xmlns:a16="http://schemas.microsoft.com/office/drawing/2014/main" id="{DADCB7A5-F443-5344-B4A5-DB84323D0E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2590"/>
                  <a:ext cx="56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it-IT" sz="1800">
                      <a:latin typeface="Times New Roman" panose="02020603050405020304" pitchFamily="18" charset="0"/>
                    </a:rPr>
                    <a:t>V-K</a:t>
                  </a:r>
                  <a:endParaRPr lang="en-US" altLang="it-IT" sz="180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48" name="Rectangle 67">
                  <a:extLst>
                    <a:ext uri="{FF2B5EF4-FFF2-40B4-BE49-F238E27FC236}">
                      <a16:creationId xmlns:a16="http://schemas.microsoft.com/office/drawing/2014/main" id="{E52DB994-D835-B148-BEA3-8290766C36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590"/>
                  <a:ext cx="62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38" name="Group 68">
                <a:extLst>
                  <a:ext uri="{FF2B5EF4-FFF2-40B4-BE49-F238E27FC236}">
                    <a16:creationId xmlns:a16="http://schemas.microsoft.com/office/drawing/2014/main" id="{5BFD1349-F72F-774A-9984-CA2A6AD1E3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2" y="2590"/>
                <a:ext cx="566" cy="518"/>
                <a:chOff x="622" y="2590"/>
                <a:chExt cx="566" cy="518"/>
              </a:xfrm>
            </p:grpSpPr>
            <p:sp>
              <p:nvSpPr>
                <p:cNvPr id="13345" name="Rectangle 69">
                  <a:extLst>
                    <a:ext uri="{FF2B5EF4-FFF2-40B4-BE49-F238E27FC236}">
                      <a16:creationId xmlns:a16="http://schemas.microsoft.com/office/drawing/2014/main" id="{86686C91-397A-4442-A858-966E2A3B91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0" y="2590"/>
                  <a:ext cx="510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it-IT" sz="1800">
                      <a:latin typeface="Times New Roman" panose="02020603050405020304" pitchFamily="18" charset="0"/>
                    </a:rPr>
                    <a:t>+1.486</a:t>
                  </a:r>
                  <a:endParaRPr lang="en-US" altLang="it-IT" sz="180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 sz="18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46" name="Rectangle 70">
                  <a:extLst>
                    <a:ext uri="{FF2B5EF4-FFF2-40B4-BE49-F238E27FC236}">
                      <a16:creationId xmlns:a16="http://schemas.microsoft.com/office/drawing/2014/main" id="{5FA69DF1-6B95-0942-AB44-5169D0B138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2" y="2590"/>
                  <a:ext cx="56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39" name="Group 71">
                <a:extLst>
                  <a:ext uri="{FF2B5EF4-FFF2-40B4-BE49-F238E27FC236}">
                    <a16:creationId xmlns:a16="http://schemas.microsoft.com/office/drawing/2014/main" id="{06FF8AD0-5B54-844D-962A-1802C67711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88" y="2590"/>
                <a:ext cx="622" cy="518"/>
                <a:chOff x="1188" y="2590"/>
                <a:chExt cx="622" cy="518"/>
              </a:xfrm>
            </p:grpSpPr>
            <p:sp>
              <p:nvSpPr>
                <p:cNvPr id="13343" name="Rectangle 72">
                  <a:extLst>
                    <a:ext uri="{FF2B5EF4-FFF2-40B4-BE49-F238E27FC236}">
                      <a16:creationId xmlns:a16="http://schemas.microsoft.com/office/drawing/2014/main" id="{1C129A02-2698-F54F-8D38-27A8736C75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6" y="2590"/>
                  <a:ext cx="566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de-DE" altLang="it-IT" sz="1800">
                      <a:latin typeface="Times New Roman" panose="02020603050405020304" pitchFamily="18" charset="0"/>
                    </a:rPr>
                    <a:t>L-M</a:t>
                  </a:r>
                  <a:endParaRPr lang="en-US" altLang="it-IT" sz="180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44" name="Rectangle 73">
                  <a:extLst>
                    <a:ext uri="{FF2B5EF4-FFF2-40B4-BE49-F238E27FC236}">
                      <a16:creationId xmlns:a16="http://schemas.microsoft.com/office/drawing/2014/main" id="{F8CAA16D-41CB-9840-83BB-A8597AE8D1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8" y="2590"/>
                  <a:ext cx="62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40" name="Group 74">
                <a:extLst>
                  <a:ext uri="{FF2B5EF4-FFF2-40B4-BE49-F238E27FC236}">
                    <a16:creationId xmlns:a16="http://schemas.microsoft.com/office/drawing/2014/main" id="{64E98918-F885-D44B-AF20-DE17242388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10" y="2590"/>
                <a:ext cx="566" cy="518"/>
                <a:chOff x="1810" y="2590"/>
                <a:chExt cx="566" cy="518"/>
              </a:xfrm>
            </p:grpSpPr>
            <p:sp>
              <p:nvSpPr>
                <p:cNvPr id="13341" name="Rectangle 75">
                  <a:extLst>
                    <a:ext uri="{FF2B5EF4-FFF2-40B4-BE49-F238E27FC236}">
                      <a16:creationId xmlns:a16="http://schemas.microsoft.com/office/drawing/2014/main" id="{81B3CD11-2C9B-3649-B91E-AAEAD29F8E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38" y="2590"/>
                  <a:ext cx="510" cy="5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it-IT" sz="1800">
                      <a:latin typeface="Times New Roman" panose="02020603050405020304" pitchFamily="18" charset="0"/>
                    </a:rPr>
                    <a:t>-0.053</a:t>
                  </a:r>
                </a:p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en-US" altLang="it-IT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3342" name="Rectangle 76">
                  <a:extLst>
                    <a:ext uri="{FF2B5EF4-FFF2-40B4-BE49-F238E27FC236}">
                      <a16:creationId xmlns:a16="http://schemas.microsoft.com/office/drawing/2014/main" id="{5E7EFD96-A1C4-0E4F-8221-BAC80EC609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0" y="2590"/>
                  <a:ext cx="56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rgbClr val="000000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it-IT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13316" name="Rectangle 77">
              <a:extLst>
                <a:ext uri="{FF2B5EF4-FFF2-40B4-BE49-F238E27FC236}">
                  <a16:creationId xmlns:a16="http://schemas.microsoft.com/office/drawing/2014/main" id="{A1A3F599-7D82-8F45-84A9-0E79A1088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2382" cy="3114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000000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it-IT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86D5A22A-8ED5-2140-A565-F0A3F59C10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La magnitudine assoluta</a:t>
            </a:r>
          </a:p>
        </p:txBody>
      </p:sp>
      <p:sp>
        <p:nvSpPr>
          <p:cNvPr id="18434" name="Text Box 3">
            <a:extLst>
              <a:ext uri="{FF2B5EF4-FFF2-40B4-BE49-F238E27FC236}">
                <a16:creationId xmlns:a16="http://schemas.microsoft.com/office/drawing/2014/main" id="{96D678D6-18EA-624A-B6FA-ECFD1106D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914400"/>
            <a:ext cx="855027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it-IT" altLang="it-IT" sz="2000" dirty="0">
                <a:solidFill>
                  <a:schemeClr val="tx1"/>
                </a:solidFill>
                <a:latin typeface="+mj-lt"/>
              </a:rPr>
              <a:t>Definiamo magnitudine assoluta </a:t>
            </a:r>
            <a:r>
              <a:rPr lang="it-IT" altLang="it-IT" sz="2000" i="1" dirty="0">
                <a:solidFill>
                  <a:schemeClr val="tx1"/>
                </a:solidFill>
                <a:latin typeface="+mj-lt"/>
              </a:rPr>
              <a:t>M</a:t>
            </a:r>
            <a:r>
              <a:rPr lang="it-IT" altLang="it-IT" sz="2000" dirty="0">
                <a:solidFill>
                  <a:schemeClr val="tx1"/>
                </a:solidFill>
                <a:latin typeface="+mj-lt"/>
              </a:rPr>
              <a:t> la </a:t>
            </a:r>
            <a:r>
              <a:rPr lang="it-IT" altLang="it-IT" sz="2000" dirty="0" err="1">
                <a:solidFill>
                  <a:schemeClr val="tx1"/>
                </a:solidFill>
                <a:latin typeface="+mj-lt"/>
              </a:rPr>
              <a:t>mag</a:t>
            </a:r>
            <a:r>
              <a:rPr lang="it-IT" altLang="it-IT" sz="2000" dirty="0">
                <a:solidFill>
                  <a:schemeClr val="tx1"/>
                </a:solidFill>
                <a:latin typeface="+mj-lt"/>
              </a:rPr>
              <a:t> apparente </a:t>
            </a:r>
            <a:r>
              <a:rPr lang="it-IT" altLang="it-IT" sz="2000" i="1" dirty="0">
                <a:solidFill>
                  <a:schemeClr val="tx1"/>
                </a:solidFill>
                <a:latin typeface="+mj-lt"/>
              </a:rPr>
              <a:t>m</a:t>
            </a:r>
            <a:r>
              <a:rPr lang="it-IT" altLang="it-IT" sz="2000" dirty="0">
                <a:solidFill>
                  <a:schemeClr val="tx1"/>
                </a:solidFill>
                <a:latin typeface="+mj-lt"/>
              </a:rPr>
              <a:t> che l'astro avrebbe se fosse posto a 10 pc di distanza da noi. Nell'ipotesi di spazio perfettamente trasparente, il flusso luminoso osservato </a:t>
            </a:r>
            <a:r>
              <a:rPr lang="it-IT" altLang="it-IT" sz="2000" i="1" dirty="0" err="1">
                <a:solidFill>
                  <a:schemeClr val="tx1"/>
                </a:solidFill>
                <a:latin typeface="+mj-lt"/>
              </a:rPr>
              <a:t>f</a:t>
            </a:r>
            <a:r>
              <a:rPr lang="it-IT" altLang="it-IT" sz="2000" dirty="0">
                <a:solidFill>
                  <a:schemeClr val="tx1"/>
                </a:solidFill>
                <a:latin typeface="+mj-lt"/>
              </a:rPr>
              <a:t>  scala con l'inverso del quadrato della distanza, per cui, se</a:t>
            </a:r>
            <a:r>
              <a:rPr lang="it-IT" altLang="it-IT" sz="2000" i="1" dirty="0">
                <a:solidFill>
                  <a:schemeClr val="tx1"/>
                </a:solidFill>
                <a:latin typeface="+mj-lt"/>
              </a:rPr>
              <a:t> </a:t>
            </a:r>
            <a:r>
              <a:rPr lang="it-IT" altLang="it-IT" sz="2000" i="1" dirty="0" err="1">
                <a:solidFill>
                  <a:schemeClr val="tx1"/>
                </a:solidFill>
                <a:latin typeface="+mj-lt"/>
              </a:rPr>
              <a:t>R</a:t>
            </a:r>
            <a:r>
              <a:rPr lang="it-IT" altLang="it-IT" sz="2000" dirty="0">
                <a:solidFill>
                  <a:schemeClr val="tx1"/>
                </a:solidFill>
                <a:latin typeface="+mj-lt"/>
              </a:rPr>
              <a:t> è il raggio dell'astro e </a:t>
            </a:r>
            <a:r>
              <a:rPr lang="it-IT" altLang="it-IT" sz="2000" i="1" dirty="0">
                <a:solidFill>
                  <a:schemeClr val="tx1"/>
                </a:solidFill>
                <a:latin typeface="+mj-lt"/>
              </a:rPr>
              <a:t>d</a:t>
            </a:r>
            <a:r>
              <a:rPr lang="it-IT" altLang="it-IT" sz="2000" dirty="0">
                <a:solidFill>
                  <a:schemeClr val="tx1"/>
                </a:solidFill>
                <a:latin typeface="+mj-lt"/>
              </a:rPr>
              <a:t> la sua distanza:</a:t>
            </a:r>
          </a:p>
        </p:txBody>
      </p:sp>
      <p:sp>
        <p:nvSpPr>
          <p:cNvPr id="18435" name="Text Box 5">
            <a:extLst>
              <a:ext uri="{FF2B5EF4-FFF2-40B4-BE49-F238E27FC236}">
                <a16:creationId xmlns:a16="http://schemas.microsoft.com/office/drawing/2014/main" id="{51035B0B-10BE-314C-B0EA-64B71EBD5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0" y="3359150"/>
            <a:ext cx="8610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it-IT" altLang="it-IT" sz="2000" dirty="0">
                <a:solidFill>
                  <a:schemeClr val="tx1"/>
                </a:solidFill>
                <a:latin typeface="+mn-lt"/>
              </a:rPr>
              <a:t>in cui la quantità 4</a:t>
            </a:r>
            <a:r>
              <a:rPr lang="it-IT" altLang="it-IT" sz="2000" i="1" dirty="0">
                <a:solidFill>
                  <a:schemeClr val="tx1"/>
                </a:solidFill>
                <a:latin typeface="+mn-lt"/>
                <a:sym typeface="Symbol" pitchFamily="2" charset="2"/>
              </a:rPr>
              <a:t>R</a:t>
            </a:r>
            <a:r>
              <a:rPr lang="it-IT" altLang="it-IT" sz="2000" baseline="30000" dirty="0">
                <a:solidFill>
                  <a:schemeClr val="tx1"/>
                </a:solidFill>
                <a:latin typeface="+mn-lt"/>
                <a:sym typeface="Symbol" pitchFamily="2" charset="2"/>
              </a:rPr>
              <a:t>2</a:t>
            </a:r>
            <a:r>
              <a:rPr lang="it-IT" altLang="it-IT" sz="2000" i="1" dirty="0">
                <a:solidFill>
                  <a:schemeClr val="tx1"/>
                </a:solidFill>
                <a:latin typeface="+mn-lt"/>
                <a:sym typeface="Symbol" pitchFamily="2" charset="2"/>
              </a:rPr>
              <a:t>F</a:t>
            </a:r>
            <a:r>
              <a:rPr lang="it-IT" altLang="it-IT" sz="2000" dirty="0">
                <a:solidFill>
                  <a:schemeClr val="tx1"/>
                </a:solidFill>
                <a:latin typeface="+mn-lt"/>
                <a:sym typeface="Symbol" pitchFamily="2" charset="2"/>
              </a:rPr>
              <a:t>(</a:t>
            </a:r>
            <a:r>
              <a:rPr lang="it-IT" altLang="it-IT" sz="2000" i="1" dirty="0">
                <a:solidFill>
                  <a:schemeClr val="tx1"/>
                </a:solidFill>
                <a:latin typeface="+mn-lt"/>
                <a:sym typeface="Symbol" pitchFamily="2" charset="2"/>
              </a:rPr>
              <a:t></a:t>
            </a:r>
            <a:r>
              <a:rPr lang="it-IT" altLang="it-IT" sz="2000" dirty="0">
                <a:solidFill>
                  <a:schemeClr val="tx1"/>
                </a:solidFill>
                <a:latin typeface="+mn-lt"/>
                <a:sym typeface="Symbol" pitchFamily="2" charset="2"/>
              </a:rPr>
              <a:t>) è la luminosità dell'astro </a:t>
            </a:r>
            <a:r>
              <a:rPr lang="it-IT" altLang="it-IT" sz="2000" i="1" dirty="0">
                <a:solidFill>
                  <a:schemeClr val="tx1"/>
                </a:solidFill>
                <a:latin typeface="+mn-lt"/>
                <a:sym typeface="Symbol" pitchFamily="2" charset="2"/>
              </a:rPr>
              <a:t>L</a:t>
            </a:r>
            <a:r>
              <a:rPr lang="it-IT" altLang="it-IT" sz="2000" dirty="0">
                <a:solidFill>
                  <a:schemeClr val="tx1"/>
                </a:solidFill>
                <a:latin typeface="+mn-lt"/>
                <a:sym typeface="Symbol" pitchFamily="2" charset="2"/>
              </a:rPr>
              <a:t>(</a:t>
            </a:r>
            <a:r>
              <a:rPr lang="it-IT" altLang="it-IT" sz="2000" i="1" dirty="0">
                <a:solidFill>
                  <a:schemeClr val="tx1"/>
                </a:solidFill>
                <a:latin typeface="+mn-lt"/>
                <a:sym typeface="Symbol" pitchFamily="2" charset="2"/>
              </a:rPr>
              <a:t></a:t>
            </a:r>
            <a:r>
              <a:rPr lang="it-IT" altLang="it-IT" sz="2000" dirty="0">
                <a:solidFill>
                  <a:schemeClr val="tx1"/>
                </a:solidFill>
                <a:latin typeface="+mn-lt"/>
                <a:sym typeface="Symbol" pitchFamily="2" charset="2"/>
              </a:rPr>
              <a:t>) a quella lunghezza d'onda. </a:t>
            </a:r>
            <a:r>
              <a:rPr lang="it-IT" altLang="it-IT" sz="2000" dirty="0">
                <a:solidFill>
                  <a:schemeClr val="tx1"/>
                </a:solidFill>
                <a:latin typeface="+mn-lt"/>
              </a:rPr>
              <a:t>Tenendo conto della legge di </a:t>
            </a:r>
            <a:r>
              <a:rPr lang="it-IT" altLang="it-IT" sz="2000" dirty="0" err="1">
                <a:solidFill>
                  <a:schemeClr val="tx1"/>
                </a:solidFill>
                <a:latin typeface="+mn-lt"/>
              </a:rPr>
              <a:t>Pogson</a:t>
            </a:r>
            <a:r>
              <a:rPr lang="it-IT" altLang="it-IT" sz="2000" dirty="0">
                <a:solidFill>
                  <a:schemeClr val="tx1"/>
                </a:solidFill>
                <a:latin typeface="+mn-lt"/>
              </a:rPr>
              <a:t> e esprimendo </a:t>
            </a:r>
            <a:r>
              <a:rPr lang="it-IT" altLang="it-IT" sz="2000" i="1" dirty="0">
                <a:solidFill>
                  <a:schemeClr val="tx1"/>
                </a:solidFill>
                <a:latin typeface="+mn-lt"/>
              </a:rPr>
              <a:t>d</a:t>
            </a:r>
            <a:r>
              <a:rPr lang="it-IT" altLang="it-IT" sz="2000" dirty="0">
                <a:solidFill>
                  <a:schemeClr val="tx1"/>
                </a:solidFill>
                <a:latin typeface="+mn-lt"/>
              </a:rPr>
              <a:t> in parsec:</a:t>
            </a:r>
          </a:p>
        </p:txBody>
      </p:sp>
      <p:sp>
        <p:nvSpPr>
          <p:cNvPr id="18436" name="Text Box 7">
            <a:extLst>
              <a:ext uri="{FF2B5EF4-FFF2-40B4-BE49-F238E27FC236}">
                <a16:creationId xmlns:a16="http://schemas.microsoft.com/office/drawing/2014/main" id="{EC677975-9989-5A4A-8260-F52C9104C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063" y="5105400"/>
            <a:ext cx="83978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it-IT" altLang="it-IT" sz="2000" dirty="0">
                <a:solidFill>
                  <a:schemeClr val="tx1"/>
                </a:solidFill>
                <a:latin typeface="+mn-lt"/>
              </a:rPr>
              <a:t>La conoscenza di M implica quella di </a:t>
            </a:r>
            <a:r>
              <a:rPr lang="it-IT" altLang="it-IT" sz="2000" i="1" dirty="0">
                <a:solidFill>
                  <a:schemeClr val="tx1"/>
                </a:solidFill>
                <a:latin typeface="+mn-lt"/>
              </a:rPr>
              <a:t>d</a:t>
            </a:r>
            <a:r>
              <a:rPr lang="it-IT" altLang="it-IT" sz="2000" dirty="0">
                <a:solidFill>
                  <a:schemeClr val="tx1"/>
                </a:solidFill>
                <a:latin typeface="+mn-lt"/>
              </a:rPr>
              <a:t>, sia direttamente con le parallassi trigonometriche (ad es. Satelliti </a:t>
            </a:r>
            <a:r>
              <a:rPr lang="it-IT" altLang="it-IT" sz="2000" dirty="0" err="1">
                <a:solidFill>
                  <a:schemeClr val="tx1"/>
                </a:solidFill>
                <a:latin typeface="+mn-lt"/>
              </a:rPr>
              <a:t>Hipparcos</a:t>
            </a:r>
            <a:r>
              <a:rPr lang="it-IT" altLang="it-IT" sz="2000" dirty="0">
                <a:solidFill>
                  <a:schemeClr val="tx1"/>
                </a:solidFill>
                <a:latin typeface="+mn-lt"/>
              </a:rPr>
              <a:t> e Gaia) che mediante opportuni altri indicatori di distanza.</a:t>
            </a:r>
          </a:p>
        </p:txBody>
      </p:sp>
      <p:graphicFrame>
        <p:nvGraphicFramePr>
          <p:cNvPr id="16389" name="Object 2">
            <a:extLst>
              <a:ext uri="{FF2B5EF4-FFF2-40B4-BE49-F238E27FC236}">
                <a16:creationId xmlns:a16="http://schemas.microsoft.com/office/drawing/2014/main" id="{FB4099D3-2472-FC45-93DE-80C1550A7E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2606675"/>
          <a:ext cx="16510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9800" imgH="393700" progId="Equation.3">
                  <p:embed/>
                </p:oleObj>
              </mc:Choice>
              <mc:Fallback>
                <p:oleObj name="Equation" r:id="rId2" imgW="939800" imgH="393700" progId="Equation.3">
                  <p:embed/>
                  <p:pic>
                    <p:nvPicPr>
                      <p:cNvPr id="16389" name="Object 2">
                        <a:extLst>
                          <a:ext uri="{FF2B5EF4-FFF2-40B4-BE49-F238E27FC236}">
                            <a16:creationId xmlns:a16="http://schemas.microsoft.com/office/drawing/2014/main" id="{FB4099D3-2472-FC45-93DE-80C1550A7E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2606675"/>
                        <a:ext cx="165100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3">
            <a:extLst>
              <a:ext uri="{FF2B5EF4-FFF2-40B4-BE49-F238E27FC236}">
                <a16:creationId xmlns:a16="http://schemas.microsoft.com/office/drawing/2014/main" id="{63E33095-F37A-DD4F-AF9B-BBAFFCE500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1550" y="4476750"/>
          <a:ext cx="2252663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500" imgH="368300" progId="Equation.3">
                  <p:embed/>
                </p:oleObj>
              </mc:Choice>
              <mc:Fallback>
                <p:oleObj name="Equation" r:id="rId4" imgW="1333500" imgH="368300" progId="Equation.3">
                  <p:embed/>
                  <p:pic>
                    <p:nvPicPr>
                      <p:cNvPr id="16390" name="Object 3">
                        <a:extLst>
                          <a:ext uri="{FF2B5EF4-FFF2-40B4-BE49-F238E27FC236}">
                            <a16:creationId xmlns:a16="http://schemas.microsoft.com/office/drawing/2014/main" id="{63E33095-F37A-DD4F-AF9B-BBAFFCE500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1550" y="4476750"/>
                        <a:ext cx="2252663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D31F4377-FE87-954C-99F7-EBB78F7E7AB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95263"/>
            <a:ext cx="8229600" cy="885825"/>
          </a:xfrm>
        </p:spPr>
        <p:txBody>
          <a:bodyPr/>
          <a:lstStyle/>
          <a:p>
            <a:pPr eaLnBrk="1" hangingPunct="1"/>
            <a:r>
              <a:rPr lang="en-US" altLang="it-IT" sz="1600">
                <a:ea typeface="ＭＳ Ｐゴシック" panose="020B0600070205080204" pitchFamily="34" charset="-128"/>
              </a:rPr>
              <a:t>La Misura delle distanze: Parallasse trigonometrica</a:t>
            </a:r>
            <a:endParaRPr lang="it-IT" altLang="it-IT" sz="1600">
              <a:ea typeface="ＭＳ Ｐゴシック" panose="020B0600070205080204" pitchFamily="34" charset="-128"/>
            </a:endParaRPr>
          </a:p>
        </p:txBody>
      </p:sp>
      <p:pic>
        <p:nvPicPr>
          <p:cNvPr id="14338" name="Picture 3" descr="D:\ART\FDNIII\FIII-01.JPG">
            <a:extLst>
              <a:ext uri="{FF2B5EF4-FFF2-40B4-BE49-F238E27FC236}">
                <a16:creationId xmlns:a16="http://schemas.microsoft.com/office/drawing/2014/main" id="{285D0A5A-A80A-3348-8D62-AD2047350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1173163"/>
            <a:ext cx="8470900" cy="544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ext Box 4">
            <a:extLst>
              <a:ext uri="{FF2B5EF4-FFF2-40B4-BE49-F238E27FC236}">
                <a16:creationId xmlns:a16="http://schemas.microsoft.com/office/drawing/2014/main" id="{3A81F35C-F267-444F-AB62-DBF4EE89F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4713" y="3219450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t-IT" altLang="it-IT" sz="1800">
                <a:solidFill>
                  <a:srgbClr val="FFFF00"/>
                </a:solidFill>
                <a:sym typeface="Wingdings 2" pitchFamily="2" charset="2"/>
              </a:rPr>
              <a:t></a:t>
            </a:r>
            <a:endParaRPr lang="it-IT" altLang="it-IT" sz="1800">
              <a:solidFill>
                <a:srgbClr val="FFFF00"/>
              </a:solidFill>
            </a:endParaRPr>
          </a:p>
        </p:txBody>
      </p:sp>
      <p:sp>
        <p:nvSpPr>
          <p:cNvPr id="14340" name="Text Box 5">
            <a:extLst>
              <a:ext uri="{FF2B5EF4-FFF2-40B4-BE49-F238E27FC236}">
                <a16:creationId xmlns:a16="http://schemas.microsoft.com/office/drawing/2014/main" id="{0932B8D3-82E3-2843-8F26-D3ED770DE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8913" y="1530350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t-IT" altLang="it-IT" sz="1800">
                <a:solidFill>
                  <a:srgbClr val="FFFF00"/>
                </a:solidFill>
                <a:sym typeface="Wingdings 2" pitchFamily="2" charset="2"/>
              </a:rPr>
              <a:t></a:t>
            </a:r>
            <a:endParaRPr lang="it-IT" altLang="it-IT" sz="1800">
              <a:solidFill>
                <a:srgbClr val="FFFF00"/>
              </a:solidFill>
            </a:endParaRPr>
          </a:p>
        </p:txBody>
      </p:sp>
      <p:sp>
        <p:nvSpPr>
          <p:cNvPr id="14341" name="Text Box 6">
            <a:extLst>
              <a:ext uri="{FF2B5EF4-FFF2-40B4-BE49-F238E27FC236}">
                <a16:creationId xmlns:a16="http://schemas.microsoft.com/office/drawing/2014/main" id="{4F588751-0C67-5F4D-B2A3-EDD1DE2BA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9713" y="1543050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t-IT" altLang="it-IT" sz="1800">
                <a:solidFill>
                  <a:srgbClr val="FFFF00"/>
                </a:solidFill>
                <a:sym typeface="Wingdings 2" pitchFamily="2" charset="2"/>
              </a:rPr>
              <a:t></a:t>
            </a:r>
            <a:endParaRPr lang="it-IT" altLang="it-IT" sz="1800">
              <a:solidFill>
                <a:srgbClr val="FFFF00"/>
              </a:solidFill>
            </a:endParaRPr>
          </a:p>
        </p:txBody>
      </p:sp>
      <p:sp>
        <p:nvSpPr>
          <p:cNvPr id="14342" name="Text Box 7">
            <a:extLst>
              <a:ext uri="{FF2B5EF4-FFF2-40B4-BE49-F238E27FC236}">
                <a16:creationId xmlns:a16="http://schemas.microsoft.com/office/drawing/2014/main" id="{3EBCE87D-97E1-214E-A45C-75ECF5A6A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4013" y="1514475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t-IT" altLang="it-IT" sz="1800">
                <a:solidFill>
                  <a:srgbClr val="FF0000"/>
                </a:solidFill>
                <a:sym typeface="Wingdings 2" pitchFamily="2" charset="2"/>
              </a:rPr>
              <a:t></a:t>
            </a:r>
            <a:endParaRPr lang="it-IT" altLang="it-IT" sz="1800">
              <a:solidFill>
                <a:srgbClr val="FF0000"/>
              </a:solidFill>
            </a:endParaRPr>
          </a:p>
        </p:txBody>
      </p:sp>
      <p:sp>
        <p:nvSpPr>
          <p:cNvPr id="14343" name="Text Box 8">
            <a:extLst>
              <a:ext uri="{FF2B5EF4-FFF2-40B4-BE49-F238E27FC236}">
                <a16:creationId xmlns:a16="http://schemas.microsoft.com/office/drawing/2014/main" id="{4F0FE63C-8AF8-C54B-BBD4-FD0C1A159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6813" y="1492250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t-IT" altLang="it-IT" sz="1800">
                <a:solidFill>
                  <a:srgbClr val="FF0000"/>
                </a:solidFill>
                <a:sym typeface="Wingdings 2" pitchFamily="2" charset="2"/>
              </a:rPr>
              <a:t></a:t>
            </a:r>
            <a:endParaRPr lang="it-IT" altLang="it-IT" sz="1800">
              <a:solidFill>
                <a:srgbClr val="FF0000"/>
              </a:solidFill>
            </a:endParaRPr>
          </a:p>
        </p:txBody>
      </p:sp>
      <p:sp>
        <p:nvSpPr>
          <p:cNvPr id="14344" name="Text Box 9">
            <a:extLst>
              <a:ext uri="{FF2B5EF4-FFF2-40B4-BE49-F238E27FC236}">
                <a16:creationId xmlns:a16="http://schemas.microsoft.com/office/drawing/2014/main" id="{6853FD35-D33C-6D40-AFA8-7BF0E0C37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6050" y="4438650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t-IT" altLang="it-IT" sz="1800">
                <a:solidFill>
                  <a:srgbClr val="FF0000"/>
                </a:solidFill>
                <a:sym typeface="Wingdings 2" pitchFamily="2" charset="2"/>
              </a:rPr>
              <a:t></a:t>
            </a:r>
            <a:endParaRPr lang="it-IT" altLang="it-IT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2">
            <a:extLst>
              <a:ext uri="{FF2B5EF4-FFF2-40B4-BE49-F238E27FC236}">
                <a16:creationId xmlns:a16="http://schemas.microsoft.com/office/drawing/2014/main" id="{21E0BAB6-FEB4-EE47-8A0F-2FEAEE3D0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30175"/>
            <a:ext cx="4691063" cy="501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anchor="ctr" anchorCtr="1"/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 typeface="Wingdings 2" pitchFamily="2" charset="2"/>
              <a:buNone/>
            </a:pPr>
            <a:r>
              <a:rPr lang="en-US" altLang="it-IT">
                <a:sym typeface="Symbol" pitchFamily="2" charset="2"/>
              </a:rPr>
              <a:t>R = D tg p</a:t>
            </a:r>
            <a:r>
              <a:rPr lang="it-IT" altLang="it-IT">
                <a:sym typeface="Symbol" pitchFamily="2" charset="2"/>
              </a:rPr>
              <a:t> </a:t>
            </a:r>
            <a:r>
              <a:rPr lang="en-US" altLang="it-IT">
                <a:sym typeface="Symbol" pitchFamily="2" charset="2"/>
              </a:rPr>
              <a:t> D p (rad) = D </a:t>
            </a:r>
            <a:r>
              <a:rPr lang="en-US" altLang="it-IT">
                <a:cs typeface="Arial" panose="020B0604020202020204" pitchFamily="34" charset="0"/>
                <a:sym typeface="Symbol" pitchFamily="2" charset="2"/>
              </a:rPr>
              <a:t>———</a:t>
            </a:r>
          </a:p>
          <a:p>
            <a:pPr eaLnBrk="1" hangingPunct="1">
              <a:spcBef>
                <a:spcPct val="50000"/>
              </a:spcBef>
              <a:buFont typeface="Wingdings 2" pitchFamily="2" charset="2"/>
              <a:buNone/>
            </a:pPr>
            <a:endParaRPr lang="en-US" altLang="it-IT">
              <a:cs typeface="Arial" panose="020B0604020202020204" pitchFamily="34" charset="0"/>
              <a:sym typeface="Symbol" pitchFamily="2" charset="2"/>
            </a:endParaRPr>
          </a:p>
          <a:p>
            <a:pPr eaLnBrk="1" hangingPunct="1">
              <a:spcBef>
                <a:spcPct val="50000"/>
              </a:spcBef>
              <a:buFont typeface="Wingdings 2" pitchFamily="2" charset="2"/>
              <a:buNone/>
            </a:pPr>
            <a:r>
              <a:rPr lang="en-US" altLang="it-IT">
                <a:cs typeface="Arial" panose="020B0604020202020204" pitchFamily="34" charset="0"/>
                <a:sym typeface="Symbol" pitchFamily="2" charset="2"/>
              </a:rPr>
              <a:t>R = 1 UA    D = ———— UA</a:t>
            </a:r>
          </a:p>
          <a:p>
            <a:pPr eaLnBrk="1" hangingPunct="1">
              <a:spcBef>
                <a:spcPct val="50000"/>
              </a:spcBef>
              <a:buFont typeface="Wingdings 2" pitchFamily="2" charset="2"/>
              <a:buNone/>
            </a:pPr>
            <a:endParaRPr lang="en-US" altLang="it-IT">
              <a:cs typeface="Arial" panose="020B0604020202020204" pitchFamily="34" charset="0"/>
              <a:sym typeface="Symbol" pitchFamily="2" charset="2"/>
            </a:endParaRPr>
          </a:p>
          <a:p>
            <a:pPr eaLnBrk="1" hangingPunct="1">
              <a:spcBef>
                <a:spcPct val="50000"/>
              </a:spcBef>
              <a:buFont typeface="Wingdings 2" pitchFamily="2" charset="2"/>
              <a:buNone/>
            </a:pPr>
            <a:r>
              <a:rPr lang="en-US" altLang="it-IT">
                <a:cs typeface="Arial" panose="020B0604020202020204" pitchFamily="34" charset="0"/>
                <a:sym typeface="Symbol" pitchFamily="2" charset="2"/>
              </a:rPr>
              <a:t>D =</a:t>
            </a:r>
            <a:r>
              <a:rPr lang="it-IT" altLang="it-IT">
                <a:cs typeface="Arial" panose="020B0604020202020204" pitchFamily="34" charset="0"/>
                <a:sym typeface="Symbol" pitchFamily="2" charset="2"/>
              </a:rPr>
              <a:t> </a:t>
            </a:r>
            <a:r>
              <a:rPr lang="en-US" altLang="it-IT">
                <a:cs typeface="Arial" panose="020B0604020202020204" pitchFamily="34" charset="0"/>
                <a:sym typeface="Symbol" pitchFamily="2" charset="2"/>
              </a:rPr>
              <a:t>1 pc    1 pc = ———— UA</a:t>
            </a:r>
          </a:p>
          <a:p>
            <a:pPr eaLnBrk="1" hangingPunct="1">
              <a:spcBef>
                <a:spcPct val="50000"/>
              </a:spcBef>
              <a:buFont typeface="Wingdings 2" pitchFamily="2" charset="2"/>
              <a:buNone/>
            </a:pPr>
            <a:endParaRPr lang="en-US" altLang="it-IT">
              <a:cs typeface="Arial" panose="020B0604020202020204" pitchFamily="34" charset="0"/>
              <a:sym typeface="Symbol" pitchFamily="2" charset="2"/>
            </a:endParaRPr>
          </a:p>
          <a:p>
            <a:pPr eaLnBrk="1" hangingPunct="1">
              <a:spcBef>
                <a:spcPct val="50000"/>
              </a:spcBef>
              <a:buFont typeface="Wingdings 2" pitchFamily="2" charset="2"/>
              <a:buNone/>
            </a:pPr>
            <a:r>
              <a:rPr lang="en-US" altLang="it-IT">
                <a:cs typeface="Arial" panose="020B0604020202020204" pitchFamily="34" charset="0"/>
                <a:sym typeface="Symbol" pitchFamily="2" charset="2"/>
              </a:rPr>
              <a:t>             D = ——— </a:t>
            </a:r>
            <a:r>
              <a:rPr lang="it-IT" altLang="it-IT">
                <a:cs typeface="Arial" panose="020B0604020202020204" pitchFamily="34" charset="0"/>
                <a:sym typeface="Symbol" pitchFamily="2" charset="2"/>
              </a:rPr>
              <a:t> </a:t>
            </a:r>
            <a:r>
              <a:rPr lang="en-US" altLang="it-IT">
                <a:cs typeface="Arial" panose="020B0604020202020204" pitchFamily="34" charset="0"/>
                <a:sym typeface="Symbol" pitchFamily="2" charset="2"/>
              </a:rPr>
              <a:t>pc</a:t>
            </a:r>
            <a:r>
              <a:rPr lang="it-IT" altLang="it-IT">
                <a:cs typeface="Arial" panose="020B0604020202020204" pitchFamily="34" charset="0"/>
                <a:sym typeface="Symbol" pitchFamily="2" charset="2"/>
              </a:rPr>
              <a:t>                          </a:t>
            </a:r>
          </a:p>
        </p:txBody>
      </p:sp>
      <p:sp>
        <p:nvSpPr>
          <p:cNvPr id="15362" name="Oval 3">
            <a:extLst>
              <a:ext uri="{FF2B5EF4-FFF2-40B4-BE49-F238E27FC236}">
                <a16:creationId xmlns:a16="http://schemas.microsoft.com/office/drawing/2014/main" id="{C7914B6B-5FF3-6D49-B429-6E7E4FD41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8563" y="4102100"/>
            <a:ext cx="3694112" cy="1784350"/>
          </a:xfrm>
          <a:prstGeom prst="ellipse">
            <a:avLst/>
          </a:prstGeom>
          <a:noFill/>
          <a:ln w="254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it-IT">
              <a:solidFill>
                <a:schemeClr val="tx1"/>
              </a:solidFill>
            </a:endParaRPr>
          </a:p>
        </p:txBody>
      </p:sp>
      <p:sp>
        <p:nvSpPr>
          <p:cNvPr id="15363" name="Line 4">
            <a:extLst>
              <a:ext uri="{FF2B5EF4-FFF2-40B4-BE49-F238E27FC236}">
                <a16:creationId xmlns:a16="http://schemas.microsoft.com/office/drawing/2014/main" id="{314EBA32-415D-8B4D-B0C0-3006123089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9588" y="776288"/>
            <a:ext cx="3175" cy="41290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64" name="Rectangle 5">
            <a:extLst>
              <a:ext uri="{FF2B5EF4-FFF2-40B4-BE49-F238E27FC236}">
                <a16:creationId xmlns:a16="http://schemas.microsoft.com/office/drawing/2014/main" id="{36BAF1E5-9D23-6745-AF6F-646C626D3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2550" y="36195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it-IT">
                <a:solidFill>
                  <a:schemeClr val="tx1"/>
                </a:solidFill>
                <a:sym typeface="Symbol" pitchFamily="2" charset="2"/>
              </a:rPr>
              <a:t>S</a:t>
            </a:r>
            <a:endParaRPr lang="it-IT" altLang="it-IT">
              <a:solidFill>
                <a:schemeClr val="tx1"/>
              </a:solidFill>
              <a:sym typeface="Symbol" pitchFamily="2" charset="2"/>
            </a:endParaRPr>
          </a:p>
        </p:txBody>
      </p:sp>
      <p:sp>
        <p:nvSpPr>
          <p:cNvPr id="15365" name="Rectangle 6">
            <a:extLst>
              <a:ext uri="{FF2B5EF4-FFF2-40B4-BE49-F238E27FC236}">
                <a16:creationId xmlns:a16="http://schemas.microsoft.com/office/drawing/2014/main" id="{55831702-85D8-5A4A-BBF9-9B5C367AE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" y="5226050"/>
            <a:ext cx="42799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it-IT">
                <a:solidFill>
                  <a:schemeClr val="tx1"/>
                </a:solidFill>
                <a:sym typeface="Symbol" pitchFamily="2" charset="2"/>
              </a:rPr>
              <a:t>D</a:t>
            </a:r>
            <a:r>
              <a:rPr lang="it-IT" altLang="it-IT">
                <a:solidFill>
                  <a:schemeClr val="tx1"/>
                </a:solidFill>
                <a:sym typeface="Symbol" pitchFamily="2" charset="2"/>
              </a:rPr>
              <a:t> = </a:t>
            </a:r>
            <a:r>
              <a:rPr lang="en-US" altLang="it-IT">
                <a:solidFill>
                  <a:schemeClr val="tx1"/>
                </a:solidFill>
                <a:sym typeface="Symbol" pitchFamily="2" charset="2"/>
              </a:rPr>
              <a:t>distanza della stella S </a:t>
            </a:r>
            <a:endParaRPr lang="it-IT" altLang="it-IT">
              <a:solidFill>
                <a:schemeClr val="tx1"/>
              </a:solidFill>
              <a:sym typeface="Symbol" pitchFamily="2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it-IT">
                <a:solidFill>
                  <a:schemeClr val="tx1"/>
                </a:solidFill>
                <a:sym typeface="Symbol" pitchFamily="2" charset="2"/>
              </a:rPr>
              <a:t>R</a:t>
            </a:r>
            <a:r>
              <a:rPr lang="it-IT" altLang="it-IT">
                <a:solidFill>
                  <a:schemeClr val="tx1"/>
                </a:solidFill>
                <a:sym typeface="Symbol" pitchFamily="2" charset="2"/>
              </a:rPr>
              <a:t> = </a:t>
            </a:r>
            <a:r>
              <a:rPr lang="en-US" altLang="it-IT">
                <a:solidFill>
                  <a:schemeClr val="tx1"/>
                </a:solidFill>
                <a:sym typeface="Symbol" pitchFamily="2" charset="2"/>
              </a:rPr>
              <a:t>raggio dell</a:t>
            </a:r>
            <a:r>
              <a:rPr lang="ja-JP" altLang="en-US">
                <a:solidFill>
                  <a:schemeClr val="tx1"/>
                </a:solidFill>
                <a:sym typeface="Symbol" pitchFamily="2" charset="2"/>
              </a:rPr>
              <a:t>’</a:t>
            </a:r>
            <a:r>
              <a:rPr lang="en-US" altLang="ja-JP">
                <a:solidFill>
                  <a:schemeClr val="tx1"/>
                </a:solidFill>
                <a:sym typeface="Symbol" pitchFamily="2" charset="2"/>
              </a:rPr>
              <a:t>orbita terrestre</a:t>
            </a:r>
            <a:endParaRPr lang="it-IT" altLang="ja-JP">
              <a:solidFill>
                <a:schemeClr val="tx1"/>
              </a:solidFill>
              <a:sym typeface="Symbol" pitchFamily="2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it-IT">
                <a:solidFill>
                  <a:schemeClr val="tx1"/>
                </a:solidFill>
                <a:sym typeface="Symbol" pitchFamily="2" charset="2"/>
              </a:rPr>
              <a:t>p = angolo di parallasse </a:t>
            </a:r>
            <a:endParaRPr lang="it-IT" altLang="it-IT">
              <a:solidFill>
                <a:schemeClr val="tx1"/>
              </a:solidFill>
              <a:sym typeface="Symbol" pitchFamily="2" charset="2"/>
            </a:endParaRPr>
          </a:p>
        </p:txBody>
      </p:sp>
      <p:sp>
        <p:nvSpPr>
          <p:cNvPr id="15366" name="Line 7">
            <a:extLst>
              <a:ext uri="{FF2B5EF4-FFF2-40B4-BE49-F238E27FC236}">
                <a16:creationId xmlns:a16="http://schemas.microsoft.com/office/drawing/2014/main" id="{A5C8DFE2-9395-7B41-872C-CD7130589D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8088" y="5006975"/>
            <a:ext cx="3678237" cy="14288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67" name="Line 8">
            <a:extLst>
              <a:ext uri="{FF2B5EF4-FFF2-40B4-BE49-F238E27FC236}">
                <a16:creationId xmlns:a16="http://schemas.microsoft.com/office/drawing/2014/main" id="{5CF91FDC-5241-304F-A973-2DA40F90C81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5300" y="747713"/>
            <a:ext cx="1862138" cy="4189412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68" name="Line 9">
            <a:extLst>
              <a:ext uri="{FF2B5EF4-FFF2-40B4-BE49-F238E27FC236}">
                <a16:creationId xmlns:a16="http://schemas.microsoft.com/office/drawing/2014/main" id="{FCF30A46-9F49-E24E-998F-EC9FFF15E0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10150" y="742950"/>
            <a:ext cx="1844675" cy="4275138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69" name="Rectangle 10">
            <a:extLst>
              <a:ext uri="{FF2B5EF4-FFF2-40B4-BE49-F238E27FC236}">
                <a16:creationId xmlns:a16="http://schemas.microsoft.com/office/drawing/2014/main" id="{20C992FA-17C0-AB4F-9037-BE020B323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3375" y="5110163"/>
            <a:ext cx="42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it-IT">
                <a:solidFill>
                  <a:schemeClr val="tx1"/>
                </a:solidFill>
                <a:sym typeface="Symbol" pitchFamily="2" charset="2"/>
              </a:rPr>
              <a:t>O</a:t>
            </a:r>
            <a:endParaRPr lang="it-IT" altLang="it-IT">
              <a:solidFill>
                <a:schemeClr val="tx1"/>
              </a:solidFill>
              <a:sym typeface="Symbol" pitchFamily="2" charset="2"/>
            </a:endParaRPr>
          </a:p>
        </p:txBody>
      </p:sp>
      <p:sp>
        <p:nvSpPr>
          <p:cNvPr id="15370" name="Rectangle 11">
            <a:extLst>
              <a:ext uri="{FF2B5EF4-FFF2-40B4-BE49-F238E27FC236}">
                <a16:creationId xmlns:a16="http://schemas.microsoft.com/office/drawing/2014/main" id="{62FA4038-F5FE-5140-9A93-D17F33D4D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4563" y="5276850"/>
            <a:ext cx="48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it-IT">
                <a:solidFill>
                  <a:schemeClr val="tx1"/>
                </a:solidFill>
                <a:sym typeface="Symbol" pitchFamily="2" charset="2"/>
              </a:rPr>
              <a:t>T</a:t>
            </a:r>
            <a:r>
              <a:rPr lang="en-US" altLang="it-IT" baseline="-25000">
                <a:solidFill>
                  <a:schemeClr val="tx1"/>
                </a:solidFill>
                <a:sym typeface="Symbol" pitchFamily="2" charset="2"/>
              </a:rPr>
              <a:t>2</a:t>
            </a:r>
            <a:endParaRPr lang="it-IT" altLang="it-IT" baseline="-25000">
              <a:solidFill>
                <a:schemeClr val="tx1"/>
              </a:solidFill>
              <a:sym typeface="Symbol" pitchFamily="2" charset="2"/>
            </a:endParaRPr>
          </a:p>
        </p:txBody>
      </p:sp>
      <p:sp>
        <p:nvSpPr>
          <p:cNvPr id="15371" name="Rectangle 12">
            <a:extLst>
              <a:ext uri="{FF2B5EF4-FFF2-40B4-BE49-F238E27FC236}">
                <a16:creationId xmlns:a16="http://schemas.microsoft.com/office/drawing/2014/main" id="{46542069-E812-C74A-A998-3AE011A73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538" y="5248275"/>
            <a:ext cx="48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it-IT">
                <a:solidFill>
                  <a:schemeClr val="tx1"/>
                </a:solidFill>
                <a:sym typeface="Symbol" pitchFamily="2" charset="2"/>
              </a:rPr>
              <a:t>T</a:t>
            </a:r>
            <a:r>
              <a:rPr lang="en-US" altLang="it-IT" baseline="-25000">
                <a:solidFill>
                  <a:schemeClr val="tx1"/>
                </a:solidFill>
                <a:sym typeface="Symbol" pitchFamily="2" charset="2"/>
              </a:rPr>
              <a:t>1</a:t>
            </a:r>
            <a:endParaRPr lang="it-IT" altLang="it-IT" baseline="-25000">
              <a:solidFill>
                <a:schemeClr val="tx1"/>
              </a:solidFill>
              <a:sym typeface="Symbol" pitchFamily="2" charset="2"/>
            </a:endParaRPr>
          </a:p>
        </p:txBody>
      </p:sp>
      <p:sp>
        <p:nvSpPr>
          <p:cNvPr id="15372" name="Rectangle 13">
            <a:extLst>
              <a:ext uri="{FF2B5EF4-FFF2-40B4-BE49-F238E27FC236}">
                <a16:creationId xmlns:a16="http://schemas.microsoft.com/office/drawing/2014/main" id="{19F2C100-E5C9-C44C-AEE6-A785ADB33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4938" y="1462088"/>
            <a:ext cx="774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it-IT">
                <a:solidFill>
                  <a:schemeClr val="tx1"/>
                </a:solidFill>
                <a:sym typeface="Symbol" pitchFamily="2" charset="2"/>
              </a:rPr>
              <a:t>     p</a:t>
            </a:r>
            <a:endParaRPr lang="it-IT" altLang="it-IT" baseline="-25000">
              <a:solidFill>
                <a:schemeClr val="tx1"/>
              </a:solidFill>
              <a:sym typeface="Symbol" pitchFamily="2" charset="2"/>
            </a:endParaRPr>
          </a:p>
        </p:txBody>
      </p:sp>
      <p:sp>
        <p:nvSpPr>
          <p:cNvPr id="15373" name="Rectangle 14">
            <a:extLst>
              <a:ext uri="{FF2B5EF4-FFF2-40B4-BE49-F238E27FC236}">
                <a16:creationId xmlns:a16="http://schemas.microsoft.com/office/drawing/2014/main" id="{33FA4161-CCEA-424E-B5E7-645576757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4613" y="2905125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it-IT">
                <a:solidFill>
                  <a:schemeClr val="tx1"/>
                </a:solidFill>
                <a:sym typeface="Symbol" pitchFamily="2" charset="2"/>
              </a:rPr>
              <a:t>D</a:t>
            </a:r>
            <a:endParaRPr lang="it-IT" altLang="it-IT" baseline="-25000">
              <a:solidFill>
                <a:schemeClr val="tx1"/>
              </a:solidFill>
              <a:sym typeface="Symbol" pitchFamily="2" charset="2"/>
            </a:endParaRPr>
          </a:p>
        </p:txBody>
      </p:sp>
      <p:sp>
        <p:nvSpPr>
          <p:cNvPr id="15374" name="Rectangle 15">
            <a:extLst>
              <a:ext uri="{FF2B5EF4-FFF2-40B4-BE49-F238E27FC236}">
                <a16:creationId xmlns:a16="http://schemas.microsoft.com/office/drawing/2014/main" id="{94B36FE1-3D8C-D746-AA04-976D20204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4575" y="447675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it-IT">
                <a:solidFill>
                  <a:schemeClr val="tx1"/>
                </a:solidFill>
                <a:sym typeface="Symbol" pitchFamily="2" charset="2"/>
              </a:rPr>
              <a:t>R</a:t>
            </a:r>
            <a:endParaRPr lang="it-IT" altLang="it-IT" baseline="-25000">
              <a:solidFill>
                <a:schemeClr val="tx1"/>
              </a:solidFill>
              <a:sym typeface="Symbol" pitchFamily="2" charset="2"/>
            </a:endParaRPr>
          </a:p>
        </p:txBody>
      </p:sp>
      <p:sp>
        <p:nvSpPr>
          <p:cNvPr id="15375" name="Text Box 16">
            <a:extLst>
              <a:ext uri="{FF2B5EF4-FFF2-40B4-BE49-F238E27FC236}">
                <a16:creationId xmlns:a16="http://schemas.microsoft.com/office/drawing/2014/main" id="{6C81F64E-5132-074D-8F6F-5D56E4D97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2813" y="517525"/>
            <a:ext cx="1671637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it-IT"/>
              <a:t>      p (</a:t>
            </a:r>
            <a:r>
              <a:rPr lang="ja-JP" altLang="en-US"/>
              <a:t>”</a:t>
            </a:r>
            <a:r>
              <a:rPr lang="en-US" altLang="ja-JP"/>
              <a:t>)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it-IT"/>
              <a:t>  206265</a:t>
            </a:r>
            <a:endParaRPr lang="it-IT" altLang="it-IT"/>
          </a:p>
        </p:txBody>
      </p:sp>
      <p:sp>
        <p:nvSpPr>
          <p:cNvPr id="15376" name="Text Box 17">
            <a:extLst>
              <a:ext uri="{FF2B5EF4-FFF2-40B4-BE49-F238E27FC236}">
                <a16:creationId xmlns:a16="http://schemas.microsoft.com/office/drawing/2014/main" id="{8E349B3E-C358-5448-AFBB-68D1E82D2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3788" y="1595438"/>
            <a:ext cx="1671637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it-IT"/>
              <a:t> 206265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it-IT"/>
              <a:t>    p (</a:t>
            </a:r>
            <a:r>
              <a:rPr lang="ja-JP" altLang="en-US"/>
              <a:t>”</a:t>
            </a:r>
            <a:r>
              <a:rPr lang="en-US" altLang="ja-JP"/>
              <a:t>)</a:t>
            </a:r>
            <a:endParaRPr lang="it-IT" altLang="it-IT"/>
          </a:p>
        </p:txBody>
      </p:sp>
      <p:sp>
        <p:nvSpPr>
          <p:cNvPr id="15377" name="Text Box 18">
            <a:extLst>
              <a:ext uri="{FF2B5EF4-FFF2-40B4-BE49-F238E27FC236}">
                <a16:creationId xmlns:a16="http://schemas.microsoft.com/office/drawing/2014/main" id="{411CC05A-C767-0144-8451-174569943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8088" y="2735263"/>
            <a:ext cx="1671637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it-IT"/>
              <a:t>  206265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it-IT"/>
              <a:t>      1</a:t>
            </a:r>
            <a:r>
              <a:rPr lang="ja-JP" altLang="en-US"/>
              <a:t>”</a:t>
            </a:r>
            <a:r>
              <a:rPr lang="en-US" altLang="ja-JP"/>
              <a:t> </a:t>
            </a:r>
            <a:endParaRPr lang="it-IT" altLang="it-IT"/>
          </a:p>
        </p:txBody>
      </p:sp>
      <p:sp>
        <p:nvSpPr>
          <p:cNvPr id="15378" name="Text Box 19">
            <a:extLst>
              <a:ext uri="{FF2B5EF4-FFF2-40B4-BE49-F238E27FC236}">
                <a16:creationId xmlns:a16="http://schemas.microsoft.com/office/drawing/2014/main" id="{3465BC74-BDF0-944F-8F3E-2AFD87877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0050" y="3817938"/>
            <a:ext cx="1671638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it-IT"/>
              <a:t>      1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it-IT"/>
              <a:t>    p (</a:t>
            </a:r>
            <a:r>
              <a:rPr lang="ja-JP" altLang="en-US"/>
              <a:t>”</a:t>
            </a:r>
            <a:r>
              <a:rPr lang="en-US" altLang="ja-JP"/>
              <a:t>)</a:t>
            </a:r>
            <a:endParaRPr lang="it-IT" altLang="it-IT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7DB403A6-4A1C-3448-B9C2-41CBDBF13D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85800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Il modulo di distanza</a:t>
            </a:r>
          </a:p>
        </p:txBody>
      </p:sp>
      <p:sp>
        <p:nvSpPr>
          <p:cNvPr id="19458" name="Text Box 4">
            <a:extLst>
              <a:ext uri="{FF2B5EF4-FFF2-40B4-BE49-F238E27FC236}">
                <a16:creationId xmlns:a16="http://schemas.microsoft.com/office/drawing/2014/main" id="{DCCB5961-8ACD-9D43-B37E-DA38A2D77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86075"/>
            <a:ext cx="1455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it-IT" altLang="it-IT" sz="2000" dirty="0">
                <a:solidFill>
                  <a:schemeClr val="tx1"/>
                </a:solidFill>
                <a:latin typeface="+mn-lt"/>
              </a:rPr>
              <a:t>La quantità</a:t>
            </a:r>
          </a:p>
        </p:txBody>
      </p:sp>
      <p:sp>
        <p:nvSpPr>
          <p:cNvPr id="19459" name="Text Box 5">
            <a:extLst>
              <a:ext uri="{FF2B5EF4-FFF2-40B4-BE49-F238E27FC236}">
                <a16:creationId xmlns:a16="http://schemas.microsoft.com/office/drawing/2014/main" id="{84E2C626-AECB-F141-AFB9-AF7D4601B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3" y="4000500"/>
            <a:ext cx="8169275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it-IT" altLang="it-IT" sz="2000" dirty="0">
                <a:solidFill>
                  <a:schemeClr val="tx1"/>
                </a:solidFill>
                <a:latin typeface="+mn-lt"/>
              </a:rPr>
              <a:t>si chiama </a:t>
            </a:r>
            <a:r>
              <a:rPr lang="it-IT" altLang="it-IT" sz="2000" i="1" dirty="0">
                <a:solidFill>
                  <a:schemeClr val="tx1"/>
                </a:solidFill>
                <a:latin typeface="+mn-lt"/>
              </a:rPr>
              <a:t>modulo di distanza</a:t>
            </a:r>
            <a:r>
              <a:rPr lang="it-IT" altLang="it-IT" sz="2000" dirty="0">
                <a:solidFill>
                  <a:schemeClr val="tx1"/>
                </a:solidFill>
                <a:latin typeface="+mn-lt"/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it-IT" altLang="it-IT" sz="2000" i="1" dirty="0">
              <a:solidFill>
                <a:srgbClr val="FF3300"/>
              </a:solidFill>
              <a:latin typeface="+mn-lt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it-IT" altLang="it-IT" sz="2000" i="1" dirty="0" err="1">
                <a:solidFill>
                  <a:srgbClr val="FF3300"/>
                </a:solidFill>
                <a:latin typeface="+mn-lt"/>
                <a:sym typeface="Symbol" pitchFamily="2" charset="2"/>
              </a:rPr>
              <a:t>Poichè</a:t>
            </a:r>
            <a:r>
              <a:rPr lang="it-IT" altLang="it-IT" sz="2000" i="1" dirty="0">
                <a:solidFill>
                  <a:srgbClr val="FF3300"/>
                </a:solidFill>
                <a:latin typeface="+mn-lt"/>
                <a:sym typeface="Symbol" pitchFamily="2" charset="2"/>
              </a:rPr>
              <a:t> lo spazio non è trasparente</a:t>
            </a:r>
            <a:r>
              <a:rPr lang="it-IT" altLang="it-IT" sz="2000" dirty="0">
                <a:solidFill>
                  <a:schemeClr val="tx1"/>
                </a:solidFill>
                <a:latin typeface="+mn-lt"/>
                <a:sym typeface="Symbol" pitchFamily="2" charset="2"/>
              </a:rPr>
              <a:t> la magnitudine osservata dipende da </a:t>
            </a:r>
            <a:r>
              <a:rPr lang="it-IT" altLang="it-IT" sz="2000" i="1" dirty="0">
                <a:solidFill>
                  <a:schemeClr val="tx1"/>
                </a:solidFill>
                <a:latin typeface="+mn-lt"/>
                <a:sym typeface="Symbol" pitchFamily="2" charset="2"/>
              </a:rPr>
              <a:t>, e così farà anche il modulo di distanza.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it-IT" altLang="it-IT" sz="2000" dirty="0">
              <a:solidFill>
                <a:schemeClr val="tx1"/>
              </a:solidFill>
              <a:latin typeface="+mn-lt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it-IT" altLang="it-IT" sz="2000" dirty="0">
                <a:solidFill>
                  <a:schemeClr val="tx1"/>
                </a:solidFill>
                <a:latin typeface="+mn-lt"/>
                <a:sym typeface="Symbol" pitchFamily="2" charset="2"/>
              </a:rPr>
              <a:t>Per cui i moduli di distanza ricavati con diversi sistemi fotometrici possono differire tra loro --&gt;</a:t>
            </a:r>
            <a:r>
              <a:rPr lang="it-IT" altLang="it-IT" sz="2000" b="1" dirty="0">
                <a:solidFill>
                  <a:schemeClr val="tx1"/>
                </a:solidFill>
                <a:latin typeface="+mn-lt"/>
                <a:sym typeface="Symbol" pitchFamily="2" charset="2"/>
              </a:rPr>
              <a:t>assorbimento Atmosferico/interstellare</a:t>
            </a:r>
            <a:r>
              <a:rPr lang="it-IT" altLang="it-IT" sz="2000" dirty="0">
                <a:solidFill>
                  <a:schemeClr val="tx1"/>
                </a:solidFill>
                <a:latin typeface="+mn-lt"/>
                <a:sym typeface="Symbol" pitchFamily="2" charset="2"/>
              </a:rPr>
              <a:t>.</a:t>
            </a:r>
          </a:p>
        </p:txBody>
      </p:sp>
      <p:graphicFrame>
        <p:nvGraphicFramePr>
          <p:cNvPr id="17412" name="Object 2">
            <a:extLst>
              <a:ext uri="{FF2B5EF4-FFF2-40B4-BE49-F238E27FC236}">
                <a16:creationId xmlns:a16="http://schemas.microsoft.com/office/drawing/2014/main" id="{F65F7483-9F8F-7749-93B9-042508D71D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2274719"/>
              </p:ext>
            </p:extLst>
          </p:nvPr>
        </p:nvGraphicFramePr>
        <p:xfrm>
          <a:off x="2015716" y="1040715"/>
          <a:ext cx="5112568" cy="1947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00400" imgH="1219200" progId="Equation.3">
                  <p:embed/>
                </p:oleObj>
              </mc:Choice>
              <mc:Fallback>
                <p:oleObj name="Equation" r:id="rId2" imgW="3200400" imgH="1219200" progId="Equation.3">
                  <p:embed/>
                  <p:pic>
                    <p:nvPicPr>
                      <p:cNvPr id="17412" name="Object 2">
                        <a:extLst>
                          <a:ext uri="{FF2B5EF4-FFF2-40B4-BE49-F238E27FC236}">
                            <a16:creationId xmlns:a16="http://schemas.microsoft.com/office/drawing/2014/main" id="{F65F7483-9F8F-7749-93B9-042508D71D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5716" y="1040715"/>
                        <a:ext cx="5112568" cy="19476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E994CF22-1896-6E47-8EC0-C5F8C50C59CB}"/>
                  </a:ext>
                </a:extLst>
              </p:cNvPr>
              <p:cNvSpPr txBox="1"/>
              <p:nvPr/>
            </p:nvSpPr>
            <p:spPr>
              <a:xfrm>
                <a:off x="3425371" y="3381829"/>
                <a:ext cx="3777509" cy="5091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=5</m:t>
                      </m:r>
                      <m:func>
                        <m:func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𝑝𝑐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E994CF22-1896-6E47-8EC0-C5F8C50C5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5371" y="3381829"/>
                <a:ext cx="3777509" cy="509178"/>
              </a:xfrm>
              <a:prstGeom prst="rect">
                <a:avLst/>
              </a:prstGeom>
              <a:blipFill>
                <a:blip r:embed="rId5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olo 1">
            <a:extLst>
              <a:ext uri="{FF2B5EF4-FFF2-40B4-BE49-F238E27FC236}">
                <a16:creationId xmlns:a16="http://schemas.microsoft.com/office/drawing/2014/main" id="{E16AF22E-B296-7542-8BB6-0E5498584A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it-IT">
                <a:ea typeface="ＭＳ Ｐゴシック" panose="020B0600070205080204" pitchFamily="34" charset="-128"/>
              </a:rPr>
              <a:t>Atmospheric Extinction</a:t>
            </a:r>
          </a:p>
        </p:txBody>
      </p:sp>
      <p:pic>
        <p:nvPicPr>
          <p:cNvPr id="19458" name="Immagine 2">
            <a:extLst>
              <a:ext uri="{FF2B5EF4-FFF2-40B4-BE49-F238E27FC236}">
                <a16:creationId xmlns:a16="http://schemas.microsoft.com/office/drawing/2014/main" id="{B97F4753-B7FA-3D46-84C4-0CAF9DECE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4688" y="836613"/>
            <a:ext cx="4000500" cy="279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Rettangolo 3">
            <a:extLst>
              <a:ext uri="{FF2B5EF4-FFF2-40B4-BE49-F238E27FC236}">
                <a16:creationId xmlns:a16="http://schemas.microsoft.com/office/drawing/2014/main" id="{FCA3FBB6-4DA3-6948-8A92-D9D4A640C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" y="1196975"/>
            <a:ext cx="3859213" cy="535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GB" altLang="it-IT" sz="1800" dirty="0">
                <a:solidFill>
                  <a:schemeClr val="tx1"/>
                </a:solidFill>
                <a:latin typeface="Helvetica" pitchFamily="2" charset="0"/>
              </a:rPr>
              <a:t>The Earth’s atmosphere  causes extinction and  the observed magnitude m</a:t>
            </a:r>
            <a:r>
              <a:rPr lang="en-GB" altLang="it-IT" sz="1800" baseline="-25000" dirty="0">
                <a:solidFill>
                  <a:schemeClr val="tx1"/>
                </a:solidFill>
                <a:latin typeface="Helvetica" pitchFamily="2" charset="0"/>
              </a:rPr>
              <a:t>obs</a:t>
            </a:r>
            <a:r>
              <a:rPr lang="en-GB" altLang="it-IT" sz="1800" dirty="0">
                <a:solidFill>
                  <a:schemeClr val="tx1"/>
                </a:solidFill>
                <a:latin typeface="Helvetica" pitchFamily="2" charset="0"/>
              </a:rPr>
              <a:t> depends on the location of the observer and the zenith distance of the object.</a:t>
            </a:r>
          </a:p>
          <a:p>
            <a:pPr algn="just">
              <a:spcBef>
                <a:spcPct val="0"/>
              </a:spcBef>
              <a:buFontTx/>
              <a:buNone/>
            </a:pPr>
            <a:endParaRPr lang="en-GB" altLang="it-IT" sz="1800" dirty="0">
              <a:solidFill>
                <a:schemeClr val="tx1"/>
              </a:solidFill>
              <a:latin typeface="Helvetica" pitchFamily="2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en-GB" altLang="it-IT" sz="1800" dirty="0">
                <a:solidFill>
                  <a:schemeClr val="tx1"/>
                </a:solidFill>
                <a:latin typeface="Helvetica" pitchFamily="2" charset="0"/>
              </a:rPr>
              <a:t>If m</a:t>
            </a:r>
            <a:r>
              <a:rPr lang="en-GB" altLang="it-IT" sz="1800" baseline="-25000" dirty="0">
                <a:solidFill>
                  <a:schemeClr val="tx1"/>
                </a:solidFill>
                <a:latin typeface="Helvetica" pitchFamily="2" charset="0"/>
              </a:rPr>
              <a:t>0</a:t>
            </a:r>
            <a:r>
              <a:rPr lang="en-GB" altLang="it-IT" sz="1800" dirty="0">
                <a:solidFill>
                  <a:schemeClr val="tx1"/>
                </a:solidFill>
                <a:latin typeface="Helvetica" pitchFamily="2" charset="0"/>
              </a:rPr>
              <a:t> is the magnitude of the star outside the atmosphere we have:</a:t>
            </a:r>
          </a:p>
          <a:p>
            <a:pPr algn="just">
              <a:spcBef>
                <a:spcPct val="0"/>
              </a:spcBef>
              <a:buFontTx/>
              <a:buNone/>
            </a:pPr>
            <a:endParaRPr lang="en-GB" altLang="it-IT" sz="1800" dirty="0">
              <a:solidFill>
                <a:schemeClr val="tx1"/>
              </a:solidFill>
              <a:latin typeface="Helvetica" pitchFamily="2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en-GB" altLang="it-IT" sz="1800" dirty="0">
                <a:solidFill>
                  <a:schemeClr val="tx1"/>
                </a:solidFill>
                <a:latin typeface="Helvetica" pitchFamily="2" charset="0"/>
              </a:rPr>
              <a:t>	 m</a:t>
            </a:r>
            <a:r>
              <a:rPr lang="en-GB" altLang="it-IT" sz="1800" baseline="-25000" dirty="0">
                <a:solidFill>
                  <a:schemeClr val="tx1"/>
                </a:solidFill>
                <a:latin typeface="Helvetica" pitchFamily="2" charset="0"/>
              </a:rPr>
              <a:t>obs </a:t>
            </a:r>
            <a:r>
              <a:rPr lang="en-GB" altLang="it-IT" sz="1800" dirty="0">
                <a:solidFill>
                  <a:schemeClr val="tx1"/>
                </a:solidFill>
                <a:latin typeface="Helvetica" pitchFamily="2" charset="0"/>
              </a:rPr>
              <a:t>= m</a:t>
            </a:r>
            <a:r>
              <a:rPr lang="en-GB" altLang="it-IT" sz="1800" baseline="-25000" dirty="0">
                <a:solidFill>
                  <a:schemeClr val="tx1"/>
                </a:solidFill>
                <a:latin typeface="Helvetica" pitchFamily="2" charset="0"/>
              </a:rPr>
              <a:t>0</a:t>
            </a:r>
            <a:r>
              <a:rPr lang="en-GB" altLang="it-IT" sz="1800" dirty="0">
                <a:solidFill>
                  <a:schemeClr val="tx1"/>
                </a:solidFill>
                <a:latin typeface="Helvetica" pitchFamily="2" charset="0"/>
              </a:rPr>
              <a:t> + k X </a:t>
            </a:r>
          </a:p>
          <a:p>
            <a:pPr algn="just">
              <a:spcBef>
                <a:spcPct val="0"/>
              </a:spcBef>
              <a:buFontTx/>
              <a:buNone/>
            </a:pPr>
            <a:endParaRPr lang="en-GB" altLang="it-IT" sz="1800" dirty="0">
              <a:solidFill>
                <a:schemeClr val="tx1"/>
              </a:solidFill>
              <a:latin typeface="Helvetica" pitchFamily="2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en-GB" altLang="it-IT" sz="1800" dirty="0">
                <a:solidFill>
                  <a:schemeClr val="tx1"/>
                </a:solidFill>
                <a:latin typeface="Helvetica" pitchFamily="2" charset="0"/>
              </a:rPr>
              <a:t>Where k is the coefficient of extinction of the atmosphere and X is the “air mass”: </a:t>
            </a:r>
          </a:p>
          <a:p>
            <a:pPr algn="just">
              <a:spcBef>
                <a:spcPct val="0"/>
              </a:spcBef>
              <a:buFontTx/>
              <a:buNone/>
            </a:pPr>
            <a:endParaRPr lang="en-GB" altLang="it-IT" sz="1800" dirty="0">
              <a:solidFill>
                <a:schemeClr val="tx1"/>
              </a:solidFill>
              <a:latin typeface="Helvetica" pitchFamily="2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en-GB" altLang="it-IT" sz="1800" dirty="0">
                <a:solidFill>
                  <a:schemeClr val="tx1"/>
                </a:solidFill>
                <a:latin typeface="Helvetica" pitchFamily="2" charset="0"/>
              </a:rPr>
              <a:t>	X = 1/cos z = sec z</a:t>
            </a:r>
          </a:p>
          <a:p>
            <a:pPr algn="just">
              <a:spcBef>
                <a:spcPct val="0"/>
              </a:spcBef>
              <a:buFontTx/>
              <a:buNone/>
            </a:pPr>
            <a:endParaRPr lang="en-GB" altLang="it-IT" sz="1800" dirty="0">
              <a:solidFill>
                <a:schemeClr val="tx1"/>
              </a:solidFill>
              <a:latin typeface="Helvetica" pitchFamily="2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en-GB" altLang="it-IT" sz="1800" dirty="0">
              <a:solidFill>
                <a:schemeClr val="tx1"/>
              </a:solidFill>
              <a:latin typeface="Helvetica" pitchFamily="2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en-GB" altLang="it-IT" sz="1800" dirty="0">
              <a:solidFill>
                <a:schemeClr val="tx1"/>
              </a:solidFill>
              <a:latin typeface="Helvetica" pitchFamily="2" charset="0"/>
            </a:endParaRPr>
          </a:p>
        </p:txBody>
      </p:sp>
      <p:pic>
        <p:nvPicPr>
          <p:cNvPr id="19460" name="Immagine 4">
            <a:extLst>
              <a:ext uri="{FF2B5EF4-FFF2-40B4-BE49-F238E27FC236}">
                <a16:creationId xmlns:a16="http://schemas.microsoft.com/office/drawing/2014/main" id="{B7A5F27C-8C71-6340-A9CD-A7D5FF1EB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938" y="3789363"/>
            <a:ext cx="4003675" cy="245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EECF1B41-4AF7-F84E-AB03-D8A00E8322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" y="228600"/>
            <a:ext cx="8763000" cy="1066800"/>
          </a:xfrm>
        </p:spPr>
        <p:txBody>
          <a:bodyPr/>
          <a:lstStyle/>
          <a:p>
            <a:pPr eaLnBrk="1" hangingPunct="1"/>
            <a:r>
              <a:rPr lang="it-IT" altLang="it-IT" sz="1600">
                <a:ea typeface="ＭＳ Ｐゴシック" panose="020B0600070205080204" pitchFamily="34" charset="-128"/>
              </a:rPr>
              <a:t>Il diagramma a due indici di colore (U-B,B-V) delle stelle più brillanti della 7-magnitutine</a:t>
            </a:r>
          </a:p>
        </p:txBody>
      </p:sp>
      <p:pic>
        <p:nvPicPr>
          <p:cNvPr id="18434" name="Picture 3" descr="16-9">
            <a:extLst>
              <a:ext uri="{FF2B5EF4-FFF2-40B4-BE49-F238E27FC236}">
                <a16:creationId xmlns:a16="http://schemas.microsoft.com/office/drawing/2014/main" id="{638005CA-09A2-194D-AF38-C881FC3DB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0"/>
            <a:ext cx="4143375" cy="463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Text Box 4">
            <a:extLst>
              <a:ext uri="{FF2B5EF4-FFF2-40B4-BE49-F238E27FC236}">
                <a16:creationId xmlns:a16="http://schemas.microsoft.com/office/drawing/2014/main" id="{57C7378D-A903-6449-B5FC-4FA93182E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1125538"/>
            <a:ext cx="4648200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2000" dirty="0">
                <a:solidFill>
                  <a:schemeClr val="tx1"/>
                </a:solidFill>
              </a:rPr>
              <a:t>Le stelle occupano una ben definita fascia che si discosta dal luogo del corpo nero soprattutto nella zona delle stelle come Vega.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2000" dirty="0">
                <a:solidFill>
                  <a:schemeClr val="tx1"/>
                </a:solidFill>
              </a:rPr>
              <a:t>Nella parte superiore del diagramma, tra la fascia principale e la zona del corpo nero troviamo sia stelle Nane Bianche come Sirio B che stelle affette da </a:t>
            </a:r>
            <a:r>
              <a:rPr lang="it-IT" altLang="it-IT" sz="2000" i="1" dirty="0">
                <a:solidFill>
                  <a:srgbClr val="FF3300"/>
                </a:solidFill>
              </a:rPr>
              <a:t>assorbimento interstellare.</a:t>
            </a:r>
            <a:endParaRPr lang="it-IT" altLang="it-IT" sz="2000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2000" dirty="0">
                <a:solidFill>
                  <a:schemeClr val="tx1"/>
                </a:solidFill>
              </a:rPr>
              <a:t>Sotto alla fascia principale, tra Vega e il Sole, troviamo stelle giganti e supergiganti, i cui indici di colore sono lievemente diversi da quelli delle stelle nane.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2000" dirty="0">
                <a:solidFill>
                  <a:schemeClr val="tx1"/>
                </a:solidFill>
              </a:rPr>
              <a:t>Il </a:t>
            </a:r>
            <a:r>
              <a:rPr lang="it-IT" altLang="it-IT" sz="2000" i="1" dirty="0">
                <a:solidFill>
                  <a:schemeClr val="bg2"/>
                </a:solidFill>
              </a:rPr>
              <a:t>corpo grigio</a:t>
            </a:r>
            <a:r>
              <a:rPr lang="it-IT" altLang="it-IT" sz="2000" dirty="0">
                <a:solidFill>
                  <a:schemeClr val="tx1"/>
                </a:solidFill>
              </a:rPr>
              <a:t> è un corpo ideale che emette la stessa energia nelle 3 bande UBV.</a:t>
            </a: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olo 1">
            <a:extLst>
              <a:ext uri="{FF2B5EF4-FFF2-40B4-BE49-F238E27FC236}">
                <a16:creationId xmlns:a16="http://schemas.microsoft.com/office/drawing/2014/main" id="{9E9FF9F9-DB36-8E40-9E2D-7AA41DD139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Assorbimento Interstellate</a:t>
            </a:r>
          </a:p>
        </p:txBody>
      </p:sp>
      <p:pic>
        <p:nvPicPr>
          <p:cNvPr id="22530" name="Immagine 2">
            <a:extLst>
              <a:ext uri="{FF2B5EF4-FFF2-40B4-BE49-F238E27FC236}">
                <a16:creationId xmlns:a16="http://schemas.microsoft.com/office/drawing/2014/main" id="{1832EE20-2CC1-5145-822A-B97DE0C69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765175"/>
            <a:ext cx="6983412" cy="587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Rettangolo 3">
            <a:extLst>
              <a:ext uri="{FF2B5EF4-FFF2-40B4-BE49-F238E27FC236}">
                <a16:creationId xmlns:a16="http://schemas.microsoft.com/office/drawing/2014/main" id="{55C298FD-CA6B-0D48-ABBE-2E1CB5760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7063" y="1484313"/>
            <a:ext cx="3419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it-IT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olo 1">
            <a:extLst>
              <a:ext uri="{FF2B5EF4-FFF2-40B4-BE49-F238E27FC236}">
                <a16:creationId xmlns:a16="http://schemas.microsoft.com/office/drawing/2014/main" id="{48244D93-A8C1-354D-8A82-F510BB6DDF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Assorbimento Interstellare</a:t>
            </a:r>
          </a:p>
        </p:txBody>
      </p:sp>
      <p:pic>
        <p:nvPicPr>
          <p:cNvPr id="20482" name="Immagine 2">
            <a:extLst>
              <a:ext uri="{FF2B5EF4-FFF2-40B4-BE49-F238E27FC236}">
                <a16:creationId xmlns:a16="http://schemas.microsoft.com/office/drawing/2014/main" id="{5C1CB2AC-7098-484C-BCC9-A09C4363C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557338"/>
            <a:ext cx="7023100" cy="351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CasellaDiTesto 3">
            <a:extLst>
              <a:ext uri="{FF2B5EF4-FFF2-40B4-BE49-F238E27FC236}">
                <a16:creationId xmlns:a16="http://schemas.microsoft.com/office/drawing/2014/main" id="{94EBD233-E331-9D40-ADEC-49BFFCDB1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5300663"/>
            <a:ext cx="18272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>
                <a:solidFill>
                  <a:schemeClr val="tx1"/>
                </a:solidFill>
              </a:rPr>
              <a:t>Dark Clouds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olo 1">
            <a:extLst>
              <a:ext uri="{FF2B5EF4-FFF2-40B4-BE49-F238E27FC236}">
                <a16:creationId xmlns:a16="http://schemas.microsoft.com/office/drawing/2014/main" id="{C0C00F01-B57F-B245-B07F-38CFE9F448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 dirty="0" err="1">
                <a:ea typeface="ＭＳ Ｐゴシック" panose="020B0600070205080204" pitchFamily="34" charset="-128"/>
              </a:rPr>
              <a:t>Assorbimento</a:t>
            </a:r>
            <a:r>
              <a:rPr lang="en-US" altLang="it-IT" dirty="0">
                <a:ea typeface="ＭＳ Ｐゴシック" panose="020B0600070205080204" pitchFamily="34" charset="-128"/>
              </a:rPr>
              <a:t> </a:t>
            </a:r>
            <a:r>
              <a:rPr lang="en-US" altLang="it-IT" dirty="0" err="1">
                <a:ea typeface="ＭＳ Ｐゴシック" panose="020B0600070205080204" pitchFamily="34" charset="-128"/>
              </a:rPr>
              <a:t>Interstellare</a:t>
            </a:r>
            <a:endParaRPr lang="en-US" altLang="it-IT" dirty="0">
              <a:ea typeface="ＭＳ Ｐゴシック" panose="020B0600070205080204" pitchFamily="34" charset="-128"/>
            </a:endParaRPr>
          </a:p>
        </p:txBody>
      </p:sp>
      <p:sp>
        <p:nvSpPr>
          <p:cNvPr id="21506" name="Rettangolo 3">
            <a:extLst>
              <a:ext uri="{FF2B5EF4-FFF2-40B4-BE49-F238E27FC236}">
                <a16:creationId xmlns:a16="http://schemas.microsoft.com/office/drawing/2014/main" id="{37C7E853-F500-A24B-BB04-FACB30CE1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052513"/>
            <a:ext cx="8802688" cy="526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dirty="0">
                <a:solidFill>
                  <a:schemeClr val="tx1"/>
                </a:solidFill>
              </a:rPr>
              <a:t>Il mezzo </a:t>
            </a:r>
            <a:r>
              <a:rPr lang="en-US" altLang="it-IT" dirty="0" err="1">
                <a:solidFill>
                  <a:schemeClr val="tx1"/>
                </a:solidFill>
              </a:rPr>
              <a:t>interstellare</a:t>
            </a:r>
            <a:r>
              <a:rPr lang="en-US" altLang="it-IT" dirty="0">
                <a:solidFill>
                  <a:schemeClr val="tx1"/>
                </a:solidFill>
              </a:rPr>
              <a:t> (ISM) non </a:t>
            </a:r>
            <a:r>
              <a:rPr lang="en-US" altLang="it-IT" dirty="0" err="1">
                <a:solidFill>
                  <a:schemeClr val="tx1"/>
                </a:solidFill>
              </a:rPr>
              <a:t>è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  <a:r>
              <a:rPr lang="en-US" altLang="it-IT" dirty="0" err="1">
                <a:solidFill>
                  <a:schemeClr val="tx1"/>
                </a:solidFill>
              </a:rPr>
              <a:t>vuoto</a:t>
            </a:r>
            <a:r>
              <a:rPr lang="en-US" altLang="it-IT" dirty="0">
                <a:solidFill>
                  <a:schemeClr val="tx1"/>
                </a:solidFill>
              </a:rPr>
              <a:t> ma </a:t>
            </a:r>
            <a:r>
              <a:rPr lang="en-US" altLang="it-IT" dirty="0" err="1">
                <a:solidFill>
                  <a:schemeClr val="tx1"/>
                </a:solidFill>
              </a:rPr>
              <a:t>è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  <a:r>
              <a:rPr lang="en-US" altLang="it-IT" dirty="0" err="1">
                <a:solidFill>
                  <a:schemeClr val="tx1"/>
                </a:solidFill>
              </a:rPr>
              <a:t>costituito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  <a:r>
              <a:rPr lang="en-US" altLang="it-IT" dirty="0" err="1">
                <a:solidFill>
                  <a:schemeClr val="tx1"/>
                </a:solidFill>
              </a:rPr>
              <a:t>principalmente</a:t>
            </a:r>
            <a:r>
              <a:rPr lang="en-US" altLang="it-IT" dirty="0">
                <a:solidFill>
                  <a:schemeClr val="tx1"/>
                </a:solidFill>
              </a:rPr>
              <a:t> da gas (~98%, </a:t>
            </a:r>
            <a:r>
              <a:rPr lang="en-US" altLang="it-IT" dirty="0" err="1">
                <a:solidFill>
                  <a:schemeClr val="tx1"/>
                </a:solidFill>
              </a:rPr>
              <a:t>principalmente</a:t>
            </a:r>
            <a:r>
              <a:rPr lang="en-US" altLang="it-IT" dirty="0">
                <a:solidFill>
                  <a:schemeClr val="tx1"/>
                </a:solidFill>
              </a:rPr>
              <a:t> H) e </a:t>
            </a:r>
            <a:r>
              <a:rPr lang="en-US" altLang="it-IT" dirty="0" err="1">
                <a:solidFill>
                  <a:schemeClr val="tx1"/>
                </a:solidFill>
              </a:rPr>
              <a:t>polveri</a:t>
            </a:r>
            <a:r>
              <a:rPr lang="en-US" altLang="it-IT" dirty="0">
                <a:solidFill>
                  <a:schemeClr val="tx1"/>
                </a:solidFill>
              </a:rPr>
              <a:t> (~ 2%).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dirty="0">
                <a:solidFill>
                  <a:schemeClr val="tx1"/>
                </a:solidFill>
              </a:rPr>
              <a:t>La </a:t>
            </a:r>
            <a:r>
              <a:rPr lang="en-US" altLang="it-IT" dirty="0" err="1">
                <a:solidFill>
                  <a:schemeClr val="tx1"/>
                </a:solidFill>
              </a:rPr>
              <a:t>componente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  <a:r>
              <a:rPr lang="en-US" altLang="it-IT" dirty="0" err="1">
                <a:solidFill>
                  <a:schemeClr val="tx1"/>
                </a:solidFill>
              </a:rPr>
              <a:t>solida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  <a:r>
              <a:rPr lang="en-US" altLang="it-IT" dirty="0" err="1">
                <a:solidFill>
                  <a:schemeClr val="tx1"/>
                </a:solidFill>
              </a:rPr>
              <a:t>dell</a:t>
            </a:r>
            <a:r>
              <a:rPr lang="en-US" altLang="en-GB" dirty="0" err="1">
                <a:solidFill>
                  <a:schemeClr val="tx1"/>
                </a:solidFill>
              </a:rPr>
              <a:t>’</a:t>
            </a:r>
            <a:r>
              <a:rPr lang="en-US" altLang="it-IT" dirty="0" err="1">
                <a:solidFill>
                  <a:schemeClr val="tx1"/>
                </a:solidFill>
              </a:rPr>
              <a:t>ISM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  <a:r>
              <a:rPr lang="en-US" altLang="it-IT" dirty="0" err="1">
                <a:solidFill>
                  <a:schemeClr val="tx1"/>
                </a:solidFill>
              </a:rPr>
              <a:t>è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  <a:r>
              <a:rPr lang="en-US" altLang="it-IT" dirty="0" err="1">
                <a:solidFill>
                  <a:schemeClr val="tx1"/>
                </a:solidFill>
              </a:rPr>
              <a:t>costituita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  <a:r>
              <a:rPr lang="en-US" altLang="it-IT" dirty="0" err="1">
                <a:solidFill>
                  <a:schemeClr val="tx1"/>
                </a:solidFill>
              </a:rPr>
              <a:t>principalmente</a:t>
            </a:r>
            <a:r>
              <a:rPr lang="en-US" altLang="it-IT" dirty="0">
                <a:solidFill>
                  <a:schemeClr val="tx1"/>
                </a:solidFill>
              </a:rPr>
              <a:t> da </a:t>
            </a:r>
            <a:r>
              <a:rPr lang="en-US" altLang="it-IT" dirty="0" err="1">
                <a:solidFill>
                  <a:schemeClr val="tx1"/>
                </a:solidFill>
              </a:rPr>
              <a:t>silicati</a:t>
            </a:r>
            <a:r>
              <a:rPr lang="en-US" altLang="it-IT" dirty="0">
                <a:solidFill>
                  <a:schemeClr val="tx1"/>
                </a:solidFill>
              </a:rPr>
              <a:t>, </a:t>
            </a:r>
            <a:r>
              <a:rPr lang="en-US" altLang="it-IT" dirty="0" err="1">
                <a:solidFill>
                  <a:schemeClr val="tx1"/>
                </a:solidFill>
              </a:rPr>
              <a:t>carbonati</a:t>
            </a:r>
            <a:r>
              <a:rPr lang="en-US" altLang="it-IT" dirty="0">
                <a:solidFill>
                  <a:schemeClr val="tx1"/>
                </a:solidFill>
              </a:rPr>
              <a:t> (</a:t>
            </a:r>
            <a:r>
              <a:rPr lang="en-US" altLang="it-IT" dirty="0" err="1">
                <a:solidFill>
                  <a:schemeClr val="tx1"/>
                </a:solidFill>
              </a:rPr>
              <a:t>grafite</a:t>
            </a:r>
            <a:r>
              <a:rPr lang="en-US" altLang="it-IT" dirty="0">
                <a:solidFill>
                  <a:schemeClr val="tx1"/>
                </a:solidFill>
              </a:rPr>
              <a:t>, </a:t>
            </a:r>
            <a:r>
              <a:rPr lang="en-US" altLang="it-IT" dirty="0" err="1">
                <a:solidFill>
                  <a:schemeClr val="tx1"/>
                </a:solidFill>
              </a:rPr>
              <a:t>idrocarburi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  <a:r>
              <a:rPr lang="en-US" altLang="it-IT" dirty="0" err="1">
                <a:solidFill>
                  <a:schemeClr val="tx1"/>
                </a:solidFill>
              </a:rPr>
              <a:t>policiclici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  <a:r>
              <a:rPr lang="en-US" altLang="it-IT" dirty="0" err="1">
                <a:solidFill>
                  <a:schemeClr val="tx1"/>
                </a:solidFill>
              </a:rPr>
              <a:t>aromatici</a:t>
            </a:r>
            <a:r>
              <a:rPr lang="en-US" altLang="it-IT" dirty="0">
                <a:solidFill>
                  <a:schemeClr val="tx1"/>
                </a:solidFill>
              </a:rPr>
              <a:t> etc.) e </a:t>
            </a:r>
            <a:r>
              <a:rPr lang="en-US" altLang="it-IT" dirty="0" err="1">
                <a:solidFill>
                  <a:schemeClr val="tx1"/>
                </a:solidFill>
              </a:rPr>
              <a:t>ghiaccio</a:t>
            </a:r>
            <a:r>
              <a:rPr lang="en-US" altLang="it-IT" dirty="0">
                <a:solidFill>
                  <a:schemeClr val="tx1"/>
                </a:solidFill>
              </a:rPr>
              <a:t> (</a:t>
            </a:r>
            <a:r>
              <a:rPr lang="en-US" altLang="it-IT" dirty="0" err="1">
                <a:solidFill>
                  <a:schemeClr val="tx1"/>
                </a:solidFill>
              </a:rPr>
              <a:t>acqua</a:t>
            </a:r>
            <a:r>
              <a:rPr lang="en-US" altLang="it-IT" dirty="0">
                <a:solidFill>
                  <a:schemeClr val="tx1"/>
                </a:solidFill>
              </a:rPr>
              <a:t>, CO, </a:t>
            </a:r>
            <a:r>
              <a:rPr lang="en-US" altLang="it-IT" dirty="0" err="1">
                <a:solidFill>
                  <a:schemeClr val="tx1"/>
                </a:solidFill>
              </a:rPr>
              <a:t>etc</a:t>
            </a:r>
            <a:r>
              <a:rPr lang="en-US" altLang="it-IT" dirty="0">
                <a:solidFill>
                  <a:schemeClr val="tx1"/>
                </a:solidFill>
              </a:rPr>
              <a:t>).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dirty="0" err="1">
                <a:solidFill>
                  <a:schemeClr val="tx1"/>
                </a:solidFill>
              </a:rPr>
              <a:t>Attraversando</a:t>
            </a:r>
            <a:r>
              <a:rPr lang="en-US" altLang="it-IT" dirty="0">
                <a:solidFill>
                  <a:schemeClr val="tx1"/>
                </a:solidFill>
              </a:rPr>
              <a:t> l</a:t>
            </a:r>
            <a:r>
              <a:rPr lang="en-US" altLang="en-GB" dirty="0">
                <a:solidFill>
                  <a:schemeClr val="tx1"/>
                </a:solidFill>
              </a:rPr>
              <a:t>’</a:t>
            </a:r>
            <a:r>
              <a:rPr lang="en-US" altLang="it-IT" dirty="0">
                <a:solidFill>
                  <a:schemeClr val="tx1"/>
                </a:solidFill>
              </a:rPr>
              <a:t> ISM la </a:t>
            </a:r>
            <a:r>
              <a:rPr lang="en-US" altLang="it-IT" dirty="0" err="1">
                <a:solidFill>
                  <a:schemeClr val="tx1"/>
                </a:solidFill>
              </a:rPr>
              <a:t>radiazione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  <a:r>
              <a:rPr lang="en-US" altLang="it-IT" dirty="0" err="1">
                <a:solidFill>
                  <a:schemeClr val="tx1"/>
                </a:solidFill>
              </a:rPr>
              <a:t>può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  <a:r>
              <a:rPr lang="en-US" altLang="it-IT" dirty="0" err="1">
                <a:solidFill>
                  <a:schemeClr val="tx1"/>
                </a:solidFill>
              </a:rPr>
              <a:t>essere</a:t>
            </a:r>
            <a:r>
              <a:rPr lang="en-US" altLang="it-IT" dirty="0">
                <a:solidFill>
                  <a:schemeClr val="tx1"/>
                </a:solidFill>
              </a:rPr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it-IT" dirty="0" err="1">
                <a:solidFill>
                  <a:schemeClr val="tx1"/>
                </a:solidFill>
              </a:rPr>
              <a:t>assorbita</a:t>
            </a:r>
            <a:r>
              <a:rPr lang="en-US" altLang="it-IT" dirty="0">
                <a:solidFill>
                  <a:schemeClr val="tx1"/>
                </a:solidFill>
              </a:rPr>
              <a:t> ( e poi </a:t>
            </a:r>
            <a:r>
              <a:rPr lang="en-US" altLang="it-IT" dirty="0" err="1">
                <a:solidFill>
                  <a:schemeClr val="tx1"/>
                </a:solidFill>
              </a:rPr>
              <a:t>riemessa</a:t>
            </a:r>
            <a:r>
              <a:rPr lang="en-US" altLang="it-IT" dirty="0">
                <a:solidFill>
                  <a:schemeClr val="tx1"/>
                </a:solidFill>
              </a:rPr>
              <a:t> ad un</a:t>
            </a:r>
            <a:r>
              <a:rPr lang="ja-JP" altLang="en-US">
                <a:solidFill>
                  <a:schemeClr val="tx1"/>
                </a:solidFill>
              </a:rPr>
              <a:t>’</a:t>
            </a:r>
            <a:r>
              <a:rPr lang="en-US" altLang="ja-JP" dirty="0" err="1">
                <a:solidFill>
                  <a:schemeClr val="tx1"/>
                </a:solidFill>
              </a:rPr>
              <a:t>altra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lang="en-US" altLang="ja-JP" dirty="0" err="1">
                <a:solidFill>
                  <a:schemeClr val="tx1"/>
                </a:solidFill>
              </a:rPr>
              <a:t>frequenza</a:t>
            </a:r>
            <a:r>
              <a:rPr lang="en-US" altLang="ja-JP" dirty="0">
                <a:solidFill>
                  <a:schemeClr val="tx1"/>
                </a:solidFill>
              </a:rPr>
              <a:t>)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ja-JP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ja-JP" dirty="0" err="1">
                <a:solidFill>
                  <a:schemeClr val="tx1"/>
                </a:solidFill>
              </a:rPr>
              <a:t>diffusa</a:t>
            </a:r>
            <a:r>
              <a:rPr lang="en-US" altLang="ja-JP" dirty="0">
                <a:solidFill>
                  <a:schemeClr val="tx1"/>
                </a:solidFill>
              </a:rPr>
              <a:t> (scattering, </a:t>
            </a:r>
            <a:r>
              <a:rPr lang="en-US" altLang="ja-JP" dirty="0" err="1">
                <a:solidFill>
                  <a:schemeClr val="tx1"/>
                </a:solidFill>
              </a:rPr>
              <a:t>assorbita</a:t>
            </a:r>
            <a:r>
              <a:rPr lang="en-US" altLang="ja-JP" dirty="0">
                <a:solidFill>
                  <a:schemeClr val="tx1"/>
                </a:solidFill>
              </a:rPr>
              <a:t> e </a:t>
            </a:r>
            <a:r>
              <a:rPr lang="en-US" altLang="ja-JP" dirty="0" err="1">
                <a:solidFill>
                  <a:schemeClr val="tx1"/>
                </a:solidFill>
              </a:rPr>
              <a:t>riemessa</a:t>
            </a:r>
            <a:r>
              <a:rPr lang="en-US" altLang="ja-JP" dirty="0">
                <a:solidFill>
                  <a:schemeClr val="tx1"/>
                </a:solidFill>
              </a:rPr>
              <a:t> in un</a:t>
            </a:r>
            <a:r>
              <a:rPr lang="ja-JP" altLang="en-US">
                <a:solidFill>
                  <a:schemeClr val="tx1"/>
                </a:solidFill>
              </a:rPr>
              <a:t>’</a:t>
            </a:r>
            <a:r>
              <a:rPr lang="en-US" altLang="ja-JP" dirty="0" err="1">
                <a:solidFill>
                  <a:schemeClr val="tx1"/>
                </a:solidFill>
              </a:rPr>
              <a:t>altra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lang="en-US" altLang="ja-JP" dirty="0" err="1">
                <a:solidFill>
                  <a:schemeClr val="tx1"/>
                </a:solidFill>
              </a:rPr>
              <a:t>direzione</a:t>
            </a:r>
            <a:r>
              <a:rPr lang="en-US" altLang="ja-JP" dirty="0">
                <a:solidFill>
                  <a:schemeClr val="tx1"/>
                </a:solidFill>
              </a:rPr>
              <a:t>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E637B-7C40-036C-BD2F-08EDFA9B0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Interstellar Medium (ISM)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B58653-E350-2023-1D7E-1D66891DB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7472"/>
            <a:ext cx="9144000" cy="504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84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olo 1">
            <a:extLst>
              <a:ext uri="{FF2B5EF4-FFF2-40B4-BE49-F238E27FC236}">
                <a16:creationId xmlns:a16="http://schemas.microsoft.com/office/drawing/2014/main" id="{0DEDF53F-56F0-814B-9184-4133568E97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Interazione radiazione polvere</a:t>
            </a:r>
          </a:p>
        </p:txBody>
      </p:sp>
      <p:sp>
        <p:nvSpPr>
          <p:cNvPr id="23554" name="Rettangolo 2">
            <a:extLst>
              <a:ext uri="{FF2B5EF4-FFF2-40B4-BE49-F238E27FC236}">
                <a16:creationId xmlns:a16="http://schemas.microsoft.com/office/drawing/2014/main" id="{1A2A6D0D-C100-6E44-B669-22FAD99F8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9" y="692696"/>
            <a:ext cx="8802688" cy="6345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2300" dirty="0">
                <a:solidFill>
                  <a:schemeClr val="tx1"/>
                </a:solidFill>
              </a:rPr>
              <a:t>Se </a:t>
            </a:r>
            <a:r>
              <a:rPr lang="en-US" altLang="it-IT" sz="2300" dirty="0" err="1">
                <a:solidFill>
                  <a:schemeClr val="tx1"/>
                </a:solidFill>
              </a:rPr>
              <a:t>assimiliamo</a:t>
            </a:r>
            <a:r>
              <a:rPr lang="en-US" altLang="it-IT" sz="2300" dirty="0">
                <a:solidFill>
                  <a:schemeClr val="tx1"/>
                </a:solidFill>
              </a:rPr>
              <a:t> un grano di </a:t>
            </a:r>
            <a:r>
              <a:rPr lang="en-US" altLang="it-IT" sz="2300" dirty="0" err="1">
                <a:solidFill>
                  <a:schemeClr val="tx1"/>
                </a:solidFill>
              </a:rPr>
              <a:t>polvere</a:t>
            </a:r>
            <a:r>
              <a:rPr lang="en-US" altLang="it-IT" sz="2300" dirty="0">
                <a:solidFill>
                  <a:schemeClr val="tx1"/>
                </a:solidFill>
              </a:rPr>
              <a:t> ad </a:t>
            </a:r>
            <a:r>
              <a:rPr lang="en-US" altLang="it-IT" sz="2300" dirty="0" err="1">
                <a:solidFill>
                  <a:schemeClr val="tx1"/>
                </a:solidFill>
              </a:rPr>
              <a:t>una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sferetta</a:t>
            </a:r>
            <a:r>
              <a:rPr lang="en-US" altLang="it-IT" sz="2300" dirty="0">
                <a:solidFill>
                  <a:schemeClr val="tx1"/>
                </a:solidFill>
              </a:rPr>
              <a:t> di </a:t>
            </a:r>
            <a:r>
              <a:rPr lang="en-US" altLang="it-IT" sz="2300" dirty="0" err="1">
                <a:solidFill>
                  <a:schemeClr val="tx1"/>
                </a:solidFill>
              </a:rPr>
              <a:t>raggio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en-GB" sz="2300" dirty="0">
                <a:solidFill>
                  <a:schemeClr val="tx1"/>
                </a:solidFill>
              </a:rPr>
              <a:t>‘</a:t>
            </a:r>
            <a:r>
              <a:rPr lang="en-US" altLang="it-IT" sz="2300" dirty="0">
                <a:solidFill>
                  <a:schemeClr val="tx1"/>
                </a:solidFill>
              </a:rPr>
              <a:t>a</a:t>
            </a:r>
            <a:r>
              <a:rPr lang="en-US" altLang="en-GB" sz="2300" dirty="0">
                <a:solidFill>
                  <a:schemeClr val="tx1"/>
                </a:solidFill>
              </a:rPr>
              <a:t>’,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esso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si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comporta</a:t>
            </a:r>
            <a:r>
              <a:rPr lang="en-US" altLang="it-IT" sz="2300" dirty="0">
                <a:solidFill>
                  <a:schemeClr val="tx1"/>
                </a:solidFill>
              </a:rPr>
              <a:t> come un </a:t>
            </a:r>
            <a:r>
              <a:rPr lang="en-US" altLang="it-IT" sz="2300" dirty="0" err="1">
                <a:solidFill>
                  <a:schemeClr val="tx1"/>
                </a:solidFill>
              </a:rPr>
              <a:t>bersaglio</a:t>
            </a:r>
            <a:r>
              <a:rPr lang="en-US" altLang="it-IT" sz="2300" dirty="0">
                <a:solidFill>
                  <a:schemeClr val="tx1"/>
                </a:solidFill>
              </a:rPr>
              <a:t> per la </a:t>
            </a:r>
            <a:r>
              <a:rPr lang="en-US" altLang="it-IT" sz="2300" dirty="0" err="1">
                <a:solidFill>
                  <a:schemeClr val="tx1"/>
                </a:solidFill>
              </a:rPr>
              <a:t>radiazione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avente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una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superficie</a:t>
            </a:r>
            <a:r>
              <a:rPr lang="en-US" altLang="it-IT" sz="2300" dirty="0">
                <a:solidFill>
                  <a:schemeClr val="tx1"/>
                </a:solidFill>
              </a:rPr>
              <a:t> (</a:t>
            </a:r>
            <a:r>
              <a:rPr lang="en-US" altLang="it-IT" sz="2300" dirty="0" err="1">
                <a:solidFill>
                  <a:schemeClr val="tx1"/>
                </a:solidFill>
              </a:rPr>
              <a:t>sezione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d</a:t>
            </a:r>
            <a:r>
              <a:rPr lang="en-US" altLang="en-GB" sz="2300" dirty="0" err="1">
                <a:solidFill>
                  <a:schemeClr val="tx1"/>
                </a:solidFill>
              </a:rPr>
              <a:t>’</a:t>
            </a:r>
            <a:r>
              <a:rPr lang="en-US" altLang="it-IT" sz="2300" dirty="0" err="1">
                <a:solidFill>
                  <a:schemeClr val="tx1"/>
                </a:solidFill>
              </a:rPr>
              <a:t>urto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geometrica</a:t>
            </a:r>
            <a:r>
              <a:rPr lang="en-US" altLang="it-IT" sz="2300" dirty="0">
                <a:solidFill>
                  <a:schemeClr val="tx1"/>
                </a:solidFill>
              </a:rPr>
              <a:t>) </a:t>
            </a:r>
            <a:r>
              <a:rPr lang="en-US" altLang="it-IT" sz="2300" dirty="0">
                <a:solidFill>
                  <a:schemeClr val="tx1"/>
                </a:solidFill>
                <a:latin typeface="Symbol" pitchFamily="2" charset="2"/>
              </a:rPr>
              <a:t>s</a:t>
            </a:r>
            <a:r>
              <a:rPr lang="en-US" altLang="it-IT" sz="2300" dirty="0">
                <a:solidFill>
                  <a:schemeClr val="tx1"/>
                </a:solidFill>
              </a:rPr>
              <a:t> = </a:t>
            </a:r>
            <a:r>
              <a:rPr lang="en-US" altLang="it-IT" sz="2300" dirty="0">
                <a:solidFill>
                  <a:schemeClr val="tx1"/>
                </a:solidFill>
                <a:latin typeface="Symbol" pitchFamily="2" charset="2"/>
              </a:rPr>
              <a:t>p</a:t>
            </a:r>
            <a:r>
              <a:rPr lang="en-US" altLang="it-IT" sz="2300" dirty="0">
                <a:solidFill>
                  <a:schemeClr val="tx1"/>
                </a:solidFill>
              </a:rPr>
              <a:t>a</a:t>
            </a:r>
            <a:r>
              <a:rPr lang="en-US" altLang="it-IT" sz="2300" baseline="30000" dirty="0">
                <a:solidFill>
                  <a:schemeClr val="tx1"/>
                </a:solidFill>
              </a:rPr>
              <a:t>2</a:t>
            </a:r>
            <a:r>
              <a:rPr lang="en-US" altLang="it-IT" sz="2300" dirty="0">
                <a:solidFill>
                  <a:schemeClr val="tx1"/>
                </a:solidFill>
              </a:rPr>
              <a:t>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 sz="2300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2300" dirty="0" err="1">
                <a:solidFill>
                  <a:schemeClr val="tx1"/>
                </a:solidFill>
              </a:rPr>
              <a:t>L</a:t>
            </a:r>
            <a:r>
              <a:rPr lang="en-US" altLang="en-GB" sz="2300" dirty="0" err="1">
                <a:solidFill>
                  <a:schemeClr val="tx1"/>
                </a:solidFill>
              </a:rPr>
              <a:t>’</a:t>
            </a:r>
            <a:r>
              <a:rPr lang="en-US" altLang="it-IT" sz="2300" dirty="0" err="1">
                <a:solidFill>
                  <a:schemeClr val="tx1"/>
                </a:solidFill>
              </a:rPr>
              <a:t>efficienza</a:t>
            </a:r>
            <a:r>
              <a:rPr lang="en-US" altLang="it-IT" sz="2300" dirty="0">
                <a:solidFill>
                  <a:schemeClr val="tx1"/>
                </a:solidFill>
              </a:rPr>
              <a:t> con cui la </a:t>
            </a:r>
            <a:r>
              <a:rPr lang="en-US" altLang="it-IT" sz="2300" dirty="0" err="1">
                <a:solidFill>
                  <a:schemeClr val="tx1"/>
                </a:solidFill>
              </a:rPr>
              <a:t>radiazione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interagisce</a:t>
            </a:r>
            <a:r>
              <a:rPr lang="en-US" altLang="it-IT" sz="2300" dirty="0">
                <a:solidFill>
                  <a:schemeClr val="tx1"/>
                </a:solidFill>
              </a:rPr>
              <a:t> con la </a:t>
            </a:r>
            <a:r>
              <a:rPr lang="en-US" altLang="it-IT" sz="2300" dirty="0" err="1">
                <a:solidFill>
                  <a:schemeClr val="tx1"/>
                </a:solidFill>
              </a:rPr>
              <a:t>polvere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viene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rappresentata</a:t>
            </a:r>
            <a:r>
              <a:rPr lang="en-US" altLang="it-IT" sz="2300" dirty="0">
                <a:solidFill>
                  <a:schemeClr val="tx1"/>
                </a:solidFill>
              </a:rPr>
              <a:t> da un </a:t>
            </a:r>
            <a:r>
              <a:rPr lang="en-US" altLang="it-IT" sz="2300" dirty="0" err="1">
                <a:solidFill>
                  <a:schemeClr val="tx1"/>
                </a:solidFill>
              </a:rPr>
              <a:t>coefficiente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Q</a:t>
            </a:r>
            <a:r>
              <a:rPr lang="en-US" altLang="it-IT" sz="2300" baseline="-25000" dirty="0" err="1">
                <a:solidFill>
                  <a:schemeClr val="tx1"/>
                </a:solidFill>
              </a:rPr>
              <a:t>ext</a:t>
            </a:r>
            <a:r>
              <a:rPr lang="en-US" altLang="it-IT" sz="2300" dirty="0">
                <a:solidFill>
                  <a:schemeClr val="tx1"/>
                </a:solidFill>
              </a:rPr>
              <a:t>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 sz="2300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2300" dirty="0" err="1">
                <a:solidFill>
                  <a:schemeClr val="tx1"/>
                </a:solidFill>
              </a:rPr>
              <a:t>Possiamo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isolare</a:t>
            </a:r>
            <a:r>
              <a:rPr lang="en-US" altLang="it-IT" sz="2300" dirty="0">
                <a:solidFill>
                  <a:schemeClr val="tx1"/>
                </a:solidFill>
              </a:rPr>
              <a:t> due </a:t>
            </a:r>
            <a:r>
              <a:rPr lang="en-US" altLang="it-IT" sz="2300" dirty="0" err="1">
                <a:solidFill>
                  <a:schemeClr val="tx1"/>
                </a:solidFill>
              </a:rPr>
              <a:t>casi</a:t>
            </a:r>
            <a:r>
              <a:rPr lang="en-US" altLang="it-IT" sz="2300" dirty="0">
                <a:solidFill>
                  <a:schemeClr val="tx1"/>
                </a:solidFill>
              </a:rPr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 sz="2300" baseline="-25000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it-IT" sz="2300" dirty="0">
                <a:solidFill>
                  <a:schemeClr val="tx1"/>
                </a:solidFill>
              </a:rPr>
              <a:t>a &lt;&lt; </a:t>
            </a:r>
            <a:r>
              <a:rPr lang="en-US" altLang="it-IT" sz="2300" dirty="0">
                <a:solidFill>
                  <a:schemeClr val="tx1"/>
                </a:solidFill>
                <a:latin typeface="Symbol" pitchFamily="2" charset="2"/>
              </a:rPr>
              <a:t>l </a:t>
            </a:r>
            <a:r>
              <a:rPr lang="en-US" altLang="it-IT" sz="2300" dirty="0">
                <a:solidFill>
                  <a:schemeClr val="tx1"/>
                </a:solidFill>
              </a:rPr>
              <a:t>:     Rayleigh scattering   </a:t>
            </a:r>
            <a:r>
              <a:rPr lang="en-US" altLang="it-IT" sz="2300" dirty="0" err="1">
                <a:solidFill>
                  <a:schemeClr val="tx1"/>
                </a:solidFill>
              </a:rPr>
              <a:t>Q</a:t>
            </a:r>
            <a:r>
              <a:rPr lang="en-US" altLang="it-IT" sz="2300" baseline="-25000" dirty="0" err="1">
                <a:solidFill>
                  <a:schemeClr val="tx1"/>
                </a:solidFill>
              </a:rPr>
              <a:t>ext</a:t>
            </a:r>
            <a:r>
              <a:rPr lang="en-US" altLang="it-IT" sz="2300" baseline="-25000" dirty="0">
                <a:solidFill>
                  <a:schemeClr val="tx1"/>
                </a:solidFill>
              </a:rPr>
              <a:t> </a:t>
            </a:r>
            <a:r>
              <a:rPr lang="en-US" altLang="it-IT" sz="2300" dirty="0">
                <a:solidFill>
                  <a:schemeClr val="tx1"/>
                </a:solidFill>
              </a:rPr>
              <a:t>~ </a:t>
            </a:r>
            <a:r>
              <a:rPr lang="en-US" altLang="it-IT" sz="2300" dirty="0">
                <a:solidFill>
                  <a:schemeClr val="tx1"/>
                </a:solidFill>
                <a:latin typeface="Symbol" pitchFamily="2" charset="2"/>
              </a:rPr>
              <a:t>l</a:t>
            </a:r>
            <a:r>
              <a:rPr lang="en-US" altLang="it-IT" sz="2300" baseline="30000" dirty="0">
                <a:solidFill>
                  <a:schemeClr val="tx1"/>
                </a:solidFill>
              </a:rPr>
              <a:t>-4 </a:t>
            </a:r>
            <a:r>
              <a:rPr lang="en-US" altLang="it-IT" sz="2300" dirty="0" err="1">
                <a:solidFill>
                  <a:schemeClr val="tx1"/>
                </a:solidFill>
              </a:rPr>
              <a:t>spiega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perchè</a:t>
            </a:r>
            <a:r>
              <a:rPr lang="en-US" altLang="it-IT" sz="2300" dirty="0">
                <a:solidFill>
                  <a:schemeClr val="tx1"/>
                </a:solidFill>
              </a:rPr>
              <a:t> il Cielo è </a:t>
            </a:r>
            <a:r>
              <a:rPr lang="en-US" altLang="it-IT" sz="2300" dirty="0" err="1">
                <a:solidFill>
                  <a:schemeClr val="tx1"/>
                </a:solidFill>
              </a:rPr>
              <a:t>blu</a:t>
            </a:r>
            <a:r>
              <a:rPr lang="en-US" altLang="it-IT" sz="2300" dirty="0">
                <a:solidFill>
                  <a:schemeClr val="tx1"/>
                </a:solidFill>
              </a:rPr>
              <a:t> (la luce </a:t>
            </a:r>
            <a:r>
              <a:rPr lang="en-US" altLang="it-IT" sz="2300" dirty="0" err="1">
                <a:solidFill>
                  <a:schemeClr val="tx1"/>
                </a:solidFill>
              </a:rPr>
              <a:t>blu</a:t>
            </a:r>
            <a:r>
              <a:rPr lang="en-US" altLang="it-IT" sz="2300" dirty="0">
                <a:solidFill>
                  <a:schemeClr val="tx1"/>
                </a:solidFill>
              </a:rPr>
              <a:t> è </a:t>
            </a:r>
            <a:r>
              <a:rPr lang="en-US" altLang="it-IT" sz="2300" dirty="0" err="1">
                <a:solidFill>
                  <a:schemeClr val="tx1"/>
                </a:solidFill>
              </a:rPr>
              <a:t>più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diffusa</a:t>
            </a:r>
            <a:r>
              <a:rPr lang="en-US" altLang="it-IT" sz="2300" dirty="0">
                <a:solidFill>
                  <a:schemeClr val="tx1"/>
                </a:solidFill>
              </a:rPr>
              <a:t> della luce delle </a:t>
            </a:r>
            <a:r>
              <a:rPr lang="en-US" altLang="it-IT" sz="2300" dirty="0" err="1">
                <a:solidFill>
                  <a:schemeClr val="tx1"/>
                </a:solidFill>
              </a:rPr>
              <a:t>altre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frequenze</a:t>
            </a:r>
            <a:r>
              <a:rPr lang="en-US" altLang="it-IT" sz="2300" dirty="0">
                <a:solidFill>
                  <a:schemeClr val="tx1"/>
                </a:solidFill>
              </a:rPr>
              <a:t>) e </a:t>
            </a:r>
            <a:r>
              <a:rPr lang="en-US" altLang="it-IT" sz="2300" dirty="0" err="1">
                <a:solidFill>
                  <a:schemeClr val="tx1"/>
                </a:solidFill>
              </a:rPr>
              <a:t>perchè</a:t>
            </a:r>
            <a:r>
              <a:rPr lang="en-US" altLang="it-IT" sz="2300" dirty="0">
                <a:solidFill>
                  <a:schemeClr val="tx1"/>
                </a:solidFill>
              </a:rPr>
              <a:t> al </a:t>
            </a:r>
            <a:r>
              <a:rPr lang="en-US" altLang="it-IT" sz="2300" dirty="0" err="1">
                <a:solidFill>
                  <a:schemeClr val="tx1"/>
                </a:solidFill>
              </a:rPr>
              <a:t>tramonto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nuvole</a:t>
            </a:r>
            <a:r>
              <a:rPr lang="en-US" altLang="it-IT" sz="2300" dirty="0">
                <a:solidFill>
                  <a:schemeClr val="tx1"/>
                </a:solidFill>
              </a:rPr>
              <a:t> e </a:t>
            </a:r>
            <a:r>
              <a:rPr lang="en-US" altLang="it-IT" sz="2300" dirty="0" err="1">
                <a:solidFill>
                  <a:schemeClr val="tx1"/>
                </a:solidFill>
              </a:rPr>
              <a:t>altri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oggetti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appaiono</a:t>
            </a:r>
            <a:r>
              <a:rPr lang="en-US" altLang="it-IT" sz="2300" dirty="0">
                <a:solidFill>
                  <a:schemeClr val="tx1"/>
                </a:solidFill>
              </a:rPr>
              <a:t> rossi (in </a:t>
            </a:r>
            <a:r>
              <a:rPr lang="en-US" altLang="it-IT" sz="2300" dirty="0" err="1">
                <a:solidFill>
                  <a:schemeClr val="tx1"/>
                </a:solidFill>
              </a:rPr>
              <a:t>questo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caso</a:t>
            </a:r>
            <a:r>
              <a:rPr lang="en-US" altLang="it-IT" sz="2300" dirty="0">
                <a:solidFill>
                  <a:schemeClr val="tx1"/>
                </a:solidFill>
              </a:rPr>
              <a:t> solo la luce </a:t>
            </a:r>
            <a:r>
              <a:rPr lang="en-US" altLang="it-IT" sz="2300" dirty="0" err="1">
                <a:solidFill>
                  <a:schemeClr val="tx1"/>
                </a:solidFill>
              </a:rPr>
              <a:t>solare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rossa</a:t>
            </a:r>
            <a:r>
              <a:rPr lang="en-US" altLang="it-IT" sz="2300" dirty="0">
                <a:solidFill>
                  <a:schemeClr val="tx1"/>
                </a:solidFill>
              </a:rPr>
              <a:t> non </a:t>
            </a:r>
            <a:r>
              <a:rPr lang="en-US" altLang="it-IT" sz="2300" dirty="0" err="1">
                <a:solidFill>
                  <a:schemeClr val="tx1"/>
                </a:solidFill>
              </a:rPr>
              <a:t>viene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diffusa</a:t>
            </a:r>
            <a:r>
              <a:rPr lang="en-US" altLang="it-IT" sz="2300" dirty="0">
                <a:solidFill>
                  <a:schemeClr val="tx1"/>
                </a:solidFill>
              </a:rPr>
              <a:t>).</a:t>
            </a:r>
            <a:endParaRPr lang="en-US" altLang="it-IT" sz="2300" baseline="30000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en-US" altLang="it-IT" sz="2300" baseline="30000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en-US" altLang="it-IT" sz="2300" baseline="30000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it-IT" sz="2300" dirty="0">
                <a:solidFill>
                  <a:schemeClr val="tx1"/>
                </a:solidFill>
              </a:rPr>
              <a:t>a &gt;= </a:t>
            </a:r>
            <a:r>
              <a:rPr lang="en-US" altLang="it-IT" sz="2300" dirty="0">
                <a:solidFill>
                  <a:schemeClr val="tx1"/>
                </a:solidFill>
                <a:latin typeface="Symbol" pitchFamily="2" charset="2"/>
              </a:rPr>
              <a:t>l :      </a:t>
            </a:r>
            <a:r>
              <a:rPr lang="en-US" altLang="it-IT" sz="2300" dirty="0">
                <a:solidFill>
                  <a:schemeClr val="tx1"/>
                </a:solidFill>
              </a:rPr>
              <a:t>Mie Scattering  </a:t>
            </a:r>
            <a:r>
              <a:rPr lang="en-US" altLang="it-IT" sz="2300" dirty="0" err="1">
                <a:solidFill>
                  <a:schemeClr val="tx1"/>
                </a:solidFill>
              </a:rPr>
              <a:t>Q</a:t>
            </a:r>
            <a:r>
              <a:rPr lang="en-US" altLang="it-IT" sz="2300" baseline="-25000" dirty="0" err="1">
                <a:solidFill>
                  <a:schemeClr val="tx1"/>
                </a:solidFill>
              </a:rPr>
              <a:t>ext</a:t>
            </a:r>
            <a:r>
              <a:rPr lang="en-US" altLang="it-IT" sz="2300" dirty="0">
                <a:solidFill>
                  <a:schemeClr val="tx1"/>
                </a:solidFill>
              </a:rPr>
              <a:t> non </a:t>
            </a:r>
            <a:r>
              <a:rPr lang="en-US" altLang="it-IT" sz="2300" dirty="0" err="1">
                <a:solidFill>
                  <a:schemeClr val="tx1"/>
                </a:solidFill>
              </a:rPr>
              <a:t>dipende</a:t>
            </a:r>
            <a:r>
              <a:rPr lang="en-US" altLang="it-IT" sz="2300" dirty="0">
                <a:solidFill>
                  <a:schemeClr val="tx1"/>
                </a:solidFill>
              </a:rPr>
              <a:t> fortemente da </a:t>
            </a:r>
            <a:r>
              <a:rPr lang="en-US" altLang="it-IT" sz="2300" dirty="0">
                <a:solidFill>
                  <a:schemeClr val="tx1"/>
                </a:solidFill>
                <a:latin typeface="Symbol" pitchFamily="2" charset="2"/>
              </a:rPr>
              <a:t>l </a:t>
            </a:r>
            <a:r>
              <a:rPr lang="en-US" altLang="it-IT" sz="2300" dirty="0" err="1">
                <a:solidFill>
                  <a:schemeClr val="tx1"/>
                </a:solidFill>
              </a:rPr>
              <a:t>spiega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perchè</a:t>
            </a:r>
            <a:r>
              <a:rPr lang="en-US" altLang="it-IT" sz="2300" dirty="0">
                <a:solidFill>
                  <a:schemeClr val="tx1"/>
                </a:solidFill>
              </a:rPr>
              <a:t> le </a:t>
            </a:r>
            <a:r>
              <a:rPr lang="en-US" altLang="it-IT" sz="2300" dirty="0" err="1">
                <a:solidFill>
                  <a:schemeClr val="tx1"/>
                </a:solidFill>
              </a:rPr>
              <a:t>nuvole</a:t>
            </a:r>
            <a:r>
              <a:rPr lang="en-US" altLang="it-IT" sz="2300" dirty="0">
                <a:solidFill>
                  <a:schemeClr val="tx1"/>
                </a:solidFill>
              </a:rPr>
              <a:t> e la </a:t>
            </a:r>
            <a:r>
              <a:rPr lang="en-US" altLang="it-IT" sz="2300" dirty="0" err="1">
                <a:solidFill>
                  <a:schemeClr val="tx1"/>
                </a:solidFill>
              </a:rPr>
              <a:t>nebbia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appaiono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bianche</a:t>
            </a:r>
            <a:r>
              <a:rPr lang="en-US" altLang="it-IT" sz="2300" dirty="0">
                <a:solidFill>
                  <a:schemeClr val="tx1"/>
                </a:solidFill>
              </a:rPr>
              <a:t> (la luce di ogni </a:t>
            </a:r>
            <a:r>
              <a:rPr lang="en-US" altLang="it-IT" sz="2300" dirty="0" err="1">
                <a:solidFill>
                  <a:schemeClr val="tx1"/>
                </a:solidFill>
              </a:rPr>
              <a:t>frequenza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viene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diffusa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allo</a:t>
            </a:r>
            <a:r>
              <a:rPr lang="en-US" altLang="it-IT" sz="2300" dirty="0">
                <a:solidFill>
                  <a:schemeClr val="tx1"/>
                </a:solidFill>
              </a:rPr>
              <a:t> </a:t>
            </a:r>
            <a:r>
              <a:rPr lang="en-US" altLang="it-IT" sz="2300" dirty="0" err="1">
                <a:solidFill>
                  <a:schemeClr val="tx1"/>
                </a:solidFill>
              </a:rPr>
              <a:t>stesso</a:t>
            </a:r>
            <a:r>
              <a:rPr lang="en-US" altLang="it-IT" sz="2300" dirty="0">
                <a:solidFill>
                  <a:schemeClr val="tx1"/>
                </a:solidFill>
              </a:rPr>
              <a:t> modo)</a:t>
            </a:r>
            <a:endParaRPr lang="en-US" altLang="it-IT" sz="2300" dirty="0">
              <a:solidFill>
                <a:schemeClr val="tx1"/>
              </a:solidFill>
              <a:latin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 sz="2300" baseline="30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olo 1">
            <a:extLst>
              <a:ext uri="{FF2B5EF4-FFF2-40B4-BE49-F238E27FC236}">
                <a16:creationId xmlns:a16="http://schemas.microsoft.com/office/drawing/2014/main" id="{1547636A-3143-C849-A676-5A79F403A0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Interazione radiazione polvere</a:t>
            </a:r>
          </a:p>
        </p:txBody>
      </p:sp>
      <p:pic>
        <p:nvPicPr>
          <p:cNvPr id="24578" name="Immagine 5">
            <a:extLst>
              <a:ext uri="{FF2B5EF4-FFF2-40B4-BE49-F238E27FC236}">
                <a16:creationId xmlns:a16="http://schemas.microsoft.com/office/drawing/2014/main" id="{D32211C8-46FE-B049-A564-B5FD165B5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765175"/>
            <a:ext cx="81788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CasellaDiTesto 6">
            <a:extLst>
              <a:ext uri="{FF2B5EF4-FFF2-40B4-BE49-F238E27FC236}">
                <a16:creationId xmlns:a16="http://schemas.microsoft.com/office/drawing/2014/main" id="{71E25E0B-A6E7-FD4C-B633-D6583F9E5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" y="6027738"/>
            <a:ext cx="913166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dirty="0">
                <a:solidFill>
                  <a:schemeClr val="tx1"/>
                </a:solidFill>
              </a:rPr>
              <a:t>I </a:t>
            </a:r>
            <a:r>
              <a:rPr lang="en-US" altLang="it-IT" dirty="0" err="1">
                <a:solidFill>
                  <a:schemeClr val="tx1"/>
                </a:solidFill>
              </a:rPr>
              <a:t>colori</a:t>
            </a:r>
            <a:r>
              <a:rPr lang="en-US" altLang="it-IT" dirty="0">
                <a:solidFill>
                  <a:schemeClr val="tx1"/>
                </a:solidFill>
              </a:rPr>
              <a:t> del </a:t>
            </a:r>
            <a:r>
              <a:rPr lang="en-US" altLang="it-IT" dirty="0" err="1">
                <a:solidFill>
                  <a:schemeClr val="tx1"/>
                </a:solidFill>
              </a:rPr>
              <a:t>cielo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  <a:r>
              <a:rPr lang="en-US" altLang="it-IT" dirty="0" err="1">
                <a:solidFill>
                  <a:schemeClr val="tx1"/>
                </a:solidFill>
              </a:rPr>
              <a:t>sono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  <a:r>
              <a:rPr lang="en-US" altLang="it-IT" dirty="0" err="1">
                <a:solidFill>
                  <a:schemeClr val="tx1"/>
                </a:solidFill>
              </a:rPr>
              <a:t>determinati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  <a:r>
              <a:rPr lang="en-US" altLang="it-IT" dirty="0" err="1">
                <a:solidFill>
                  <a:schemeClr val="tx1"/>
                </a:solidFill>
              </a:rPr>
              <a:t>dall</a:t>
            </a:r>
            <a:r>
              <a:rPr lang="en-US" altLang="en-GB" dirty="0" err="1">
                <a:solidFill>
                  <a:schemeClr val="tx1"/>
                </a:solidFill>
              </a:rPr>
              <a:t>’</a:t>
            </a:r>
            <a:r>
              <a:rPr lang="en-US" altLang="it-IT" dirty="0" err="1">
                <a:solidFill>
                  <a:schemeClr val="tx1"/>
                </a:solidFill>
              </a:rPr>
              <a:t>interazione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  <a:r>
              <a:rPr lang="en-US" altLang="it-IT" dirty="0" err="1">
                <a:solidFill>
                  <a:schemeClr val="tx1"/>
                </a:solidFill>
              </a:rPr>
              <a:t>della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  <a:r>
              <a:rPr lang="en-US" altLang="it-IT" dirty="0" err="1">
                <a:solidFill>
                  <a:schemeClr val="tx1"/>
                </a:solidFill>
              </a:rPr>
              <a:t>radiazione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dirty="0">
                <a:solidFill>
                  <a:schemeClr val="tx1"/>
                </a:solidFill>
              </a:rPr>
              <a:t>con le </a:t>
            </a:r>
            <a:r>
              <a:rPr lang="en-US" altLang="it-IT" dirty="0" err="1">
                <a:solidFill>
                  <a:schemeClr val="tx1"/>
                </a:solidFill>
              </a:rPr>
              <a:t>particelle</a:t>
            </a:r>
            <a:r>
              <a:rPr lang="en-US" altLang="it-IT" dirty="0">
                <a:solidFill>
                  <a:schemeClr val="tx1"/>
                </a:solidFill>
              </a:rPr>
              <a:t> di </a:t>
            </a:r>
            <a:r>
              <a:rPr lang="en-US" altLang="it-IT" dirty="0" err="1">
                <a:solidFill>
                  <a:schemeClr val="tx1"/>
                </a:solidFill>
              </a:rPr>
              <a:t>polvere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  <a:r>
              <a:rPr lang="en-US" altLang="it-IT" dirty="0" err="1">
                <a:solidFill>
                  <a:schemeClr val="tx1"/>
                </a:solidFill>
              </a:rPr>
              <a:t>presenti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  <a:r>
              <a:rPr lang="en-US" altLang="it-IT" dirty="0" err="1">
                <a:solidFill>
                  <a:schemeClr val="tx1"/>
                </a:solidFill>
              </a:rPr>
              <a:t>nell’atmosfera</a:t>
            </a:r>
            <a:r>
              <a:rPr lang="en-US" altLang="it-IT" dirty="0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>
            <a:extLst>
              <a:ext uri="{FF2B5EF4-FFF2-40B4-BE49-F238E27FC236}">
                <a16:creationId xmlns:a16="http://schemas.microsoft.com/office/drawing/2014/main" id="{FD939DE5-C5BC-174F-B9A2-4CCF78A740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Assorbimento Interstellare</a:t>
            </a:r>
          </a:p>
        </p:txBody>
      </p:sp>
      <p:sp>
        <p:nvSpPr>
          <p:cNvPr id="26626" name="TextBox 3">
            <a:extLst>
              <a:ext uri="{FF2B5EF4-FFF2-40B4-BE49-F238E27FC236}">
                <a16:creationId xmlns:a16="http://schemas.microsoft.com/office/drawing/2014/main" id="{6622EC3C-BF62-024A-9AEC-0BB1164A3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908050"/>
            <a:ext cx="8704262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ja-JP" sz="1600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600" dirty="0">
                <a:solidFill>
                  <a:schemeClr val="tx1"/>
                </a:solidFill>
              </a:rPr>
              <a:t>La </a:t>
            </a:r>
            <a:r>
              <a:rPr lang="en-US" altLang="ja-JP" sz="1600" dirty="0" err="1">
                <a:solidFill>
                  <a:schemeClr val="tx1"/>
                </a:solidFill>
              </a:rPr>
              <a:t>presenza</a:t>
            </a:r>
            <a:r>
              <a:rPr lang="en-US" altLang="ja-JP" sz="1600" dirty="0">
                <a:solidFill>
                  <a:schemeClr val="tx1"/>
                </a:solidFill>
              </a:rPr>
              <a:t> dell’ ISM fa </a:t>
            </a:r>
            <a:r>
              <a:rPr lang="en-US" altLang="ja-JP" sz="1600" dirty="0" err="1">
                <a:solidFill>
                  <a:schemeClr val="tx1"/>
                </a:solidFill>
              </a:rPr>
              <a:t>sì</a:t>
            </a:r>
            <a:r>
              <a:rPr lang="en-US" altLang="ja-JP" sz="1600" dirty="0">
                <a:solidFill>
                  <a:schemeClr val="tx1"/>
                </a:solidFill>
              </a:rPr>
              <a:t>  </a:t>
            </a:r>
            <a:r>
              <a:rPr lang="en-US" altLang="ja-JP" sz="1600" dirty="0" err="1">
                <a:solidFill>
                  <a:schemeClr val="tx1"/>
                </a:solidFill>
              </a:rPr>
              <a:t>che</a:t>
            </a:r>
            <a:r>
              <a:rPr lang="en-US" altLang="ja-JP" sz="1600" dirty="0">
                <a:solidFill>
                  <a:schemeClr val="tx1"/>
                </a:solidFill>
              </a:rPr>
              <a:t> per ogni </a:t>
            </a:r>
            <a:r>
              <a:rPr lang="en-US" altLang="ja-JP" sz="1600" dirty="0" err="1">
                <a:solidFill>
                  <a:schemeClr val="tx1"/>
                </a:solidFill>
              </a:rPr>
              <a:t>sorgente</a:t>
            </a:r>
            <a:r>
              <a:rPr lang="en-US" altLang="ja-JP" sz="1600" dirty="0">
                <a:solidFill>
                  <a:schemeClr val="tx1"/>
                </a:solidFill>
              </a:rPr>
              <a:t> </a:t>
            </a:r>
            <a:r>
              <a:rPr lang="en-US" altLang="ja-JP" sz="1600" dirty="0" err="1">
                <a:solidFill>
                  <a:schemeClr val="tx1"/>
                </a:solidFill>
              </a:rPr>
              <a:t>si</a:t>
            </a:r>
            <a:r>
              <a:rPr lang="en-US" altLang="ja-JP" sz="1600" dirty="0">
                <a:solidFill>
                  <a:schemeClr val="tx1"/>
                </a:solidFill>
              </a:rPr>
              <a:t> </a:t>
            </a:r>
            <a:r>
              <a:rPr lang="en-US" altLang="ja-JP" sz="1600" dirty="0" err="1">
                <a:solidFill>
                  <a:schemeClr val="tx1"/>
                </a:solidFill>
              </a:rPr>
              <a:t>misurino</a:t>
            </a:r>
            <a:r>
              <a:rPr lang="en-US" altLang="ja-JP" sz="1600" dirty="0">
                <a:solidFill>
                  <a:schemeClr val="tx1"/>
                </a:solidFill>
              </a:rPr>
              <a:t> </a:t>
            </a:r>
            <a:r>
              <a:rPr lang="en-US" altLang="it-IT" sz="1600" dirty="0">
                <a:solidFill>
                  <a:schemeClr val="tx1"/>
                </a:solidFill>
              </a:rPr>
              <a:t>delle </a:t>
            </a:r>
            <a:r>
              <a:rPr lang="en-US" altLang="it-IT" sz="1600" dirty="0" err="1">
                <a:solidFill>
                  <a:schemeClr val="tx1"/>
                </a:solidFill>
              </a:rPr>
              <a:t>magnitudini</a:t>
            </a:r>
            <a:r>
              <a:rPr lang="en-US" altLang="it-IT" sz="1600" dirty="0">
                <a:solidFill>
                  <a:schemeClr val="tx1"/>
                </a:solidFill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1600" dirty="0" err="1">
                <a:solidFill>
                  <a:schemeClr val="tx1"/>
                </a:solidFill>
              </a:rPr>
              <a:t>più</a:t>
            </a:r>
            <a:r>
              <a:rPr lang="en-US" altLang="it-IT" sz="1600" dirty="0">
                <a:solidFill>
                  <a:schemeClr val="tx1"/>
                </a:solidFill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</a:rPr>
              <a:t>grandi</a:t>
            </a:r>
            <a:r>
              <a:rPr lang="en-US" altLang="it-IT" sz="1600" dirty="0">
                <a:solidFill>
                  <a:schemeClr val="tx1"/>
                </a:solidFill>
              </a:rPr>
              <a:t> (minor </a:t>
            </a:r>
            <a:r>
              <a:rPr lang="en-US" altLang="it-IT" sz="1600" dirty="0" err="1">
                <a:solidFill>
                  <a:schemeClr val="tx1"/>
                </a:solidFill>
              </a:rPr>
              <a:t>flusso</a:t>
            </a:r>
            <a:r>
              <a:rPr lang="en-US" altLang="it-IT" sz="1600" dirty="0">
                <a:solidFill>
                  <a:schemeClr val="tx1"/>
                </a:solidFill>
              </a:rPr>
              <a:t>) di quelle </a:t>
            </a:r>
            <a:r>
              <a:rPr lang="en-US" altLang="it-IT" sz="1600" dirty="0" err="1">
                <a:solidFill>
                  <a:schemeClr val="tx1"/>
                </a:solidFill>
              </a:rPr>
              <a:t>reali</a:t>
            </a:r>
            <a:r>
              <a:rPr lang="en-US" altLang="it-IT" sz="1600" dirty="0">
                <a:solidFill>
                  <a:schemeClr val="tx1"/>
                </a:solidFill>
              </a:rPr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 sz="1600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1600" dirty="0">
                <a:solidFill>
                  <a:schemeClr val="tx1"/>
                </a:solidFill>
              </a:rPr>
              <a:t>				m</a:t>
            </a:r>
            <a:r>
              <a:rPr lang="en-US" altLang="it-IT" sz="1600" baseline="-25000" dirty="0">
                <a:solidFill>
                  <a:schemeClr val="tx1"/>
                </a:solidFill>
              </a:rPr>
              <a:t>obs</a:t>
            </a:r>
            <a:r>
              <a:rPr lang="en-US" altLang="it-IT" sz="1600" dirty="0">
                <a:solidFill>
                  <a:schemeClr val="tx1"/>
                </a:solidFill>
              </a:rPr>
              <a:t>=</a:t>
            </a:r>
            <a:r>
              <a:rPr lang="en-US" altLang="it-IT" sz="1600" dirty="0" err="1">
                <a:solidFill>
                  <a:schemeClr val="tx1"/>
                </a:solidFill>
              </a:rPr>
              <a:t>m</a:t>
            </a:r>
            <a:r>
              <a:rPr lang="en-US" altLang="it-IT" sz="1600" baseline="-25000" dirty="0" err="1">
                <a:solidFill>
                  <a:schemeClr val="tx1"/>
                </a:solidFill>
              </a:rPr>
              <a:t>true</a:t>
            </a:r>
            <a:r>
              <a:rPr lang="en-US" altLang="it-IT" sz="1600" dirty="0">
                <a:solidFill>
                  <a:schemeClr val="tx1"/>
                </a:solidFill>
              </a:rPr>
              <a:t> +A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 sz="1600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1600" dirty="0">
                <a:solidFill>
                  <a:schemeClr val="tx1"/>
                </a:solidFill>
              </a:rPr>
              <a:t>A= </a:t>
            </a:r>
            <a:r>
              <a:rPr lang="en-US" altLang="it-IT" sz="1600" b="1" dirty="0" err="1">
                <a:solidFill>
                  <a:schemeClr val="tx1"/>
                </a:solidFill>
              </a:rPr>
              <a:t>coefficiente</a:t>
            </a:r>
            <a:r>
              <a:rPr lang="en-US" altLang="it-IT" sz="1600" b="1" dirty="0">
                <a:solidFill>
                  <a:schemeClr val="tx1"/>
                </a:solidFill>
              </a:rPr>
              <a:t> di </a:t>
            </a:r>
            <a:r>
              <a:rPr lang="en-US" altLang="it-IT" sz="1600" b="1" dirty="0" err="1">
                <a:solidFill>
                  <a:schemeClr val="tx1"/>
                </a:solidFill>
              </a:rPr>
              <a:t>estinzione</a:t>
            </a:r>
            <a:r>
              <a:rPr lang="en-US" altLang="it-IT" sz="1600" dirty="0">
                <a:solidFill>
                  <a:schemeClr val="tx1"/>
                </a:solidFill>
              </a:rPr>
              <a:t>. Esso </a:t>
            </a:r>
            <a:r>
              <a:rPr lang="en-US" altLang="it-IT" sz="1600" dirty="0" err="1">
                <a:solidFill>
                  <a:schemeClr val="tx1"/>
                </a:solidFill>
              </a:rPr>
              <a:t>dipende</a:t>
            </a:r>
            <a:r>
              <a:rPr lang="en-US" altLang="it-IT" sz="1600" dirty="0">
                <a:solidFill>
                  <a:schemeClr val="tx1"/>
                </a:solidFill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</a:rPr>
              <a:t>dalla</a:t>
            </a:r>
            <a:r>
              <a:rPr lang="en-US" altLang="it-IT" sz="1600" dirty="0">
                <a:solidFill>
                  <a:schemeClr val="tx1"/>
                </a:solidFill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</a:rPr>
              <a:t>fisica</a:t>
            </a:r>
            <a:r>
              <a:rPr lang="en-US" altLang="it-IT" sz="1600" dirty="0">
                <a:solidFill>
                  <a:schemeClr val="tx1"/>
                </a:solidFill>
              </a:rPr>
              <a:t> delle </a:t>
            </a:r>
            <a:r>
              <a:rPr lang="en-US" altLang="it-IT" sz="1600" dirty="0" err="1">
                <a:solidFill>
                  <a:schemeClr val="tx1"/>
                </a:solidFill>
              </a:rPr>
              <a:t>interazioni</a:t>
            </a:r>
            <a:r>
              <a:rPr lang="en-US" altLang="it-IT" sz="1600" dirty="0">
                <a:solidFill>
                  <a:schemeClr val="tx1"/>
                </a:solidFill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</a:rPr>
              <a:t>radiazione</a:t>
            </a:r>
            <a:r>
              <a:rPr lang="en-US" altLang="it-IT" sz="1600" dirty="0">
                <a:solidFill>
                  <a:schemeClr val="tx1"/>
                </a:solidFill>
              </a:rPr>
              <a:t>/</a:t>
            </a:r>
            <a:r>
              <a:rPr lang="en-US" altLang="it-IT" sz="1600" dirty="0" err="1">
                <a:solidFill>
                  <a:schemeClr val="tx1"/>
                </a:solidFill>
              </a:rPr>
              <a:t>materia</a:t>
            </a:r>
            <a:r>
              <a:rPr lang="en-US" altLang="it-IT" sz="1600" dirty="0">
                <a:solidFill>
                  <a:schemeClr val="tx1"/>
                </a:solidFill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1600" dirty="0" err="1">
                <a:solidFill>
                  <a:schemeClr val="tx1"/>
                </a:solidFill>
              </a:rPr>
              <a:t>nel</a:t>
            </a:r>
            <a:r>
              <a:rPr lang="en-US" altLang="it-IT" sz="1600" dirty="0">
                <a:solidFill>
                  <a:schemeClr val="tx1"/>
                </a:solidFill>
              </a:rPr>
              <a:t> mezzo ed è, come </a:t>
            </a:r>
            <a:r>
              <a:rPr lang="en-US" altLang="it-IT" sz="1600" dirty="0" err="1">
                <a:solidFill>
                  <a:schemeClr val="tx1"/>
                </a:solidFill>
              </a:rPr>
              <a:t>abbiamp</a:t>
            </a:r>
            <a:r>
              <a:rPr lang="en-US" altLang="it-IT" sz="1600" dirty="0">
                <a:solidFill>
                  <a:schemeClr val="tx1"/>
                </a:solidFill>
              </a:rPr>
              <a:t> visto, </a:t>
            </a:r>
            <a:r>
              <a:rPr lang="en-US" altLang="it-IT" sz="1600" dirty="0" err="1">
                <a:solidFill>
                  <a:schemeClr val="tx1"/>
                </a:solidFill>
              </a:rPr>
              <a:t>funzione</a:t>
            </a:r>
            <a:r>
              <a:rPr lang="en-US" altLang="it-IT" sz="1600" dirty="0">
                <a:solidFill>
                  <a:schemeClr val="tx1"/>
                </a:solidFill>
              </a:rPr>
              <a:t> della </a:t>
            </a:r>
            <a:r>
              <a:rPr lang="en-US" altLang="it-IT" sz="1600" dirty="0" err="1">
                <a:solidFill>
                  <a:schemeClr val="tx1"/>
                </a:solidFill>
              </a:rPr>
              <a:t>frequenza</a:t>
            </a:r>
            <a:r>
              <a:rPr lang="en-US" altLang="it-IT" sz="1600" dirty="0">
                <a:solidFill>
                  <a:schemeClr val="tx1"/>
                </a:solidFill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 sz="1600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1600" dirty="0">
                <a:solidFill>
                  <a:schemeClr val="tx1"/>
                </a:solidFill>
              </a:rPr>
              <a:t>In </a:t>
            </a:r>
            <a:r>
              <a:rPr lang="en-US" altLang="it-IT" sz="1600" dirty="0" err="1">
                <a:solidFill>
                  <a:schemeClr val="tx1"/>
                </a:solidFill>
              </a:rPr>
              <a:t>particolare</a:t>
            </a:r>
            <a:r>
              <a:rPr lang="en-US" altLang="it-IT" sz="1600" dirty="0">
                <a:solidFill>
                  <a:schemeClr val="tx1"/>
                </a:solidFill>
              </a:rPr>
              <a:t> le </a:t>
            </a:r>
            <a:r>
              <a:rPr lang="en-US" altLang="it-IT" sz="1600" dirty="0" err="1">
                <a:solidFill>
                  <a:schemeClr val="tx1"/>
                </a:solidFill>
              </a:rPr>
              <a:t>frequenze</a:t>
            </a:r>
            <a:r>
              <a:rPr lang="en-US" altLang="it-IT" sz="1600" dirty="0">
                <a:solidFill>
                  <a:schemeClr val="tx1"/>
                </a:solidFill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</a:rPr>
              <a:t>maggiori</a:t>
            </a:r>
            <a:r>
              <a:rPr lang="en-US" altLang="it-IT" sz="1600" dirty="0">
                <a:solidFill>
                  <a:schemeClr val="tx1"/>
                </a:solidFill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</a:rPr>
              <a:t>sono</a:t>
            </a:r>
            <a:r>
              <a:rPr lang="en-US" altLang="it-IT" sz="1600" dirty="0">
                <a:solidFill>
                  <a:schemeClr val="tx1"/>
                </a:solidFill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</a:rPr>
              <a:t>assorbite</a:t>
            </a:r>
            <a:r>
              <a:rPr lang="en-US" altLang="it-IT" sz="1600" dirty="0">
                <a:solidFill>
                  <a:schemeClr val="tx1"/>
                </a:solidFill>
              </a:rPr>
              <a:t> e diffuse </a:t>
            </a:r>
            <a:r>
              <a:rPr lang="en-US" altLang="it-IT" sz="1600" dirty="0" err="1">
                <a:solidFill>
                  <a:schemeClr val="tx1"/>
                </a:solidFill>
              </a:rPr>
              <a:t>più</a:t>
            </a:r>
            <a:r>
              <a:rPr lang="en-US" altLang="it-IT" sz="1600" dirty="0">
                <a:solidFill>
                  <a:schemeClr val="tx1"/>
                </a:solidFill>
              </a:rPr>
              <a:t> di quelle </a:t>
            </a:r>
            <a:r>
              <a:rPr lang="en-US" altLang="it-IT" sz="1600" dirty="0" err="1">
                <a:solidFill>
                  <a:schemeClr val="tx1"/>
                </a:solidFill>
              </a:rPr>
              <a:t>minori</a:t>
            </a:r>
            <a:r>
              <a:rPr lang="en-US" altLang="it-IT" sz="1600" dirty="0">
                <a:solidFill>
                  <a:schemeClr val="tx1"/>
                </a:solidFill>
              </a:rPr>
              <a:t> (a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1600" dirty="0">
                <a:solidFill>
                  <a:schemeClr val="tx1"/>
                </a:solidFill>
              </a:rPr>
              <a:t>causa della </a:t>
            </a:r>
            <a:r>
              <a:rPr lang="en-US" altLang="it-IT" sz="1600" dirty="0" err="1">
                <a:solidFill>
                  <a:schemeClr val="tx1"/>
                </a:solidFill>
              </a:rPr>
              <a:t>distribuzione</a:t>
            </a:r>
            <a:r>
              <a:rPr lang="en-US" altLang="it-IT" sz="1600" dirty="0">
                <a:solidFill>
                  <a:schemeClr val="tx1"/>
                </a:solidFill>
              </a:rPr>
              <a:t> delle </a:t>
            </a:r>
            <a:r>
              <a:rPr lang="en-US" altLang="it-IT" sz="1600" dirty="0" err="1">
                <a:solidFill>
                  <a:schemeClr val="tx1"/>
                </a:solidFill>
              </a:rPr>
              <a:t>dimensioni</a:t>
            </a:r>
            <a:r>
              <a:rPr lang="en-US" altLang="it-IT" sz="1600" dirty="0">
                <a:solidFill>
                  <a:schemeClr val="tx1"/>
                </a:solidFill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</a:rPr>
              <a:t>dei</a:t>
            </a:r>
            <a:r>
              <a:rPr lang="en-US" altLang="it-IT" sz="1600" dirty="0">
                <a:solidFill>
                  <a:schemeClr val="tx1"/>
                </a:solidFill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</a:rPr>
              <a:t>grani</a:t>
            </a:r>
            <a:r>
              <a:rPr lang="en-US" altLang="it-IT" sz="1600" dirty="0">
                <a:solidFill>
                  <a:schemeClr val="tx1"/>
                </a:solidFill>
              </a:rPr>
              <a:t> di </a:t>
            </a:r>
            <a:r>
              <a:rPr lang="en-US" altLang="it-IT" sz="1600" dirty="0" err="1">
                <a:solidFill>
                  <a:schemeClr val="tx1"/>
                </a:solidFill>
              </a:rPr>
              <a:t>polvere</a:t>
            </a:r>
            <a:r>
              <a:rPr lang="en-US" altLang="it-IT" sz="1600" dirty="0">
                <a:solidFill>
                  <a:schemeClr val="tx1"/>
                </a:solidFill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 sz="1600" dirty="0">
              <a:solidFill>
                <a:schemeClr val="tx1"/>
              </a:solidFill>
            </a:endParaRPr>
          </a:p>
        </p:txBody>
      </p:sp>
      <p:graphicFrame>
        <p:nvGraphicFramePr>
          <p:cNvPr id="26627" name="Object 2">
            <a:extLst>
              <a:ext uri="{FF2B5EF4-FFF2-40B4-BE49-F238E27FC236}">
                <a16:creationId xmlns:a16="http://schemas.microsoft.com/office/drawing/2014/main" id="{2C139CE5-BEBF-0040-B53D-181181F96B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6200" y="3956050"/>
          <a:ext cx="3214688" cy="206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8000" imgH="1143000" progId="Equation.3">
                  <p:embed/>
                </p:oleObj>
              </mc:Choice>
              <mc:Fallback>
                <p:oleObj name="Equation" r:id="rId2" imgW="1778000" imgH="1143000" progId="Equation.3">
                  <p:embed/>
                  <p:pic>
                    <p:nvPicPr>
                      <p:cNvPr id="26627" name="Object 2">
                        <a:extLst>
                          <a:ext uri="{FF2B5EF4-FFF2-40B4-BE49-F238E27FC236}">
                            <a16:creationId xmlns:a16="http://schemas.microsoft.com/office/drawing/2014/main" id="{2C139CE5-BEBF-0040-B53D-181181F96B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200" y="3956050"/>
                        <a:ext cx="3214688" cy="206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3">
            <a:extLst>
              <a:ext uri="{FF2B5EF4-FFF2-40B4-BE49-F238E27FC236}">
                <a16:creationId xmlns:a16="http://schemas.microsoft.com/office/drawing/2014/main" id="{4A4BA677-88A1-2344-A810-6F3861243F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0975" y="6216650"/>
          <a:ext cx="7350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900" imgH="177800" progId="Equation.3">
                  <p:embed/>
                </p:oleObj>
              </mc:Choice>
              <mc:Fallback>
                <p:oleObj name="Equation" r:id="rId4" imgW="342900" imgH="177800" progId="Equation.3">
                  <p:embed/>
                  <p:pic>
                    <p:nvPicPr>
                      <p:cNvPr id="26628" name="Object 3">
                        <a:extLst>
                          <a:ext uri="{FF2B5EF4-FFF2-40B4-BE49-F238E27FC236}">
                            <a16:creationId xmlns:a16="http://schemas.microsoft.com/office/drawing/2014/main" id="{4A4BA677-88A1-2344-A810-6F3861243F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0975" y="6216650"/>
                        <a:ext cx="7350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TextBox 10">
            <a:extLst>
              <a:ext uri="{FF2B5EF4-FFF2-40B4-BE49-F238E27FC236}">
                <a16:creationId xmlns:a16="http://schemas.microsoft.com/office/drawing/2014/main" id="{AFC67DCE-603F-B54B-B72B-B84A452EF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6216650"/>
            <a:ext cx="14684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1800">
                <a:solidFill>
                  <a:schemeClr val="tx1"/>
                </a:solidFill>
              </a:rPr>
              <a:t>E</a:t>
            </a:r>
            <a:r>
              <a:rPr lang="ja-JP" altLang="en-US" sz="1800">
                <a:solidFill>
                  <a:schemeClr val="tx1"/>
                </a:solidFill>
              </a:rPr>
              <a:t>’</a:t>
            </a:r>
            <a:r>
              <a:rPr lang="en-US" altLang="ja-JP" sz="1800">
                <a:solidFill>
                  <a:schemeClr val="tx1"/>
                </a:solidFill>
              </a:rPr>
              <a:t> misurabile</a:t>
            </a:r>
            <a:endParaRPr lang="en-US" altLang="it-IT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E9AD1-DD64-1D1B-9FBE-99F61C308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333" y="255985"/>
            <a:ext cx="7772400" cy="381000"/>
          </a:xfrm>
        </p:spPr>
        <p:txBody>
          <a:bodyPr/>
          <a:lstStyle/>
          <a:p>
            <a:r>
              <a:rPr lang="en-US" dirty="0"/>
              <a:t>E(B-V) Maps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35CAB98-EE46-96A6-E55C-C91C9A444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927708"/>
            <a:ext cx="4394075" cy="219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551382-61C4-B6E5-611F-34D8BF908DED}"/>
              </a:ext>
            </a:extLst>
          </p:cNvPr>
          <p:cNvSpPr txBox="1"/>
          <p:nvPr/>
        </p:nvSpPr>
        <p:spPr>
          <a:xfrm>
            <a:off x="602333" y="3415469"/>
            <a:ext cx="81461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"Modeling Thermal Dust Emission with Two Components: Application to the Planck High Frequency Instrument Maps", Meisner and Finkbeiner 2015, </a:t>
            </a:r>
            <a:r>
              <a:rPr lang="en-US" sz="1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ApJ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798, 88,</a:t>
            </a:r>
            <a:r>
              <a:rPr lang="en-US" sz="1200" b="0" i="0" u="none" strike="noStrike" dirty="0">
                <a:solidFill>
                  <a:srgbClr val="006699"/>
                </a:solidFill>
                <a:effectLst/>
                <a:latin typeface="Verdana" panose="020B0604030504040204" pitchFamily="34" charset="0"/>
                <a:hlinkClick r:id="rId3"/>
              </a:rPr>
              <a:t> ADS</a:t>
            </a:r>
            <a:endParaRPr lang="en-US" sz="12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ACE2073-E607-9772-26A2-3B7F2F9A1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102" y="3933056"/>
            <a:ext cx="4248472" cy="2124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E153DC-5625-CFC9-7CA9-DAFBABE0A988}"/>
              </a:ext>
            </a:extLst>
          </p:cNvPr>
          <p:cNvSpPr txBox="1"/>
          <p:nvPr/>
        </p:nvSpPr>
        <p:spPr>
          <a:xfrm>
            <a:off x="789198" y="6193953"/>
            <a:ext cx="7772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"A 3D Dust Map Based on Gaia, Pan-STARRS 1 and 2MASS", Green, Schlafly, Zucker, et al. 2019, </a:t>
            </a:r>
            <a:r>
              <a:rPr lang="en-US" sz="1200" i="0" u="none" strike="noStrike" dirty="0">
                <a:solidFill>
                  <a:srgbClr val="006699"/>
                </a:solidFill>
                <a:effectLst/>
                <a:latin typeface="Verdana" panose="020B0604030504040204" pitchFamily="34" charset="0"/>
                <a:hlinkClick r:id="rId5"/>
              </a:rPr>
              <a:t>arXiv:1905.02734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4A1B34-928F-447E-05B5-36429F8D0994}"/>
              </a:ext>
            </a:extLst>
          </p:cNvPr>
          <p:cNvSpPr txBox="1"/>
          <p:nvPr/>
        </p:nvSpPr>
        <p:spPr>
          <a:xfrm>
            <a:off x="6300192" y="830904"/>
            <a:ext cx="2718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Log scale from 0.004 to 6.3 mag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FE0FCC-230F-5BEF-59EE-B2B96042CCDF}"/>
              </a:ext>
            </a:extLst>
          </p:cNvPr>
          <p:cNvSpPr txBox="1"/>
          <p:nvPr/>
        </p:nvSpPr>
        <p:spPr>
          <a:xfrm>
            <a:off x="6425952" y="4144656"/>
            <a:ext cx="2718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Log scale from 0.004 to 6.3 mag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071144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olo 1">
            <a:extLst>
              <a:ext uri="{FF2B5EF4-FFF2-40B4-BE49-F238E27FC236}">
                <a16:creationId xmlns:a16="http://schemas.microsoft.com/office/drawing/2014/main" id="{045A951A-2DEF-3C46-978F-DCD6D9A64F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Wavelength Dependence of Milky Way Extinction </a:t>
            </a:r>
            <a:br>
              <a:rPr lang="it-IT" altLang="it-IT">
                <a:ea typeface="ＭＳ Ｐゴシック" panose="020B0600070205080204" pitchFamily="34" charset="-128"/>
              </a:rPr>
            </a:br>
            <a:endParaRPr lang="en-US" altLang="it-IT">
              <a:ea typeface="ＭＳ Ｐゴシック" panose="020B0600070205080204" pitchFamily="34" charset="-128"/>
            </a:endParaRPr>
          </a:p>
        </p:txBody>
      </p:sp>
      <p:pic>
        <p:nvPicPr>
          <p:cNvPr id="27650" name="Immagine 2">
            <a:extLst>
              <a:ext uri="{FF2B5EF4-FFF2-40B4-BE49-F238E27FC236}">
                <a16:creationId xmlns:a16="http://schemas.microsoft.com/office/drawing/2014/main" id="{C9000BC6-5FAD-1647-A9CF-9052982F2F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1268413"/>
            <a:ext cx="3378200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2">
            <a:extLst>
              <a:ext uri="{FF2B5EF4-FFF2-40B4-BE49-F238E27FC236}">
                <a16:creationId xmlns:a16="http://schemas.microsoft.com/office/drawing/2014/main" id="{440BA626-8B36-BE42-871D-10F57D3B6E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125538"/>
            <a:ext cx="4321175" cy="460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9922E16B-840B-AC0E-C8E6-A893237208C3}"/>
              </a:ext>
            </a:extLst>
          </p:cNvPr>
          <p:cNvSpPr txBox="1"/>
          <p:nvPr/>
        </p:nvSpPr>
        <p:spPr>
          <a:xfrm>
            <a:off x="1195165" y="6286500"/>
            <a:ext cx="67504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irsa.ipac.caltech.edu</a:t>
            </a:r>
            <a:r>
              <a:rPr lang="en-GB" dirty="0"/>
              <a:t>/applications/DUST/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F27E825B-A4A8-E54E-A839-51CB5126F5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" y="228600"/>
            <a:ext cx="8763000" cy="1066800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Magnitudine Bolometrica</a:t>
            </a:r>
          </a:p>
        </p:txBody>
      </p:sp>
      <p:sp>
        <p:nvSpPr>
          <p:cNvPr id="28674" name="TextBox 4">
            <a:extLst>
              <a:ext uri="{FF2B5EF4-FFF2-40B4-BE49-F238E27FC236}">
                <a16:creationId xmlns:a16="http://schemas.microsoft.com/office/drawing/2014/main" id="{888517C3-39B7-4447-856B-2D3FB8F69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628775"/>
            <a:ext cx="7772400" cy="388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2000">
                <a:solidFill>
                  <a:schemeClr val="tx1"/>
                </a:solidFill>
              </a:rPr>
              <a:t>Se la magnitudine apparente e quella assoluta sono  riferite a tutte le lunghezze d</a:t>
            </a:r>
            <a:r>
              <a:rPr lang="en-US" altLang="en-GB" sz="2000">
                <a:solidFill>
                  <a:schemeClr val="tx1"/>
                </a:solidFill>
              </a:rPr>
              <a:t>’</a:t>
            </a:r>
            <a:r>
              <a:rPr lang="en-US" altLang="ja-JP" sz="2000">
                <a:solidFill>
                  <a:schemeClr val="tx1"/>
                </a:solidFill>
              </a:rPr>
              <a:t>onda emesse da una sorgente, si definisce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2000">
                <a:solidFill>
                  <a:schemeClr val="tx1"/>
                </a:solidFill>
              </a:rPr>
              <a:t>Magnitudine Bolometrica (m</a:t>
            </a:r>
            <a:r>
              <a:rPr lang="en-US" altLang="it-IT" sz="2000" i="1" baseline="-25000">
                <a:solidFill>
                  <a:schemeClr val="tx1"/>
                </a:solidFill>
              </a:rPr>
              <a:t>bol</a:t>
            </a:r>
            <a:r>
              <a:rPr lang="en-US" altLang="it-IT" sz="2000">
                <a:solidFill>
                  <a:schemeClr val="tx1"/>
                </a:solidFill>
              </a:rPr>
              <a:t> M</a:t>
            </a:r>
            <a:r>
              <a:rPr lang="en-US" altLang="it-IT" sz="2000" i="1" baseline="-25000">
                <a:solidFill>
                  <a:schemeClr val="tx1"/>
                </a:solidFill>
              </a:rPr>
              <a:t>bol</a:t>
            </a:r>
            <a:r>
              <a:rPr lang="en-US" altLang="it-IT" sz="2000" i="1">
                <a:solidFill>
                  <a:schemeClr val="tx1"/>
                </a:solidFill>
              </a:rPr>
              <a:t>) l</a:t>
            </a:r>
            <a:r>
              <a:rPr lang="en-US" altLang="it-IT" sz="2000">
                <a:solidFill>
                  <a:schemeClr val="tx1"/>
                </a:solidFill>
              </a:rPr>
              <a:t>a quantità: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 sz="200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2000">
                <a:solidFill>
                  <a:schemeClr val="tx1"/>
                </a:solidFill>
              </a:rPr>
              <a:t>			M</a:t>
            </a:r>
            <a:r>
              <a:rPr lang="en-US" altLang="it-IT" sz="2000" baseline="-25000">
                <a:solidFill>
                  <a:schemeClr val="tx1"/>
                </a:solidFill>
              </a:rPr>
              <a:t>bol</a:t>
            </a:r>
            <a:r>
              <a:rPr lang="en-US" altLang="it-IT" sz="2000">
                <a:solidFill>
                  <a:schemeClr val="tx1"/>
                </a:solidFill>
              </a:rPr>
              <a:t> = -2.5 log(L) + cost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 sz="200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 sz="200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2000">
                <a:solidFill>
                  <a:schemeClr val="tx1"/>
                </a:solidFill>
              </a:rPr>
              <a:t>Si definisce  Correzione Bolometrica  la grandezza: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2000">
                <a:solidFill>
                  <a:schemeClr val="tx1"/>
                </a:solidFill>
              </a:rPr>
              <a:t>	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2000">
                <a:solidFill>
                  <a:schemeClr val="tx1"/>
                </a:solidFill>
              </a:rPr>
              <a:t>			BC = m</a:t>
            </a:r>
            <a:r>
              <a:rPr lang="en-US" altLang="it-IT" sz="2000" baseline="-25000">
                <a:solidFill>
                  <a:schemeClr val="tx1"/>
                </a:solidFill>
              </a:rPr>
              <a:t>bol</a:t>
            </a:r>
            <a:r>
              <a:rPr lang="en-US" altLang="it-IT" sz="2000">
                <a:solidFill>
                  <a:schemeClr val="tx1"/>
                </a:solidFill>
              </a:rPr>
              <a:t>-V = M</a:t>
            </a:r>
            <a:r>
              <a:rPr lang="en-US" altLang="it-IT" sz="2000" baseline="-25000">
                <a:solidFill>
                  <a:schemeClr val="tx1"/>
                </a:solidFill>
              </a:rPr>
              <a:t>bol</a:t>
            </a:r>
            <a:r>
              <a:rPr lang="en-US" altLang="it-IT" sz="2000">
                <a:solidFill>
                  <a:schemeClr val="tx1"/>
                </a:solidFill>
              </a:rPr>
              <a:t> –M</a:t>
            </a:r>
            <a:r>
              <a:rPr lang="en-US" altLang="it-IT" sz="2000" baseline="-25000">
                <a:solidFill>
                  <a:schemeClr val="tx1"/>
                </a:solidFill>
              </a:rPr>
              <a:t>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 sz="2000" baseline="-2500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 sz="2000" baseline="-2500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2000">
                <a:solidFill>
                  <a:schemeClr val="tx1"/>
                </a:solidFill>
              </a:rPr>
              <a:t>ed è ottenuta estrapolando la legge di Planck</a:t>
            </a:r>
          </a:p>
        </p:txBody>
      </p:sp>
      <p:pic>
        <p:nvPicPr>
          <p:cNvPr id="28675" name="Picture 5">
            <a:extLst>
              <a:ext uri="{FF2B5EF4-FFF2-40B4-BE49-F238E27FC236}">
                <a16:creationId xmlns:a16="http://schemas.microsoft.com/office/drawing/2014/main" id="{56028801-453B-774F-AF11-6DFFEB75E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5805488"/>
            <a:ext cx="5257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6" name="Picture 6">
            <a:extLst>
              <a:ext uri="{FF2B5EF4-FFF2-40B4-BE49-F238E27FC236}">
                <a16:creationId xmlns:a16="http://schemas.microsoft.com/office/drawing/2014/main" id="{E9459587-F8B9-6F4D-8040-3BF780760E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3429000"/>
            <a:ext cx="47879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1E564247-3B85-6E40-B2E9-F3D0B48F10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" y="228600"/>
            <a:ext cx="8763000" cy="1066800"/>
          </a:xfrm>
        </p:spPr>
        <p:txBody>
          <a:bodyPr/>
          <a:lstStyle/>
          <a:p>
            <a:pPr eaLnBrk="1" hangingPunct="1"/>
            <a:r>
              <a:rPr lang="it-IT" altLang="it-IT" sz="1600">
                <a:ea typeface="ＭＳ Ｐゴシック" panose="020B0600070205080204" pitchFamily="34" charset="-128"/>
              </a:rPr>
              <a:t>Magnitudine Bolometrica</a:t>
            </a:r>
          </a:p>
        </p:txBody>
      </p:sp>
      <p:pic>
        <p:nvPicPr>
          <p:cNvPr id="29698" name="Picture 7">
            <a:extLst>
              <a:ext uri="{FF2B5EF4-FFF2-40B4-BE49-F238E27FC236}">
                <a16:creationId xmlns:a16="http://schemas.microsoft.com/office/drawing/2014/main" id="{F94533DE-EFED-2543-ADB6-F5CBE725C1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90600"/>
            <a:ext cx="7804150" cy="501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TextBox 8">
            <a:extLst>
              <a:ext uri="{FF2B5EF4-FFF2-40B4-BE49-F238E27FC236}">
                <a16:creationId xmlns:a16="http://schemas.microsoft.com/office/drawing/2014/main" id="{3752AA13-E966-1A49-803B-BEE591231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6248400"/>
            <a:ext cx="2417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>
                <a:solidFill>
                  <a:schemeClr val="tx1"/>
                </a:solidFill>
              </a:rPr>
              <a:t>(G. Torres 2010)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806C4734-6D5B-5C4F-8911-4D8A2C7BB2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531813"/>
            <a:ext cx="8229600" cy="908050"/>
          </a:xfrm>
          <a:noFill/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Temperatura: La Temperatura Effettiva</a:t>
            </a:r>
          </a:p>
        </p:txBody>
      </p:sp>
      <p:sp>
        <p:nvSpPr>
          <p:cNvPr id="31746" name="Text Box 3">
            <a:extLst>
              <a:ext uri="{FF2B5EF4-FFF2-40B4-BE49-F238E27FC236}">
                <a16:creationId xmlns:a16="http://schemas.microsoft.com/office/drawing/2014/main" id="{9179241D-A6CD-1641-B7DA-868073431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" y="3357563"/>
            <a:ext cx="84248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it-IT" altLang="it-IT" sz="1800">
                <a:solidFill>
                  <a:schemeClr val="tx1"/>
                </a:solidFill>
              </a:rPr>
              <a:t>Quindi quando si parla di temperatura delle stelle ci si riferisce alla </a:t>
            </a:r>
            <a:r>
              <a:rPr lang="it-IT" altLang="it-IT" sz="1800" b="1">
                <a:solidFill>
                  <a:schemeClr val="tx1"/>
                </a:solidFill>
              </a:rPr>
              <a:t>TEMPERATURA EFFETTIVA </a:t>
            </a:r>
            <a:r>
              <a:rPr lang="it-IT" altLang="it-IT" sz="1800">
                <a:solidFill>
                  <a:schemeClr val="tx1"/>
                </a:solidFill>
              </a:rPr>
              <a:t>della stella, ovvero alla temperatura che avrebbe un corpo nero che ha le stesse dimensioni e lo stesso flusso di energia emesso dalla stella </a:t>
            </a:r>
            <a:r>
              <a:rPr lang="it-IT" altLang="en-GB" sz="1800">
                <a:solidFill>
                  <a:schemeClr val="tx1"/>
                </a:solidFill>
              </a:rPr>
              <a:t>“</a:t>
            </a:r>
            <a:r>
              <a:rPr lang="it-IT" altLang="it-IT" sz="1800">
                <a:solidFill>
                  <a:schemeClr val="tx1"/>
                </a:solidFill>
              </a:rPr>
              <a:t>reale</a:t>
            </a:r>
            <a:r>
              <a:rPr lang="it-IT" altLang="en-GB" sz="1800">
                <a:solidFill>
                  <a:schemeClr val="tx1"/>
                </a:solidFill>
              </a:rPr>
              <a:t>”</a:t>
            </a:r>
            <a:endParaRPr lang="it-IT" altLang="it-IT" sz="1800" i="1" u="sng">
              <a:solidFill>
                <a:schemeClr val="tx1"/>
              </a:solidFill>
            </a:endParaRPr>
          </a:p>
        </p:txBody>
      </p:sp>
      <p:graphicFrame>
        <p:nvGraphicFramePr>
          <p:cNvPr id="31747" name="Object 2">
            <a:extLst>
              <a:ext uri="{FF2B5EF4-FFF2-40B4-BE49-F238E27FC236}">
                <a16:creationId xmlns:a16="http://schemas.microsoft.com/office/drawing/2014/main" id="{09A6FC6F-3EAE-E44F-81A8-FABFC8DBDB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2624138"/>
          <a:ext cx="3036888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77900" imgH="203200" progId="Equation.3">
                  <p:embed/>
                </p:oleObj>
              </mc:Choice>
              <mc:Fallback>
                <p:oleObj name="Equation" r:id="rId3" imgW="977900" imgH="203200" progId="Equation.3">
                  <p:embed/>
                  <p:pic>
                    <p:nvPicPr>
                      <p:cNvPr id="31747" name="Object 2">
                        <a:extLst>
                          <a:ext uri="{FF2B5EF4-FFF2-40B4-BE49-F238E27FC236}">
                            <a16:creationId xmlns:a16="http://schemas.microsoft.com/office/drawing/2014/main" id="{09A6FC6F-3EAE-E44F-81A8-FABFC8DBDB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624138"/>
                        <a:ext cx="3036888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8" name="Rectangle 11">
            <a:extLst>
              <a:ext uri="{FF2B5EF4-FFF2-40B4-BE49-F238E27FC236}">
                <a16:creationId xmlns:a16="http://schemas.microsoft.com/office/drawing/2014/main" id="{BE5E26B6-91E3-0843-98B0-7760C02C3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700213"/>
            <a:ext cx="8604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>
                <a:solidFill>
                  <a:schemeClr val="tx1"/>
                </a:solidFill>
              </a:rPr>
              <a:t>Se il flusso alla superficie della stella, F , coincidesse con il flusso di un corpo nero,  si avrebbe: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>
            <a:extLst>
              <a:ext uri="{FF2B5EF4-FFF2-40B4-BE49-F238E27FC236}">
                <a16:creationId xmlns:a16="http://schemas.microsoft.com/office/drawing/2014/main" id="{C0D1AACD-8B16-4240-85AE-496E6903C2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Temperatura: </a:t>
            </a:r>
            <a:r>
              <a:rPr lang="en-US" altLang="it-IT">
                <a:ea typeface="ＭＳ Ｐゴシック" panose="020B0600070205080204" pitchFamily="34" charset="-128"/>
              </a:rPr>
              <a:t>La Temperatura di Colore</a:t>
            </a:r>
          </a:p>
        </p:txBody>
      </p:sp>
      <p:sp>
        <p:nvSpPr>
          <p:cNvPr id="33794" name="TextBox 2">
            <a:extLst>
              <a:ext uri="{FF2B5EF4-FFF2-40B4-BE49-F238E27FC236}">
                <a16:creationId xmlns:a16="http://schemas.microsoft.com/office/drawing/2014/main" id="{6CBBAC93-C396-7B4B-ADFD-B5975527B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219200"/>
            <a:ext cx="7848600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dirty="0">
                <a:solidFill>
                  <a:schemeClr val="tx1"/>
                </a:solidFill>
              </a:rPr>
              <a:t>Color Index:  c</a:t>
            </a:r>
            <a:r>
              <a:rPr lang="en-US" altLang="it-IT" baseline="-25000" dirty="0">
                <a:solidFill>
                  <a:schemeClr val="tx1"/>
                </a:solidFill>
              </a:rPr>
              <a:t>1,2</a:t>
            </a:r>
            <a:r>
              <a:rPr lang="en-US" altLang="it-IT" dirty="0">
                <a:solidFill>
                  <a:schemeClr val="tx1"/>
                </a:solidFill>
              </a:rPr>
              <a:t>= m</a:t>
            </a:r>
            <a:r>
              <a:rPr lang="en-US" altLang="it-IT" baseline="-25000" dirty="0">
                <a:solidFill>
                  <a:schemeClr val="tx1"/>
                </a:solidFill>
                <a:latin typeface="Symbol" pitchFamily="2" charset="2"/>
              </a:rPr>
              <a:t>l1</a:t>
            </a:r>
            <a:r>
              <a:rPr lang="en-US" altLang="it-IT" dirty="0">
                <a:solidFill>
                  <a:schemeClr val="tx1"/>
                </a:solidFill>
              </a:rPr>
              <a:t>-m</a:t>
            </a:r>
            <a:r>
              <a:rPr lang="en-US" altLang="it-IT" baseline="-25000" dirty="0">
                <a:solidFill>
                  <a:schemeClr val="tx1"/>
                </a:solidFill>
                <a:latin typeface="Symbol" pitchFamily="2" charset="2"/>
              </a:rPr>
              <a:t>l2</a:t>
            </a:r>
            <a:r>
              <a:rPr lang="en-US" altLang="it-IT" dirty="0">
                <a:solidFill>
                  <a:schemeClr val="tx1"/>
                </a:solidFill>
              </a:rPr>
              <a:t> = -2.5log (f</a:t>
            </a:r>
            <a:r>
              <a:rPr lang="en-US" altLang="it-IT" baseline="-25000" dirty="0">
                <a:solidFill>
                  <a:schemeClr val="tx1"/>
                </a:solidFill>
                <a:latin typeface="Symbol" pitchFamily="2" charset="2"/>
              </a:rPr>
              <a:t>l1</a:t>
            </a:r>
            <a:r>
              <a:rPr lang="en-US" altLang="it-IT" dirty="0">
                <a:solidFill>
                  <a:schemeClr val="tx1"/>
                </a:solidFill>
              </a:rPr>
              <a:t>/f</a:t>
            </a:r>
            <a:r>
              <a:rPr lang="en-US" altLang="it-IT" baseline="-25000" dirty="0">
                <a:solidFill>
                  <a:schemeClr val="tx1"/>
                </a:solidFill>
                <a:latin typeface="Symbol" pitchFamily="2" charset="2"/>
              </a:rPr>
              <a:t>l2</a:t>
            </a:r>
            <a:r>
              <a:rPr lang="en-US" altLang="it-IT" dirty="0">
                <a:solidFill>
                  <a:schemeClr val="tx1"/>
                </a:solidFill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dirty="0">
                <a:solidFill>
                  <a:schemeClr val="tx1"/>
                </a:solidFill>
              </a:rPr>
              <a:t>Per un </a:t>
            </a:r>
            <a:r>
              <a:rPr lang="en-US" altLang="it-IT" dirty="0" err="1">
                <a:solidFill>
                  <a:schemeClr val="tx1"/>
                </a:solidFill>
              </a:rPr>
              <a:t>corpo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  <a:r>
              <a:rPr lang="en-US" altLang="it-IT" dirty="0" err="1">
                <a:solidFill>
                  <a:schemeClr val="tx1"/>
                </a:solidFill>
              </a:rPr>
              <a:t>nero</a:t>
            </a:r>
            <a:r>
              <a:rPr lang="en-US" altLang="it-IT" dirty="0">
                <a:solidFill>
                  <a:schemeClr val="tx1"/>
                </a:solidFill>
              </a:rPr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dirty="0">
                <a:solidFill>
                  <a:schemeClr val="tx1"/>
                </a:solidFill>
              </a:rPr>
              <a:t>		B</a:t>
            </a:r>
            <a:r>
              <a:rPr lang="en-US" altLang="it-IT" baseline="-25000" dirty="0">
                <a:solidFill>
                  <a:schemeClr val="tx1"/>
                </a:solidFill>
                <a:latin typeface="Symbol" pitchFamily="2" charset="2"/>
              </a:rPr>
              <a:t>l1</a:t>
            </a:r>
            <a:r>
              <a:rPr lang="en-US" altLang="it-IT" dirty="0">
                <a:solidFill>
                  <a:schemeClr val="tx1"/>
                </a:solidFill>
              </a:rPr>
              <a:t>/B</a:t>
            </a:r>
            <a:r>
              <a:rPr lang="en-US" altLang="it-IT" baseline="-25000" dirty="0">
                <a:solidFill>
                  <a:schemeClr val="tx1"/>
                </a:solidFill>
                <a:latin typeface="Symbol" pitchFamily="2" charset="2"/>
              </a:rPr>
              <a:t>l2</a:t>
            </a:r>
            <a:r>
              <a:rPr lang="en-US" altLang="it-IT" dirty="0">
                <a:solidFill>
                  <a:schemeClr val="tx1"/>
                </a:solidFill>
              </a:rPr>
              <a:t>=f(T)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dirty="0">
                <a:solidFill>
                  <a:schemeClr val="tx1"/>
                </a:solidFill>
              </a:rPr>
              <a:t>Per </a:t>
            </a:r>
            <a:r>
              <a:rPr lang="en-US" altLang="it-IT" dirty="0" err="1">
                <a:solidFill>
                  <a:schemeClr val="tx1"/>
                </a:solidFill>
              </a:rPr>
              <a:t>una</a:t>
            </a:r>
            <a:r>
              <a:rPr lang="en-US" altLang="it-IT" dirty="0">
                <a:solidFill>
                  <a:schemeClr val="tx1"/>
                </a:solidFill>
              </a:rPr>
              <a:t> stella: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dirty="0">
                <a:solidFill>
                  <a:schemeClr val="tx1"/>
                </a:solidFill>
              </a:rPr>
              <a:t>		f</a:t>
            </a:r>
            <a:r>
              <a:rPr lang="en-US" altLang="it-IT" baseline="-25000" dirty="0">
                <a:solidFill>
                  <a:schemeClr val="tx1"/>
                </a:solidFill>
                <a:latin typeface="Symbol" pitchFamily="2" charset="2"/>
              </a:rPr>
              <a:t>l1</a:t>
            </a:r>
            <a:r>
              <a:rPr lang="en-US" altLang="it-IT" dirty="0">
                <a:solidFill>
                  <a:schemeClr val="tx1"/>
                </a:solidFill>
              </a:rPr>
              <a:t>/f</a:t>
            </a:r>
            <a:r>
              <a:rPr lang="en-US" altLang="it-IT" baseline="-25000" dirty="0">
                <a:solidFill>
                  <a:schemeClr val="tx1"/>
                </a:solidFill>
                <a:latin typeface="Symbol" pitchFamily="2" charset="2"/>
              </a:rPr>
              <a:t>l2 </a:t>
            </a:r>
            <a:r>
              <a:rPr lang="en-US" altLang="it-IT" dirty="0">
                <a:solidFill>
                  <a:schemeClr val="tx1"/>
                </a:solidFill>
                <a:latin typeface="Symbol" pitchFamily="2" charset="2"/>
              </a:rPr>
              <a:t> = </a:t>
            </a:r>
            <a:r>
              <a:rPr lang="en-US" altLang="it-IT" dirty="0" err="1">
                <a:solidFill>
                  <a:schemeClr val="tx1"/>
                </a:solidFill>
              </a:rPr>
              <a:t>k+g</a:t>
            </a:r>
            <a:r>
              <a:rPr lang="en-US" altLang="it-IT" dirty="0">
                <a:solidFill>
                  <a:schemeClr val="tx1"/>
                </a:solidFill>
              </a:rPr>
              <a:t>(T)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dirty="0">
                <a:solidFill>
                  <a:schemeClr val="tx1"/>
                </a:solidFill>
              </a:rPr>
              <a:t>La </a:t>
            </a:r>
            <a:r>
              <a:rPr lang="en-US" altLang="it-IT" dirty="0" err="1">
                <a:solidFill>
                  <a:schemeClr val="tx1"/>
                </a:solidFill>
              </a:rPr>
              <a:t>temperatura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  <a:r>
              <a:rPr lang="en-US" altLang="it-IT" dirty="0" err="1">
                <a:solidFill>
                  <a:schemeClr val="tx1"/>
                </a:solidFill>
              </a:rPr>
              <a:t>così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  <a:r>
              <a:rPr lang="en-US" altLang="it-IT" dirty="0" err="1">
                <a:solidFill>
                  <a:schemeClr val="tx1"/>
                </a:solidFill>
              </a:rPr>
              <a:t>ricavata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  <a:r>
              <a:rPr lang="en-US" altLang="it-IT" dirty="0" err="1">
                <a:solidFill>
                  <a:schemeClr val="tx1"/>
                </a:solidFill>
              </a:rPr>
              <a:t>si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  <a:r>
              <a:rPr lang="en-US" altLang="it-IT" dirty="0" err="1">
                <a:solidFill>
                  <a:schemeClr val="tx1"/>
                </a:solidFill>
              </a:rPr>
              <a:t>chiama</a:t>
            </a:r>
            <a:r>
              <a:rPr lang="en-US" altLang="it-IT" dirty="0">
                <a:solidFill>
                  <a:schemeClr val="tx1"/>
                </a:solidFill>
              </a:rPr>
              <a:t> </a:t>
            </a:r>
            <a:r>
              <a:rPr lang="en-US" altLang="it-IT" b="1" dirty="0" err="1">
                <a:solidFill>
                  <a:schemeClr val="tx1"/>
                </a:solidFill>
              </a:rPr>
              <a:t>Temperatura</a:t>
            </a:r>
            <a:r>
              <a:rPr lang="en-US" altLang="it-IT" b="1" dirty="0">
                <a:solidFill>
                  <a:schemeClr val="tx1"/>
                </a:solidFill>
              </a:rPr>
              <a:t> di </a:t>
            </a:r>
            <a:r>
              <a:rPr lang="en-US" altLang="it-IT" b="1" dirty="0" err="1">
                <a:solidFill>
                  <a:schemeClr val="tx1"/>
                </a:solidFill>
              </a:rPr>
              <a:t>Colore</a:t>
            </a:r>
            <a:r>
              <a:rPr lang="en-US" altLang="it-IT" b="1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8CA91829-FA60-9218-D8D3-3CAB4AA1F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250" y="2136083"/>
            <a:ext cx="2463800" cy="74930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6D065531-8A99-FF6F-556F-DEE6C7C1025C}"/>
              </a:ext>
            </a:extLst>
          </p:cNvPr>
          <p:cNvSpPr txBox="1"/>
          <p:nvPr/>
        </p:nvSpPr>
        <p:spPr>
          <a:xfrm>
            <a:off x="4970651" y="2279900"/>
            <a:ext cx="5469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BB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90BAB2B6-7961-3076-4261-5BF91D121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361" y="3196996"/>
            <a:ext cx="2590800" cy="8509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CA943CF-0ADF-C887-3FD4-819A0D4B6E84}"/>
              </a:ext>
            </a:extLst>
          </p:cNvPr>
          <p:cNvSpPr txBox="1"/>
          <p:nvPr/>
        </p:nvSpPr>
        <p:spPr>
          <a:xfrm>
            <a:off x="6354353" y="3033222"/>
            <a:ext cx="1636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Stars (4000-10000 K)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00DB83E2-BC8B-7D4F-B2E5-7D708A6972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2000">
                <a:ea typeface="ＭＳ Ｐゴシック" panose="020B0600070205080204" pitchFamily="34" charset="-128"/>
              </a:rPr>
              <a:t>Raggi Stellari</a:t>
            </a:r>
          </a:p>
        </p:txBody>
      </p:sp>
      <p:sp>
        <p:nvSpPr>
          <p:cNvPr id="34818" name="CasellaDiTesto 1">
            <a:extLst>
              <a:ext uri="{FF2B5EF4-FFF2-40B4-BE49-F238E27FC236}">
                <a16:creationId xmlns:a16="http://schemas.microsoft.com/office/drawing/2014/main" id="{13E3168F-0E1C-6243-B5BB-34500586D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981075"/>
            <a:ext cx="8424862" cy="489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>
                <a:solidFill>
                  <a:schemeClr val="tx1"/>
                </a:solidFill>
              </a:rPr>
              <a:t>Esistono vari metrodi per misurare I raggi delle stelle: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it-IT" b="1">
                <a:solidFill>
                  <a:schemeClr val="tx1"/>
                </a:solidFill>
              </a:rPr>
              <a:t>Metodi fotometrici</a:t>
            </a:r>
            <a:r>
              <a:rPr lang="en-US" altLang="it-IT">
                <a:solidFill>
                  <a:schemeClr val="tx1"/>
                </a:solidFill>
              </a:rPr>
              <a:t>: 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it-IT">
                <a:solidFill>
                  <a:schemeClr val="tx1"/>
                </a:solidFill>
              </a:rPr>
              <a:t> Occorre conoscere:</a:t>
            </a: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it-IT">
                <a:solidFill>
                  <a:schemeClr val="tx1"/>
                </a:solidFill>
              </a:rPr>
              <a:t>Distanza: se nota  parallasse  d = 1/p</a:t>
            </a:r>
            <a:r>
              <a:rPr lang="en-US" altLang="en-GB">
                <a:solidFill>
                  <a:schemeClr val="tx1"/>
                </a:solidFill>
              </a:rPr>
              <a:t>”</a:t>
            </a:r>
            <a:endParaRPr lang="en-US" altLang="it-IT">
              <a:solidFill>
                <a:schemeClr val="tx1"/>
              </a:solidFill>
            </a:endParaRP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it-IT">
                <a:solidFill>
                  <a:schemeClr val="tx1"/>
                </a:solidFill>
              </a:rPr>
              <a:t>Temperatura :  indice di colore o spettro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endParaRPr lang="en-US" altLang="it-IT">
              <a:solidFill>
                <a:schemeClr val="tx1"/>
              </a:solidFill>
            </a:endParaRPr>
          </a:p>
          <a:p>
            <a:pPr lvl="1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it-IT">
                <a:solidFill>
                  <a:schemeClr val="tx1"/>
                </a:solidFill>
              </a:rPr>
              <a:t>Magnitudine  Apparente :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endParaRPr lang="en-US" altLang="it-IT">
              <a:solidFill>
                <a:schemeClr val="tx1"/>
              </a:solidFill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it-IT">
                <a:solidFill>
                  <a:schemeClr val="tx1"/>
                </a:solidFill>
                <a:sym typeface="Wingdings" pitchFamily="2" charset="2"/>
              </a:rPr>
              <a:t>   applicare la correzione Bolometrica : 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it-IT">
                <a:solidFill>
                  <a:schemeClr val="tx1"/>
                </a:solidFill>
                <a:sym typeface="Wingdings" pitchFamily="2" charset="2"/>
              </a:rPr>
              <a:t>   trovare la luminosità: 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endParaRPr lang="en-US" altLang="it-IT">
              <a:solidFill>
                <a:schemeClr val="tx1"/>
              </a:solidFill>
              <a:sym typeface="Wingdings" pitchFamily="2" charset="2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it-IT">
                <a:solidFill>
                  <a:schemeClr val="tx1"/>
                </a:solidFill>
                <a:sym typeface="Wingdings" pitchFamily="2" charset="2"/>
              </a:rPr>
              <a:t>	</a:t>
            </a:r>
            <a:endParaRPr lang="en-US" altLang="it-IT">
              <a:solidFill>
                <a:schemeClr val="tx1"/>
              </a:solidFill>
            </a:endParaRPr>
          </a:p>
        </p:txBody>
      </p:sp>
      <p:pic>
        <p:nvPicPr>
          <p:cNvPr id="34819" name="Immagine 3">
            <a:extLst>
              <a:ext uri="{FF2B5EF4-FFF2-40B4-BE49-F238E27FC236}">
                <a16:creationId xmlns:a16="http://schemas.microsoft.com/office/drawing/2014/main" id="{64A1CE71-E23D-4249-9CCA-BA18F19F8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1557338"/>
            <a:ext cx="1944687" cy="7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0" name="Immagine 4">
            <a:extLst>
              <a:ext uri="{FF2B5EF4-FFF2-40B4-BE49-F238E27FC236}">
                <a16:creationId xmlns:a16="http://schemas.microsoft.com/office/drawing/2014/main" id="{AC4998F8-904E-7641-B2E3-8CBE6D125C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3500438"/>
            <a:ext cx="2881313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Immagine 5">
            <a:extLst>
              <a:ext uri="{FF2B5EF4-FFF2-40B4-BE49-F238E27FC236}">
                <a16:creationId xmlns:a16="http://schemas.microsoft.com/office/drawing/2014/main" id="{EE8733E3-AEA4-184E-BE26-855B997B26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4437063"/>
            <a:ext cx="2663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2" name="Immagine 6">
            <a:extLst>
              <a:ext uri="{FF2B5EF4-FFF2-40B4-BE49-F238E27FC236}">
                <a16:creationId xmlns:a16="http://schemas.microsoft.com/office/drawing/2014/main" id="{333B145C-4ED4-3841-BAA4-EC4050AF3D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5084763"/>
            <a:ext cx="4316412" cy="84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6">
            <a:extLst>
              <a:ext uri="{FF2B5EF4-FFF2-40B4-BE49-F238E27FC236}">
                <a16:creationId xmlns:a16="http://schemas.microsoft.com/office/drawing/2014/main" id="{80845D8B-B3F8-BA46-8E5A-D1FD6B4484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Raggi Stellari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BC33A541-1B21-6D45-A584-D35A931CC2A7}"/>
              </a:ext>
            </a:extLst>
          </p:cNvPr>
          <p:cNvSpPr/>
          <p:nvPr/>
        </p:nvSpPr>
        <p:spPr>
          <a:xfrm>
            <a:off x="33338" y="765175"/>
            <a:ext cx="8713787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 eaLnBrk="1" hangingPunct="1">
              <a:defRPr/>
            </a:pPr>
            <a:r>
              <a:rPr lang="en-US" dirty="0" err="1">
                <a:latin typeface="Tahoma" charset="0"/>
                <a:ea typeface="ＭＳ Ｐゴシック" charset="0"/>
                <a:cs typeface="ＭＳ Ｐゴシック" charset="0"/>
              </a:rPr>
              <a:t>Altri</a:t>
            </a:r>
            <a:r>
              <a:rPr lang="en-US" dirty="0">
                <a:latin typeface="Tahom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>
                <a:latin typeface="Tahoma" charset="0"/>
                <a:ea typeface="ＭＳ Ｐゴシック" charset="0"/>
                <a:cs typeface="ＭＳ Ｐゴシック" charset="0"/>
              </a:rPr>
              <a:t>Metodi</a:t>
            </a:r>
            <a:r>
              <a:rPr lang="en-US" dirty="0">
                <a:latin typeface="Tahoma" charset="0"/>
                <a:ea typeface="ＭＳ Ｐゴシック" charset="0"/>
                <a:cs typeface="ＭＳ Ｐゴシック" charset="0"/>
              </a:rPr>
              <a:t>:</a:t>
            </a:r>
          </a:p>
          <a:p>
            <a:pPr eaLnBrk="1" hangingPunct="1">
              <a:defRPr/>
            </a:pP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 marL="342900" indent="-342900" eaLnBrk="1" hangingPunct="1">
              <a:buFont typeface="Arial"/>
              <a:buChar char="•"/>
              <a:defRPr/>
            </a:pPr>
            <a:r>
              <a:rPr lang="en-US" dirty="0" err="1">
                <a:latin typeface="Tahoma" charset="0"/>
                <a:ea typeface="ＭＳ Ｐゴシック" charset="0"/>
                <a:cs typeface="ＭＳ Ｐゴシック" charset="0"/>
              </a:rPr>
              <a:t>Binarie</a:t>
            </a:r>
            <a:r>
              <a:rPr lang="en-US" dirty="0">
                <a:latin typeface="Tahoma" charset="0"/>
                <a:ea typeface="ＭＳ Ｐゴシック" charset="0"/>
                <a:cs typeface="ＭＳ Ｐゴシック" charset="0"/>
              </a:rPr>
              <a:t> ad </a:t>
            </a:r>
            <a:r>
              <a:rPr lang="en-US" dirty="0" err="1">
                <a:latin typeface="Tahoma" charset="0"/>
                <a:ea typeface="ＭＳ Ｐゴシック" charset="0"/>
                <a:cs typeface="ＭＳ Ｐゴシック" charset="0"/>
              </a:rPr>
              <a:t>eclisse</a:t>
            </a: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 eaLnBrk="1" hangingPunct="1">
              <a:defRPr/>
            </a:pP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 marL="342900" indent="-342900" eaLnBrk="1" hangingPunct="1">
              <a:buFont typeface="Arial"/>
              <a:buChar char="•"/>
              <a:defRPr/>
            </a:pP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 marL="342900" indent="-342900" eaLnBrk="1" hangingPunct="1">
              <a:buFont typeface="Arial"/>
              <a:buChar char="•"/>
              <a:defRPr/>
            </a:pPr>
            <a:r>
              <a:rPr lang="en-US" dirty="0" err="1">
                <a:latin typeface="Tahoma" charset="0"/>
                <a:ea typeface="ＭＳ Ｐゴシック" charset="0"/>
                <a:cs typeface="ＭＳ Ｐゴシック" charset="0"/>
              </a:rPr>
              <a:t>Interferometria</a:t>
            </a: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 eaLnBrk="1" hangingPunct="1">
              <a:defRPr/>
            </a:pP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 marL="342900" indent="-342900" eaLnBrk="1" hangingPunct="1">
              <a:buFont typeface="Arial"/>
              <a:buChar char="•"/>
              <a:defRPr/>
            </a:pP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 marL="342900" indent="-342900" eaLnBrk="1" hangingPunct="1">
              <a:buFont typeface="Arial"/>
              <a:buChar char="•"/>
              <a:defRPr/>
            </a:pP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 marL="342900" indent="-342900" eaLnBrk="1" hangingPunct="1">
              <a:buFont typeface="Arial"/>
              <a:buChar char="•"/>
              <a:defRPr/>
            </a:pPr>
            <a:r>
              <a:rPr lang="en-US" dirty="0" err="1">
                <a:latin typeface="Tahoma" charset="0"/>
                <a:ea typeface="ＭＳ Ｐゴシック" charset="0"/>
                <a:cs typeface="ＭＳ Ｐゴシック" charset="0"/>
              </a:rPr>
              <a:t>Occultazioni</a:t>
            </a:r>
            <a:r>
              <a:rPr lang="en-US" dirty="0">
                <a:latin typeface="Tahom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>
                <a:latin typeface="Tahoma" charset="0"/>
                <a:ea typeface="ＭＳ Ｐゴシック" charset="0"/>
                <a:cs typeface="ＭＳ Ｐゴシック" charset="0"/>
              </a:rPr>
              <a:t>Lunari</a:t>
            </a: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35843" name="Immagine 2">
            <a:extLst>
              <a:ext uri="{FF2B5EF4-FFF2-40B4-BE49-F238E27FC236}">
                <a16:creationId xmlns:a16="http://schemas.microsoft.com/office/drawing/2014/main" id="{9355F4D8-9A95-C548-B082-3A2E10477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588" y="1196752"/>
            <a:ext cx="4427537" cy="179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35D88951-2F28-4A4B-B447-CB3B41162C27}"/>
              </a:ext>
            </a:extLst>
          </p:cNvPr>
          <p:cNvSpPr/>
          <p:nvPr/>
        </p:nvSpPr>
        <p:spPr>
          <a:xfrm>
            <a:off x="4390231" y="3187477"/>
            <a:ext cx="3924300" cy="584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it-IT" sz="1600" dirty="0">
                <a:latin typeface="+mn-lt"/>
              </a:rPr>
              <a:t>The </a:t>
            </a:r>
            <a:r>
              <a:rPr lang="it-IT" sz="1600" dirty="0" err="1">
                <a:latin typeface="+mn-lt"/>
              </a:rPr>
              <a:t>Michelson</a:t>
            </a:r>
            <a:r>
              <a:rPr lang="it-IT" sz="1600" dirty="0">
                <a:latin typeface="+mn-lt"/>
              </a:rPr>
              <a:t> </a:t>
            </a:r>
            <a:r>
              <a:rPr lang="it-IT" sz="1600" dirty="0" err="1">
                <a:latin typeface="+mn-lt"/>
              </a:rPr>
              <a:t>interferometer</a:t>
            </a:r>
            <a:r>
              <a:rPr lang="it-IT" sz="1600" dirty="0">
                <a:latin typeface="+mn-lt"/>
              </a:rPr>
              <a:t>: </a:t>
            </a:r>
            <a:r>
              <a:rPr lang="it-IT" sz="1600" dirty="0" err="1">
                <a:latin typeface="+mn-lt"/>
              </a:rPr>
              <a:t>measured</a:t>
            </a:r>
            <a:r>
              <a:rPr lang="it-IT" sz="1600" dirty="0">
                <a:latin typeface="+mn-lt"/>
              </a:rPr>
              <a:t> </a:t>
            </a:r>
          </a:p>
          <a:p>
            <a:pPr>
              <a:defRPr/>
            </a:pPr>
            <a:r>
              <a:rPr lang="it-IT" sz="1600" dirty="0">
                <a:latin typeface="+mn-lt"/>
              </a:rPr>
              <a:t>the </a:t>
            </a:r>
            <a:r>
              <a:rPr lang="it-IT" sz="1600" dirty="0" err="1">
                <a:latin typeface="+mn-lt"/>
              </a:rPr>
              <a:t>radius</a:t>
            </a:r>
            <a:r>
              <a:rPr lang="it-IT" sz="1600" dirty="0">
                <a:latin typeface="+mn-lt"/>
              </a:rPr>
              <a:t> of </a:t>
            </a:r>
            <a:r>
              <a:rPr lang="it-IT" sz="1600" dirty="0" err="1">
                <a:latin typeface="+mn-lt"/>
              </a:rPr>
              <a:t>Betalgeuse</a:t>
            </a:r>
            <a:r>
              <a:rPr lang="it-IT" sz="1600" dirty="0">
                <a:latin typeface="+mn-lt"/>
              </a:rPr>
              <a:t> (~ 1.5x10</a:t>
            </a:r>
            <a:r>
              <a:rPr lang="it-IT" sz="1600" baseline="30000" dirty="0">
                <a:latin typeface="+mn-lt"/>
              </a:rPr>
              <a:t>8</a:t>
            </a:r>
            <a:r>
              <a:rPr lang="it-IT" sz="1600" dirty="0">
                <a:latin typeface="+mn-lt"/>
              </a:rPr>
              <a:t> km!)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DDC16FAF-A427-BA41-82F4-3AF358887E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1600" dirty="0">
                <a:ea typeface="ＭＳ Ｐゴシック" panose="020B0600070205080204" pitchFamily="34" charset="-128"/>
              </a:rPr>
              <a:t>Misura delle Distanze</a:t>
            </a:r>
          </a:p>
        </p:txBody>
      </p:sp>
      <p:pic>
        <p:nvPicPr>
          <p:cNvPr id="36866" name="Picture 3">
            <a:extLst>
              <a:ext uri="{FF2B5EF4-FFF2-40B4-BE49-F238E27FC236}">
                <a16:creationId xmlns:a16="http://schemas.microsoft.com/office/drawing/2014/main" id="{784281CA-54AA-E145-8B66-16BF32A27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8877300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724CEF-6A35-29C5-A709-EC23CBF0F094}"/>
              </a:ext>
            </a:extLst>
          </p:cNvPr>
          <p:cNvSpPr txBox="1"/>
          <p:nvPr/>
        </p:nvSpPr>
        <p:spPr>
          <a:xfrm>
            <a:off x="2051720" y="5445224"/>
            <a:ext cx="59614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  <a:p>
            <a:r>
              <a:rPr lang="fr-FR" dirty="0"/>
              <a:t>1pc =3.09 ×10</a:t>
            </a:r>
            <a:r>
              <a:rPr lang="fr-FR" baseline="30000" dirty="0"/>
              <a:t>18</a:t>
            </a:r>
            <a:r>
              <a:rPr lang="fr-FR" dirty="0"/>
              <a:t>cm = 2.06 ×10</a:t>
            </a:r>
            <a:r>
              <a:rPr lang="fr-FR" baseline="30000" dirty="0"/>
              <a:t>5</a:t>
            </a:r>
            <a:r>
              <a:rPr lang="fr-FR" dirty="0"/>
              <a:t>AU</a:t>
            </a:r>
          </a:p>
          <a:p>
            <a:r>
              <a:rPr lang="en-GB" dirty="0"/>
              <a:t>1ly ~ 0.31 pc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19FE7D-7563-3863-1976-F588E7761FC8}"/>
                  </a:ext>
                </a:extLst>
              </p:cNvPr>
              <p:cNvSpPr txBox="1"/>
              <p:nvPr/>
            </p:nvSpPr>
            <p:spPr>
              <a:xfrm>
                <a:off x="2339752" y="5445224"/>
                <a:ext cx="32555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1.496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19FE7D-7563-3863-1976-F588E7761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5445224"/>
                <a:ext cx="3255507" cy="369332"/>
              </a:xfrm>
              <a:prstGeom prst="rect">
                <a:avLst/>
              </a:prstGeom>
              <a:blipFill>
                <a:blip r:embed="rId3"/>
                <a:stretch>
                  <a:fillRect l="-1498" r="-375"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ext Box 2">
            <a:extLst>
              <a:ext uri="{FF2B5EF4-FFF2-40B4-BE49-F238E27FC236}">
                <a16:creationId xmlns:a16="http://schemas.microsoft.com/office/drawing/2014/main" id="{2492B851-E38B-824F-91D5-C30ECFD5E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1" y="1412875"/>
            <a:ext cx="4176141" cy="4968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marL="342900" indent="-3429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 typeface="Times" pitchFamily="2" charset="0"/>
              <a:buAutoNum type="arabicPeriod"/>
            </a:pPr>
            <a:r>
              <a:rPr lang="en-US" altLang="it-IT" sz="1600" dirty="0" err="1">
                <a:solidFill>
                  <a:srgbClr val="FF3300"/>
                </a:solidFill>
                <a:sym typeface="Symbol" pitchFamily="2" charset="2"/>
              </a:rPr>
              <a:t>parallasse</a:t>
            </a:r>
            <a:r>
              <a:rPr lang="en-US" altLang="it-IT" sz="1600" dirty="0">
                <a:solidFill>
                  <a:srgbClr val="FF3300"/>
                </a:solidFill>
                <a:sym typeface="Symbol" pitchFamily="2" charset="2"/>
              </a:rPr>
              <a:t> </a:t>
            </a:r>
            <a:r>
              <a:rPr lang="en-US" altLang="it-IT" sz="1600" dirty="0" err="1">
                <a:solidFill>
                  <a:srgbClr val="FF3300"/>
                </a:solidFill>
                <a:sym typeface="Symbol" pitchFamily="2" charset="2"/>
              </a:rPr>
              <a:t>trigonometrica</a:t>
            </a:r>
            <a:r>
              <a:rPr lang="it-IT" altLang="it-IT" sz="1600" dirty="0">
                <a:solidFill>
                  <a:schemeClr val="tx1"/>
                </a:solidFill>
                <a:sym typeface="Symbol" pitchFamily="2" charset="2"/>
              </a:rPr>
              <a:t>: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  <a:sym typeface="Symbol" pitchFamily="2" charset="2"/>
              </a:rPr>
              <a:t>misura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  <a:sym typeface="Symbol" pitchFamily="2" charset="2"/>
              </a:rPr>
              <a:t>distanze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  <a:sym typeface="Symbol" pitchFamily="2" charset="2"/>
              </a:rPr>
              <a:t>fino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a 200 pc (p = 5 mas)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Times" pitchFamily="2" charset="0"/>
              <a:buAutoNum type="arabicPeriod"/>
            </a:pPr>
            <a:endParaRPr lang="en-US" altLang="it-IT" sz="1600" dirty="0">
              <a:solidFill>
                <a:schemeClr val="tx1"/>
              </a:solidFill>
              <a:sym typeface="Symbol" pitchFamily="2" charset="2"/>
            </a:endParaRPr>
          </a:p>
          <a:p>
            <a:pPr eaLnBrk="1" hangingPunct="1">
              <a:spcBef>
                <a:spcPct val="50000"/>
              </a:spcBef>
              <a:buFont typeface="Times" pitchFamily="2" charset="0"/>
              <a:buAutoNum type="arabicPeriod"/>
            </a:pPr>
            <a:r>
              <a:rPr lang="en-US" altLang="it-IT" sz="1600" dirty="0" err="1">
                <a:solidFill>
                  <a:srgbClr val="FF3300"/>
                </a:solidFill>
                <a:sym typeface="Symbol" pitchFamily="2" charset="2"/>
              </a:rPr>
              <a:t>parallasse</a:t>
            </a:r>
            <a:r>
              <a:rPr lang="en-US" altLang="it-IT" sz="1600" dirty="0">
                <a:solidFill>
                  <a:srgbClr val="FF3300"/>
                </a:solidFill>
                <a:sym typeface="Symbol" pitchFamily="2" charset="2"/>
              </a:rPr>
              <a:t> </a:t>
            </a:r>
            <a:r>
              <a:rPr lang="en-US" altLang="it-IT" sz="1600" dirty="0" err="1">
                <a:solidFill>
                  <a:srgbClr val="FF3300"/>
                </a:solidFill>
                <a:sym typeface="Symbol" pitchFamily="2" charset="2"/>
              </a:rPr>
              <a:t>secolare</a:t>
            </a:r>
            <a:r>
              <a:rPr lang="it-IT" altLang="it-IT" sz="1600" dirty="0">
                <a:solidFill>
                  <a:schemeClr val="tx1"/>
                </a:solidFill>
                <a:sym typeface="Symbol" pitchFamily="2" charset="2"/>
              </a:rPr>
              <a:t>: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  <a:sym typeface="Symbol" pitchFamily="2" charset="2"/>
              </a:rPr>
              <a:t>sfrutta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  <a:sym typeface="Symbol" pitchFamily="2" charset="2"/>
              </a:rPr>
              <a:t>il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moto del sole (s</a:t>
            </a:r>
            <a:r>
              <a:rPr lang="en-US" altLang="it-IT" sz="1600" baseline="-25000" dirty="0">
                <a:solidFill>
                  <a:schemeClr val="tx1"/>
                </a:solidFill>
                <a:sym typeface="Wingdings" pitchFamily="2" charset="2"/>
              </a:rPr>
              <a:t>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20 km/s) per </a:t>
            </a:r>
            <a:r>
              <a:rPr lang="en-US" altLang="it-IT" sz="1600" dirty="0" err="1">
                <a:solidFill>
                  <a:schemeClr val="tx1"/>
                </a:solidFill>
                <a:sym typeface="Symbol" pitchFamily="2" charset="2"/>
              </a:rPr>
              <a:t>avere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  <a:sym typeface="Symbol" pitchFamily="2" charset="2"/>
              </a:rPr>
              <a:t>una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base </a:t>
            </a:r>
            <a:r>
              <a:rPr lang="en-US" altLang="it-IT" sz="1600" dirty="0" err="1">
                <a:solidFill>
                  <a:schemeClr val="tx1"/>
                </a:solidFill>
                <a:sym typeface="Symbol" pitchFamily="2" charset="2"/>
              </a:rPr>
              <a:t>maggiore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del </a:t>
            </a:r>
            <a:r>
              <a:rPr lang="en-US" altLang="it-IT" sz="1600" dirty="0" err="1">
                <a:solidFill>
                  <a:schemeClr val="tx1"/>
                </a:solidFill>
                <a:sym typeface="Symbol" pitchFamily="2" charset="2"/>
              </a:rPr>
              <a:t>diametro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dell</a:t>
            </a:r>
            <a:r>
              <a:rPr lang="ja-JP" altLang="en-US" sz="1600" dirty="0">
                <a:solidFill>
                  <a:schemeClr val="tx1"/>
                </a:solidFill>
                <a:sym typeface="Symbol" pitchFamily="2" charset="2"/>
              </a:rPr>
              <a:t>’</a:t>
            </a:r>
            <a:r>
              <a:rPr lang="en-US" altLang="ja-JP" sz="1600" dirty="0" err="1">
                <a:solidFill>
                  <a:schemeClr val="tx1"/>
                </a:solidFill>
                <a:sym typeface="Symbol" pitchFamily="2" charset="2"/>
              </a:rPr>
              <a:t>orbita</a:t>
            </a:r>
            <a:r>
              <a:rPr lang="en-US" altLang="ja-JP" sz="1600" dirty="0">
                <a:solidFill>
                  <a:schemeClr val="tx1"/>
                </a:solidFill>
                <a:sym typeface="Symbol" pitchFamily="2" charset="2"/>
              </a:rPr>
              <a:t> </a:t>
            </a:r>
            <a:r>
              <a:rPr lang="en-US" altLang="ja-JP" sz="1600" dirty="0" err="1">
                <a:solidFill>
                  <a:schemeClr val="tx1"/>
                </a:solidFill>
                <a:sym typeface="Symbol" pitchFamily="2" charset="2"/>
              </a:rPr>
              <a:t>terrestre</a:t>
            </a:r>
            <a:r>
              <a:rPr lang="en-US" altLang="ja-JP" sz="1600" dirty="0">
                <a:solidFill>
                  <a:schemeClr val="tx1"/>
                </a:solidFill>
                <a:sym typeface="Symbol" pitchFamily="2" charset="2"/>
              </a:rPr>
              <a:t> (2 UA). </a:t>
            </a:r>
            <a:r>
              <a:rPr lang="en-US" altLang="ja-JP" sz="1600" dirty="0" err="1">
                <a:solidFill>
                  <a:schemeClr val="tx1"/>
                </a:solidFill>
                <a:sym typeface="Symbol" pitchFamily="2" charset="2"/>
              </a:rPr>
              <a:t>Misura</a:t>
            </a:r>
            <a:r>
              <a:rPr lang="en-US" altLang="ja-JP" sz="1600" dirty="0">
                <a:solidFill>
                  <a:schemeClr val="tx1"/>
                </a:solidFill>
                <a:sym typeface="Symbol" pitchFamily="2" charset="2"/>
              </a:rPr>
              <a:t> </a:t>
            </a:r>
            <a:r>
              <a:rPr lang="en-US" altLang="ja-JP" sz="1600" dirty="0" err="1">
                <a:solidFill>
                  <a:schemeClr val="tx1"/>
                </a:solidFill>
                <a:sym typeface="Symbol" pitchFamily="2" charset="2"/>
              </a:rPr>
              <a:t>distanze</a:t>
            </a:r>
            <a:r>
              <a:rPr lang="en-US" altLang="ja-JP" sz="1600" dirty="0">
                <a:solidFill>
                  <a:schemeClr val="tx1"/>
                </a:solidFill>
                <a:sym typeface="Symbol" pitchFamily="2" charset="2"/>
              </a:rPr>
              <a:t> </a:t>
            </a:r>
            <a:r>
              <a:rPr lang="en-US" altLang="ja-JP" sz="1600" dirty="0" err="1">
                <a:solidFill>
                  <a:schemeClr val="tx1"/>
                </a:solidFill>
                <a:sym typeface="Symbol" pitchFamily="2" charset="2"/>
              </a:rPr>
              <a:t>fino</a:t>
            </a:r>
            <a:r>
              <a:rPr lang="en-US" altLang="ja-JP" sz="1600" dirty="0">
                <a:solidFill>
                  <a:schemeClr val="tx1"/>
                </a:solidFill>
                <a:sym typeface="Symbol" pitchFamily="2" charset="2"/>
              </a:rPr>
              <a:t> a 500 pc (p = 2 mas)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Times" pitchFamily="2" charset="0"/>
              <a:buAutoNum type="arabicPeriod"/>
            </a:pPr>
            <a:endParaRPr lang="en-US" altLang="it-IT" sz="1600" dirty="0">
              <a:solidFill>
                <a:schemeClr val="tx1"/>
              </a:solidFill>
              <a:sym typeface="Symbol" pitchFamily="2" charset="2"/>
            </a:endParaRPr>
          </a:p>
          <a:p>
            <a:pPr eaLnBrk="1" hangingPunct="1">
              <a:spcBef>
                <a:spcPct val="50000"/>
              </a:spcBef>
              <a:buFont typeface="Times" pitchFamily="2" charset="0"/>
              <a:buAutoNum type="arabicPeriod"/>
            </a:pPr>
            <a:r>
              <a:rPr lang="en-US" altLang="it-IT" sz="1600" dirty="0" err="1">
                <a:solidFill>
                  <a:srgbClr val="FF3300"/>
                </a:solidFill>
                <a:sym typeface="Symbol" pitchFamily="2" charset="2"/>
              </a:rPr>
              <a:t>parallasse</a:t>
            </a:r>
            <a:r>
              <a:rPr lang="en-US" altLang="it-IT" sz="1600" dirty="0">
                <a:solidFill>
                  <a:srgbClr val="FF3300"/>
                </a:solidFill>
                <a:sym typeface="Symbol" pitchFamily="2" charset="2"/>
              </a:rPr>
              <a:t> </a:t>
            </a:r>
            <a:r>
              <a:rPr lang="en-US" altLang="it-IT" sz="1600" dirty="0" err="1">
                <a:solidFill>
                  <a:srgbClr val="FF3300"/>
                </a:solidFill>
                <a:sym typeface="Symbol" pitchFamily="2" charset="2"/>
              </a:rPr>
              <a:t>statistica</a:t>
            </a:r>
            <a:r>
              <a:rPr lang="it-IT" altLang="it-IT" sz="1600" dirty="0">
                <a:solidFill>
                  <a:schemeClr val="tx1"/>
                </a:solidFill>
                <a:sym typeface="Symbol" pitchFamily="2" charset="2"/>
              </a:rPr>
              <a:t>: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  <a:sym typeface="Symbol" pitchFamily="2" charset="2"/>
              </a:rPr>
              <a:t>considera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  <a:sym typeface="Symbol" pitchFamily="2" charset="2"/>
              </a:rPr>
              <a:t>i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  <a:sym typeface="Symbol" pitchFamily="2" charset="2"/>
              </a:rPr>
              <a:t>moti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  <a:sym typeface="Symbol" pitchFamily="2" charset="2"/>
              </a:rPr>
              <a:t>propri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di un </a:t>
            </a:r>
            <a:r>
              <a:rPr lang="en-US" altLang="it-IT" sz="1600" dirty="0" err="1">
                <a:solidFill>
                  <a:schemeClr val="tx1"/>
                </a:solidFill>
                <a:sym typeface="Symbol" pitchFamily="2" charset="2"/>
              </a:rPr>
              <a:t>insieme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di </a:t>
            </a:r>
            <a:r>
              <a:rPr lang="en-US" altLang="it-IT" sz="1600" dirty="0" err="1">
                <a:solidFill>
                  <a:schemeClr val="tx1"/>
                </a:solidFill>
                <a:sym typeface="Symbol" pitchFamily="2" charset="2"/>
              </a:rPr>
              <a:t>stelle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  <a:sym typeface="Symbol" pitchFamily="2" charset="2"/>
              </a:rPr>
              <a:t>nelle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  <a:sym typeface="Symbol" pitchFamily="2" charset="2"/>
              </a:rPr>
              <a:t>ipotesi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  <a:sym typeface="Symbol" pitchFamily="2" charset="2"/>
              </a:rPr>
              <a:t>che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tutte </a:t>
            </a:r>
            <a:r>
              <a:rPr lang="en-US" altLang="it-IT" sz="1600" dirty="0" err="1">
                <a:solidFill>
                  <a:schemeClr val="tx1"/>
                </a:solidFill>
                <a:sym typeface="Symbol" pitchFamily="2" charset="2"/>
              </a:rPr>
              <a:t>siano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alla </a:t>
            </a:r>
            <a:r>
              <a:rPr lang="en-US" altLang="it-IT" sz="1600" dirty="0" err="1">
                <a:solidFill>
                  <a:schemeClr val="tx1"/>
                </a:solidFill>
                <a:sym typeface="Symbol" pitchFamily="2" charset="2"/>
              </a:rPr>
              <a:t>stessa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  <a:sym typeface="Symbol" pitchFamily="2" charset="2"/>
              </a:rPr>
              <a:t>distanza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e </a:t>
            </a:r>
            <a:r>
              <a:rPr lang="en-US" altLang="it-IT" sz="1600" dirty="0" err="1">
                <a:solidFill>
                  <a:schemeClr val="tx1"/>
                </a:solidFill>
                <a:sym typeface="Symbol" pitchFamily="2" charset="2"/>
              </a:rPr>
              <a:t>che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  <a:sym typeface="Symbol" pitchFamily="2" charset="2"/>
              </a:rPr>
              <a:t>sia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nota la </a:t>
            </a:r>
            <a:r>
              <a:rPr lang="en-US" altLang="it-IT" sz="1600" dirty="0" err="1">
                <a:solidFill>
                  <a:schemeClr val="tx1"/>
                </a:solidFill>
                <a:sym typeface="Symbol" pitchFamily="2" charset="2"/>
              </a:rPr>
              <a:t>distribuzione</a:t>
            </a:r>
            <a:r>
              <a:rPr lang="en-US" altLang="it-IT" sz="1600" dirty="0">
                <a:solidFill>
                  <a:schemeClr val="tx1"/>
                </a:solidFill>
                <a:sym typeface="Symbol" pitchFamily="2" charset="2"/>
              </a:rPr>
              <a:t> delle loro </a:t>
            </a:r>
            <a:r>
              <a:rPr lang="en-US" altLang="it-IT" sz="1600" dirty="0" err="1">
                <a:solidFill>
                  <a:schemeClr val="tx1"/>
                </a:solidFill>
                <a:sym typeface="Symbol" pitchFamily="2" charset="2"/>
              </a:rPr>
              <a:t>velocit</a:t>
            </a:r>
            <a:r>
              <a:rPr lang="en-US" altLang="it-IT" sz="1600" dirty="0" err="1">
                <a:solidFill>
                  <a:schemeClr val="tx1"/>
                </a:solidFill>
                <a:cs typeface="Arial" panose="020B0604020202020204" pitchFamily="34" charset="0"/>
                <a:sym typeface="Symbol" pitchFamily="2" charset="2"/>
              </a:rPr>
              <a:t>à</a:t>
            </a:r>
            <a:r>
              <a:rPr lang="en-US" altLang="it-IT" sz="1600" dirty="0">
                <a:solidFill>
                  <a:schemeClr val="tx1"/>
                </a:solidFill>
                <a:cs typeface="Arial" panose="020B0604020202020204" pitchFamily="34" charset="0"/>
                <a:sym typeface="Symbol" pitchFamily="2" charset="2"/>
              </a:rPr>
              <a:t> rispetto al loro Local Standard of Reference* (e.g. </a:t>
            </a:r>
            <a:r>
              <a:rPr lang="en-US" altLang="it-IT" sz="1600" dirty="0" err="1">
                <a:solidFill>
                  <a:schemeClr val="tx1"/>
                </a:solidFill>
                <a:cs typeface="Arial" panose="020B0604020202020204" pitchFamily="34" charset="0"/>
                <a:sym typeface="Symbol" pitchFamily="2" charset="2"/>
              </a:rPr>
              <a:t>ammasso</a:t>
            </a:r>
            <a:r>
              <a:rPr lang="en-US" altLang="it-IT" sz="1600" dirty="0">
                <a:solidFill>
                  <a:schemeClr val="tx1"/>
                </a:solidFill>
                <a:cs typeface="Arial" panose="020B0604020202020204" pitchFamily="34" charset="0"/>
                <a:sym typeface="Symbol" pitchFamily="2" charset="2"/>
              </a:rPr>
              <a:t>). </a:t>
            </a:r>
            <a:r>
              <a:rPr lang="en-US" altLang="it-IT" sz="1600" dirty="0" err="1">
                <a:solidFill>
                  <a:schemeClr val="tx1"/>
                </a:solidFill>
                <a:cs typeface="Arial" panose="020B0604020202020204" pitchFamily="34" charset="0"/>
                <a:sym typeface="Symbol" pitchFamily="2" charset="2"/>
              </a:rPr>
              <a:t>Misura</a:t>
            </a:r>
            <a:r>
              <a:rPr lang="en-US" altLang="it-IT" sz="1600" dirty="0">
                <a:solidFill>
                  <a:schemeClr val="tx1"/>
                </a:solidFill>
                <a:cs typeface="Arial" panose="020B0604020202020204" pitchFamily="34" charset="0"/>
                <a:sym typeface="Symbol" pitchFamily="2" charset="2"/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  <a:cs typeface="Arial" panose="020B0604020202020204" pitchFamily="34" charset="0"/>
                <a:sym typeface="Symbol" pitchFamily="2" charset="2"/>
              </a:rPr>
              <a:t>distanze</a:t>
            </a:r>
            <a:r>
              <a:rPr lang="en-US" altLang="it-IT" sz="1600" dirty="0">
                <a:solidFill>
                  <a:schemeClr val="tx1"/>
                </a:solidFill>
                <a:cs typeface="Arial" panose="020B0604020202020204" pitchFamily="34" charset="0"/>
                <a:sym typeface="Symbol" pitchFamily="2" charset="2"/>
              </a:rPr>
              <a:t> </a:t>
            </a:r>
            <a:r>
              <a:rPr lang="en-US" altLang="it-IT" sz="1600" dirty="0" err="1">
                <a:solidFill>
                  <a:schemeClr val="tx1"/>
                </a:solidFill>
                <a:cs typeface="Arial" panose="020B0604020202020204" pitchFamily="34" charset="0"/>
                <a:sym typeface="Symbol" pitchFamily="2" charset="2"/>
              </a:rPr>
              <a:t>fino</a:t>
            </a:r>
            <a:r>
              <a:rPr lang="en-US" altLang="it-IT" sz="1600" dirty="0">
                <a:solidFill>
                  <a:schemeClr val="tx1"/>
                </a:solidFill>
                <a:cs typeface="Arial" panose="020B0604020202020204" pitchFamily="34" charset="0"/>
                <a:sym typeface="Symbol" pitchFamily="2" charset="2"/>
              </a:rPr>
              <a:t> a 500 pc (p = 2 mas)</a:t>
            </a:r>
          </a:p>
        </p:txBody>
      </p:sp>
      <p:sp>
        <p:nvSpPr>
          <p:cNvPr id="37890" name="Rettangolo 1">
            <a:extLst>
              <a:ext uri="{FF2B5EF4-FFF2-40B4-BE49-F238E27FC236}">
                <a16:creationId xmlns:a16="http://schemas.microsoft.com/office/drawing/2014/main" id="{4E11CF46-183D-3D49-AC90-A756F706D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925" y="333375"/>
            <a:ext cx="30464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it-IT">
                <a:solidFill>
                  <a:schemeClr val="tx1"/>
                </a:solidFill>
              </a:rPr>
              <a:t>Misura delle Distanze</a:t>
            </a:r>
            <a:endParaRPr lang="en-GB" altLang="it-IT">
              <a:solidFill>
                <a:schemeClr val="tx1"/>
              </a:solidFill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A22C0974-13DD-6B4F-84C7-C2A99D113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2731817"/>
            <a:ext cx="2448272" cy="17700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4856D4-2DF5-6626-0469-883049282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188" y="885823"/>
            <a:ext cx="2230520" cy="20117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09FD74-7407-DAED-FFF2-1782AC39D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100" y="1124744"/>
            <a:ext cx="2255017" cy="1368152"/>
          </a:xfrm>
          <a:prstGeom prst="rect">
            <a:avLst/>
          </a:prstGeom>
        </p:spPr>
      </p:pic>
      <p:pic>
        <p:nvPicPr>
          <p:cNvPr id="1026" name="Picture 2" descr="The Solar Motion">
            <a:extLst>
              <a:ext uri="{FF2B5EF4-FFF2-40B4-BE49-F238E27FC236}">
                <a16:creationId xmlns:a16="http://schemas.microsoft.com/office/drawing/2014/main" id="{BB152DF5-6B4A-D399-F008-E4EDD971B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4581128"/>
            <a:ext cx="2612727" cy="1587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6BA3DA-B277-8EBA-1D93-B72A5DFE6421}"/>
                  </a:ext>
                </a:extLst>
              </p:cNvPr>
              <p:cNvSpPr txBox="1"/>
              <p:nvPr/>
            </p:nvSpPr>
            <p:spPr>
              <a:xfrm>
                <a:off x="6958483" y="4740773"/>
                <a:ext cx="6278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𝐿𝑆𝑅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6BA3DA-B277-8EBA-1D93-B72A5DFE6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8483" y="4740773"/>
                <a:ext cx="627801" cy="369332"/>
              </a:xfrm>
              <a:prstGeom prst="rect">
                <a:avLst/>
              </a:prstGeom>
              <a:blipFill>
                <a:blip r:embed="rId6"/>
                <a:stretch>
                  <a:fillRect l="-8738" r="-776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3">
            <a:extLst>
              <a:ext uri="{FF2B5EF4-FFF2-40B4-BE49-F238E27FC236}">
                <a16:creationId xmlns:a16="http://schemas.microsoft.com/office/drawing/2014/main" id="{537702D1-6E04-4149-A9D0-B3999FAD942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81013" y="-47625"/>
            <a:ext cx="8229600" cy="1139825"/>
          </a:xfrm>
          <a:noFill/>
        </p:spPr>
        <p:txBody>
          <a:bodyPr/>
          <a:lstStyle/>
          <a:p>
            <a:pPr eaLnBrk="1" hangingPunct="1"/>
            <a:r>
              <a:rPr lang="en-US" altLang="it-IT" sz="1600">
                <a:ea typeface="ＭＳ Ｐゴシック" panose="020B0600070205080204" pitchFamily="34" charset="-128"/>
              </a:rPr>
              <a:t>Misura delle Distanze: Metodo di Baade-Wesselink</a:t>
            </a:r>
            <a:endParaRPr lang="it-IT" altLang="it-IT" sz="1600">
              <a:ea typeface="ＭＳ Ｐゴシック" panose="020B0600070205080204" pitchFamily="34" charset="-128"/>
            </a:endParaRPr>
          </a:p>
        </p:txBody>
      </p:sp>
      <p:sp>
        <p:nvSpPr>
          <p:cNvPr id="38914" name="Rectangle 6">
            <a:extLst>
              <a:ext uri="{FF2B5EF4-FFF2-40B4-BE49-F238E27FC236}">
                <a16:creationId xmlns:a16="http://schemas.microsoft.com/office/drawing/2014/main" id="{31FABA3C-AD41-C440-8364-4DF829A85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8688" y="5946775"/>
            <a:ext cx="2706687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it-IT">
              <a:solidFill>
                <a:schemeClr val="tx1"/>
              </a:solidFill>
            </a:endParaRPr>
          </a:p>
        </p:txBody>
      </p:sp>
      <p:sp>
        <p:nvSpPr>
          <p:cNvPr id="38915" name="Text Box 7">
            <a:extLst>
              <a:ext uri="{FF2B5EF4-FFF2-40B4-BE49-F238E27FC236}">
                <a16:creationId xmlns:a16="http://schemas.microsoft.com/office/drawing/2014/main" id="{56BE8FCF-70C0-E547-8438-DA16A5622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919163"/>
            <a:ext cx="8107362" cy="557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marL="342900" indent="-3429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Times" pitchFamily="2" charset="0"/>
              <a:buAutoNum type="arabicPeriod"/>
            </a:pPr>
            <a:r>
              <a:rPr lang="en-US" altLang="it-IT">
                <a:solidFill>
                  <a:schemeClr val="tx1"/>
                </a:solidFill>
                <a:sym typeface="Symbol" pitchFamily="2" charset="2"/>
              </a:rPr>
              <a:t> Noti il raggio R ( misure interferometriche) e la temperatura effettiva T</a:t>
            </a:r>
            <a:r>
              <a:rPr lang="en-US" altLang="it-IT" baseline="-25000">
                <a:solidFill>
                  <a:schemeClr val="tx1"/>
                </a:solidFill>
                <a:sym typeface="Symbol" pitchFamily="2" charset="2"/>
              </a:rPr>
              <a:t>eff</a:t>
            </a:r>
            <a:r>
              <a:rPr lang="en-US" altLang="it-IT">
                <a:solidFill>
                  <a:schemeClr val="tx1"/>
                </a:solidFill>
                <a:sym typeface="Symbol" pitchFamily="2" charset="2"/>
              </a:rPr>
              <a:t> ( colore e/o spettro), la </a:t>
            </a:r>
            <a:r>
              <a:rPr lang="en-US" altLang="it-IT">
                <a:solidFill>
                  <a:srgbClr val="FF3300"/>
                </a:solidFill>
                <a:sym typeface="Symbol" pitchFamily="2" charset="2"/>
              </a:rPr>
              <a:t>luminosit</a:t>
            </a:r>
            <a:r>
              <a:rPr lang="en-US" altLang="it-IT">
                <a:solidFill>
                  <a:srgbClr val="FF3300"/>
                </a:solidFill>
                <a:cs typeface="Arial" panose="020B0604020202020204" pitchFamily="34" charset="0"/>
                <a:sym typeface="Symbol" pitchFamily="2" charset="2"/>
              </a:rPr>
              <a:t>à</a:t>
            </a:r>
            <a:r>
              <a:rPr lang="en-US" altLang="it-IT">
                <a:solidFill>
                  <a:srgbClr val="FFFF00"/>
                </a:solidFill>
                <a:cs typeface="Arial" panose="020B0604020202020204" pitchFamily="34" charset="0"/>
                <a:sym typeface="Symbol" pitchFamily="2" charset="2"/>
              </a:rPr>
              <a:t> </a:t>
            </a:r>
            <a:r>
              <a:rPr lang="en-US" altLang="it-IT">
                <a:solidFill>
                  <a:schemeClr val="tx1"/>
                </a:solidFill>
                <a:cs typeface="Arial" panose="020B0604020202020204" pitchFamily="34" charset="0"/>
                <a:sym typeface="Symbol" pitchFamily="2" charset="2"/>
              </a:rPr>
              <a:t>di una stella risulta</a:t>
            </a:r>
          </a:p>
          <a:p>
            <a:pPr eaLnBrk="1" hangingPunct="1">
              <a:spcBef>
                <a:spcPct val="50000"/>
              </a:spcBef>
              <a:buFont typeface="Times" pitchFamily="2" charset="0"/>
              <a:buNone/>
            </a:pPr>
            <a:r>
              <a:rPr lang="en-US" altLang="it-IT">
                <a:solidFill>
                  <a:schemeClr val="tx1"/>
                </a:solidFill>
                <a:cs typeface="Arial" panose="020B0604020202020204" pitchFamily="34" charset="0"/>
                <a:sym typeface="Symbol" pitchFamily="2" charset="2"/>
              </a:rPr>
              <a:t>                        </a:t>
            </a:r>
            <a:r>
              <a:rPr lang="en-US" altLang="it-IT">
                <a:cs typeface="Arial" panose="020B0604020202020204" pitchFamily="34" charset="0"/>
                <a:sym typeface="Symbol" pitchFamily="2" charset="2"/>
              </a:rPr>
              <a:t>L = 4 R</a:t>
            </a:r>
            <a:r>
              <a:rPr lang="en-US" altLang="it-IT" baseline="30000">
                <a:cs typeface="Arial" panose="020B0604020202020204" pitchFamily="34" charset="0"/>
                <a:sym typeface="Symbol" pitchFamily="2" charset="2"/>
              </a:rPr>
              <a:t>2</a:t>
            </a:r>
            <a:r>
              <a:rPr lang="en-US" altLang="it-IT">
                <a:cs typeface="Arial" panose="020B0604020202020204" pitchFamily="34" charset="0"/>
                <a:sym typeface="Symbol" pitchFamily="2" charset="2"/>
              </a:rPr>
              <a:t> T</a:t>
            </a:r>
            <a:r>
              <a:rPr lang="en-US" altLang="it-IT" baseline="-25000">
                <a:cs typeface="Arial" panose="020B0604020202020204" pitchFamily="34" charset="0"/>
                <a:sym typeface="Symbol" pitchFamily="2" charset="2"/>
              </a:rPr>
              <a:t>eff</a:t>
            </a:r>
            <a:r>
              <a:rPr lang="en-US" altLang="it-IT" baseline="30000">
                <a:cs typeface="Arial" panose="020B0604020202020204" pitchFamily="34" charset="0"/>
                <a:sym typeface="Symbol" pitchFamily="2" charset="2"/>
              </a:rPr>
              <a:t>4</a:t>
            </a:r>
            <a:endParaRPr lang="en-US" altLang="it-IT">
              <a:cs typeface="Arial" panose="020B0604020202020204" pitchFamily="34" charset="0"/>
              <a:sym typeface="Symbol" pitchFamily="2" charset="2"/>
            </a:endParaRPr>
          </a:p>
          <a:p>
            <a:pPr eaLnBrk="1" hangingPunct="1">
              <a:spcBef>
                <a:spcPct val="50000"/>
              </a:spcBef>
              <a:buFont typeface="Times" pitchFamily="2" charset="0"/>
              <a:buAutoNum type="arabicPeriod"/>
            </a:pPr>
            <a:r>
              <a:rPr lang="it-IT" altLang="it-IT">
                <a:solidFill>
                  <a:schemeClr val="tx1"/>
                </a:solidFill>
                <a:cs typeface="Arial" panose="020B0604020202020204" pitchFamily="34" charset="0"/>
                <a:sym typeface="Symbol" pitchFamily="2" charset="2"/>
              </a:rPr>
              <a:t> </a:t>
            </a:r>
            <a:r>
              <a:rPr lang="en-US" altLang="it-IT">
                <a:solidFill>
                  <a:schemeClr val="tx1"/>
                </a:solidFill>
                <a:cs typeface="Arial" panose="020B0604020202020204" pitchFamily="34" charset="0"/>
                <a:sym typeface="Symbol" pitchFamily="2" charset="2"/>
              </a:rPr>
              <a:t>da cui la </a:t>
            </a:r>
            <a:r>
              <a:rPr lang="en-US" altLang="it-IT">
                <a:solidFill>
                  <a:srgbClr val="FF3300"/>
                </a:solidFill>
                <a:cs typeface="Arial" panose="020B0604020202020204" pitchFamily="34" charset="0"/>
                <a:sym typeface="Symbol" pitchFamily="2" charset="2"/>
              </a:rPr>
              <a:t>magnitudine assoluta</a:t>
            </a:r>
            <a:r>
              <a:rPr lang="en-US" altLang="it-IT">
                <a:solidFill>
                  <a:schemeClr val="tx1"/>
                </a:solidFill>
                <a:cs typeface="Arial" panose="020B0604020202020204" pitchFamily="34" charset="0"/>
                <a:sym typeface="Symbol" pitchFamily="2" charset="2"/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Times" pitchFamily="2" charset="0"/>
              <a:buNone/>
            </a:pPr>
            <a:r>
              <a:rPr lang="en-US" altLang="it-IT">
                <a:solidFill>
                  <a:schemeClr val="tx1"/>
                </a:solidFill>
                <a:cs typeface="Arial" panose="020B0604020202020204" pitchFamily="34" charset="0"/>
                <a:sym typeface="Symbol" pitchFamily="2" charset="2"/>
              </a:rPr>
              <a:t>                  </a:t>
            </a:r>
            <a:r>
              <a:rPr lang="en-US" altLang="it-IT">
                <a:cs typeface="Arial" panose="020B0604020202020204" pitchFamily="34" charset="0"/>
                <a:sym typeface="Symbol" pitchFamily="2" charset="2"/>
              </a:rPr>
              <a:t>M = -10 log T</a:t>
            </a:r>
            <a:r>
              <a:rPr lang="en-US" altLang="it-IT" baseline="-25000">
                <a:cs typeface="Arial" panose="020B0604020202020204" pitchFamily="34" charset="0"/>
                <a:sym typeface="Symbol" pitchFamily="2" charset="2"/>
              </a:rPr>
              <a:t>eff</a:t>
            </a:r>
            <a:r>
              <a:rPr lang="en-US" altLang="it-IT">
                <a:cs typeface="Arial" panose="020B0604020202020204" pitchFamily="34" charset="0"/>
                <a:sym typeface="Symbol" pitchFamily="2" charset="2"/>
              </a:rPr>
              <a:t> – 5 log R +C</a:t>
            </a:r>
          </a:p>
          <a:p>
            <a:pPr eaLnBrk="1" hangingPunct="1">
              <a:spcBef>
                <a:spcPct val="50000"/>
              </a:spcBef>
              <a:buFont typeface="Times" pitchFamily="2" charset="0"/>
              <a:buAutoNum type="arabicPeriod"/>
            </a:pPr>
            <a:r>
              <a:rPr lang="en-US" altLang="it-IT">
                <a:solidFill>
                  <a:schemeClr val="tx1"/>
                </a:solidFill>
                <a:cs typeface="Arial" panose="020B0604020202020204" pitchFamily="34" charset="0"/>
                <a:sym typeface="Symbol" pitchFamily="2" charset="2"/>
              </a:rPr>
              <a:t> il </a:t>
            </a:r>
            <a:r>
              <a:rPr lang="en-US" altLang="it-IT">
                <a:solidFill>
                  <a:srgbClr val="FF3300"/>
                </a:solidFill>
                <a:cs typeface="Arial" panose="020B0604020202020204" pitchFamily="34" charset="0"/>
                <a:sym typeface="Symbol" pitchFamily="2" charset="2"/>
              </a:rPr>
              <a:t>modulo di distanza</a:t>
            </a:r>
            <a:endParaRPr lang="en-US" altLang="it-IT">
              <a:solidFill>
                <a:srgbClr val="FFFF00"/>
              </a:solidFill>
              <a:cs typeface="Arial" panose="020B0604020202020204" pitchFamily="34" charset="0"/>
              <a:sym typeface="Symbol" pitchFamily="2" charset="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Times" pitchFamily="2" charset="0"/>
              <a:buNone/>
            </a:pPr>
            <a:r>
              <a:rPr lang="en-US" altLang="it-IT">
                <a:solidFill>
                  <a:schemeClr val="tx1"/>
                </a:solidFill>
                <a:cs typeface="Arial" panose="020B0604020202020204" pitchFamily="34" charset="0"/>
              </a:rPr>
              <a:t>                    </a:t>
            </a:r>
            <a:r>
              <a:rPr lang="en-US" altLang="it-IT">
                <a:cs typeface="Arial" panose="020B0604020202020204" pitchFamily="34" charset="0"/>
              </a:rPr>
              <a:t>m - M = 5 log d (pc) - 5</a:t>
            </a:r>
            <a:endParaRPr lang="en-US" altLang="it-IT">
              <a:cs typeface="Arial" panose="020B0604020202020204" pitchFamily="34" charset="0"/>
              <a:sym typeface="Symbol" pitchFamily="2" charset="2"/>
            </a:endParaRPr>
          </a:p>
          <a:p>
            <a:pPr eaLnBrk="1" hangingPunct="1">
              <a:spcBef>
                <a:spcPct val="50000"/>
              </a:spcBef>
              <a:buFont typeface="Times" pitchFamily="2" charset="0"/>
              <a:buAutoNum type="arabicPeriod"/>
            </a:pPr>
            <a:r>
              <a:rPr lang="en-US" altLang="it-IT">
                <a:solidFill>
                  <a:schemeClr val="tx1"/>
                </a:solidFill>
                <a:cs typeface="Arial" panose="020B0604020202020204" pitchFamily="34" charset="0"/>
                <a:sym typeface="Symbol" pitchFamily="2" charset="2"/>
              </a:rPr>
              <a:t> la </a:t>
            </a:r>
            <a:r>
              <a:rPr lang="en-US" altLang="it-IT">
                <a:solidFill>
                  <a:srgbClr val="FF3300"/>
                </a:solidFill>
                <a:cs typeface="Arial" panose="020B0604020202020204" pitchFamily="34" charset="0"/>
                <a:sym typeface="Symbol" pitchFamily="2" charset="2"/>
              </a:rPr>
              <a:t>distanza</a:t>
            </a:r>
            <a:endParaRPr lang="en-US" altLang="it-IT">
              <a:solidFill>
                <a:srgbClr val="FFFF00"/>
              </a:solidFill>
              <a:cs typeface="Arial" panose="020B0604020202020204" pitchFamily="34" charset="0"/>
              <a:sym typeface="Symbol" pitchFamily="2" charset="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Times" pitchFamily="2" charset="0"/>
              <a:buNone/>
            </a:pPr>
            <a:r>
              <a:rPr lang="en-US" altLang="it-IT">
                <a:solidFill>
                  <a:schemeClr val="tx1"/>
                </a:solidFill>
                <a:cs typeface="Arial" panose="020B0604020202020204" pitchFamily="34" charset="0"/>
                <a:sym typeface="Symbol" pitchFamily="2" charset="2"/>
              </a:rPr>
              <a:t>                            </a:t>
            </a:r>
            <a:r>
              <a:rPr lang="en-US" altLang="it-IT">
                <a:cs typeface="Arial" panose="020B0604020202020204" pitchFamily="34" charset="0"/>
                <a:sym typeface="Symbol" pitchFamily="2" charset="2"/>
              </a:rPr>
              <a:t>d = 10 </a:t>
            </a:r>
            <a:r>
              <a:rPr lang="en-US" altLang="it-IT" baseline="30000">
                <a:cs typeface="Arial" panose="020B0604020202020204" pitchFamily="34" charset="0"/>
                <a:sym typeface="Symbol" pitchFamily="2" charset="2"/>
              </a:rPr>
              <a:t>0.2 (m-M+5)</a:t>
            </a:r>
            <a:endParaRPr lang="it-IT" altLang="it-IT" baseline="30000">
              <a:cs typeface="Arial" panose="020B0604020202020204" pitchFamily="34" charset="0"/>
              <a:sym typeface="Symbol" pitchFamily="2" charset="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69257</TotalTime>
  <Words>2052</Words>
  <Application>Microsoft Office PowerPoint</Application>
  <PresentationFormat>On-screen Show (4:3)</PresentationFormat>
  <Paragraphs>304</Paragraphs>
  <Slides>34</Slides>
  <Notes>1</Notes>
  <HiddenSlides>1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7" baseType="lpstr">
      <vt:lpstr>ＭＳ Ｐゴシック</vt:lpstr>
      <vt:lpstr>Arial</vt:lpstr>
      <vt:lpstr>Cambria Math</vt:lpstr>
      <vt:lpstr>Helvetica</vt:lpstr>
      <vt:lpstr>Symbol</vt:lpstr>
      <vt:lpstr>Tahoma</vt:lpstr>
      <vt:lpstr>Times</vt:lpstr>
      <vt:lpstr>Times New Roman</vt:lpstr>
      <vt:lpstr>Verdana</vt:lpstr>
      <vt:lpstr>Wingdings</vt:lpstr>
      <vt:lpstr>Wingdings 2</vt:lpstr>
      <vt:lpstr>Default Design</vt:lpstr>
      <vt:lpstr>Equation</vt:lpstr>
      <vt:lpstr> STRUMENTAZIONE ASTRONOMICA</vt:lpstr>
      <vt:lpstr>La magnitudine (1)</vt:lpstr>
      <vt:lpstr>La magnitudine (2)</vt:lpstr>
      <vt:lpstr>Blackbody (BB) radiation: basic fact</vt:lpstr>
      <vt:lpstr>Gli Indici di Colore</vt:lpstr>
      <vt:lpstr>Il sistema fotometrico UBV - 1</vt:lpstr>
      <vt:lpstr>Il system UBV</vt:lpstr>
      <vt:lpstr>PowerPoint Presentation</vt:lpstr>
      <vt:lpstr>Gli indici di colore (U-B,B-V) del corpo nero</vt:lpstr>
      <vt:lpstr>Gli indici di colore del Sole</vt:lpstr>
      <vt:lpstr>La magnitudine assoluta</vt:lpstr>
      <vt:lpstr>La Misura delle distanze: Parallasse trigonometrica</vt:lpstr>
      <vt:lpstr>PowerPoint Presentation</vt:lpstr>
      <vt:lpstr>Il modulo di distanza</vt:lpstr>
      <vt:lpstr>Atmospheric Extinction</vt:lpstr>
      <vt:lpstr>Il diagramma a due indici di colore (U-B,B-V) delle stelle più brillanti della 7-magnitutine</vt:lpstr>
      <vt:lpstr>Assorbimento Interstellate</vt:lpstr>
      <vt:lpstr>Assorbimento Interstellare</vt:lpstr>
      <vt:lpstr>Assorbimento Interstellare</vt:lpstr>
      <vt:lpstr>Interstellar Medium (ISM)</vt:lpstr>
      <vt:lpstr>Interazione radiazione polvere</vt:lpstr>
      <vt:lpstr>Interazione radiazione polvere</vt:lpstr>
      <vt:lpstr>Assorbimento Interstellare</vt:lpstr>
      <vt:lpstr>E(B-V) Maps</vt:lpstr>
      <vt:lpstr>Wavelength Dependence of Milky Way Extinction  </vt:lpstr>
      <vt:lpstr>Magnitudine Bolometrica</vt:lpstr>
      <vt:lpstr>Magnitudine Bolometrica</vt:lpstr>
      <vt:lpstr>Temperatura: La Temperatura Effettiva</vt:lpstr>
      <vt:lpstr>Temperatura: La Temperatura di Colore</vt:lpstr>
      <vt:lpstr>Raggi Stellari</vt:lpstr>
      <vt:lpstr>Raggi Stellari</vt:lpstr>
      <vt:lpstr>Misura delle Distanze</vt:lpstr>
      <vt:lpstr>PowerPoint Presentation</vt:lpstr>
      <vt:lpstr>Misura delle Distanze: Metodo di Baade-Wesselink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gino tosti</cp:lastModifiedBy>
  <cp:revision>455</cp:revision>
  <cp:lastPrinted>2013-06-05T06:59:08Z</cp:lastPrinted>
  <dcterms:created xsi:type="dcterms:W3CDTF">2014-04-02T11:31:13Z</dcterms:created>
  <dcterms:modified xsi:type="dcterms:W3CDTF">2026-03-27T09:00:42Z</dcterms:modified>
</cp:coreProperties>
</file>